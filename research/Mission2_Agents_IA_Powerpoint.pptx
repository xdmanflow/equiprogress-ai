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5"/>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6" r:id="rId33"/>
    <p:sldId id="287" r:id="rId3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6AEAB3-417D-4B71-8238-C74213E18576}" v="3" dt="2026-04-30T16:14:00.934"/>
    <p1510:client id="{2BA813C3-E23F-4768-90A8-1B50069C4518}" v="6" dt="2026-03-24T08:27:23.0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6E770E-2016-4165-B0EA-B7B783D6DC38}" type="datetimeFigureOut">
              <a:rPr lang="fr-FR" smtClean="0"/>
              <a:t>30/04/2026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487810-F88A-49D0-8FF9-B1B4F5D18B58}" type="slidenum">
              <a:rPr lang="fr-FR" smtClean="0"/>
              <a:t>‹N°›</a:t>
            </a:fld>
            <a:endParaRPr lang="fr-FR"/>
          </a:p>
        </p:txBody>
      </p:sp>
    </p:spTree>
    <p:extLst>
      <p:ext uri="{BB962C8B-B14F-4D97-AF65-F5344CB8AC3E}">
        <p14:creationId xmlns:p14="http://schemas.microsoft.com/office/powerpoint/2010/main" val="3535216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5C487810-F88A-49D0-8FF9-B1B4F5D18B58}" type="slidenum">
              <a:rPr lang="fr-FR" smtClean="0"/>
              <a:t>1</a:t>
            </a:fld>
            <a:endParaRPr lang="fr-FR"/>
          </a:p>
        </p:txBody>
      </p:sp>
    </p:spTree>
    <p:extLst>
      <p:ext uri="{BB962C8B-B14F-4D97-AF65-F5344CB8AC3E}">
        <p14:creationId xmlns:p14="http://schemas.microsoft.com/office/powerpoint/2010/main" val="1335423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C487810-F88A-49D0-8FF9-B1B4F5D18B58}" type="slidenum">
              <a:rPr lang="fr-FR" smtClean="0"/>
              <a:t>7</a:t>
            </a:fld>
            <a:endParaRPr lang="fr-FR"/>
          </a:p>
        </p:txBody>
      </p:sp>
    </p:spTree>
    <p:extLst>
      <p:ext uri="{BB962C8B-B14F-4D97-AF65-F5344CB8AC3E}">
        <p14:creationId xmlns:p14="http://schemas.microsoft.com/office/powerpoint/2010/main" val="1988275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jpeg"/></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The image depicts a dark, abstract pattern resembling swirling, fluid oceanic or cosmic motions.&#10;&#10;Le contenu généré par l’IA peut être incorrect.">
            <a:extLst>
              <a:ext uri="{FF2B5EF4-FFF2-40B4-BE49-F238E27FC236}">
                <a16:creationId xmlns:a16="http://schemas.microsoft.com/office/drawing/2014/main" id="{CC261B6B-94A6-2DE0-2D9A-AC5AB7377F54}"/>
              </a:ext>
            </a:extLst>
          </p:cNvPr>
          <p:cNvPicPr>
            <a:picLocks noChangeAspect="1"/>
          </p:cNvPicPr>
          <p:nvPr/>
        </p:nvPicPr>
        <p:blipFill>
          <a:blip r:embed="rId3"/>
          <a:srcRect b="15603"/>
          <a:stretch>
            <a:fillRect/>
          </a:stretch>
        </p:blipFill>
        <p:spPr>
          <a:xfrm>
            <a:off x="-1" y="-1"/>
            <a:ext cx="12188825" cy="6858001"/>
          </a:xfrm>
          <a:prstGeom prst="rect">
            <a:avLst/>
          </a:prstGeom>
        </p:spPr>
      </p:pic>
      <p:sp>
        <p:nvSpPr>
          <p:cNvPr id="7" name="TextBox 6"/>
          <p:cNvSpPr txBox="1"/>
          <p:nvPr/>
        </p:nvSpPr>
        <p:spPr>
          <a:xfrm>
            <a:off x="654715" y="798380"/>
            <a:ext cx="10879394" cy="784830"/>
          </a:xfrm>
          <a:prstGeom prst="rect">
            <a:avLst/>
          </a:prstGeom>
          <a:noFill/>
        </p:spPr>
        <p:txBody>
          <a:bodyPr wrap="square">
            <a:spAutoFit/>
          </a:bodyPr>
          <a:lstStyle/>
          <a:p>
            <a:pPr algn="l"/>
            <a:r>
              <a:rPr lang="fr-FR" sz="4500" b="1" i="0" noProof="0" dirty="0">
                <a:solidFill>
                  <a:srgbClr val="FFFFFF"/>
                </a:solidFill>
              </a:rPr>
              <a:t>G</a:t>
            </a:r>
            <a:r>
              <a:rPr lang="fr-FR" sz="4500" b="1" noProof="0" dirty="0">
                <a:solidFill>
                  <a:srgbClr val="FFFFFF"/>
                </a:solidFill>
              </a:rPr>
              <a:t>é</a:t>
            </a:r>
            <a:r>
              <a:rPr lang="fr-FR" sz="4500" b="1" i="0" noProof="0" dirty="0">
                <a:solidFill>
                  <a:srgbClr val="FFFFFF"/>
                </a:solidFill>
              </a:rPr>
              <a:t>nérateur</a:t>
            </a:r>
            <a:r>
              <a:rPr lang="fr-FR" sz="4500" b="1" noProof="0" dirty="0">
                <a:solidFill>
                  <a:srgbClr val="FFFFFF"/>
                </a:solidFill>
              </a:rPr>
              <a:t> </a:t>
            </a:r>
            <a:r>
              <a:rPr lang="fr-FR" sz="4500" b="1" i="0" noProof="0" dirty="0">
                <a:solidFill>
                  <a:srgbClr val="FFFFFF"/>
                </a:solidFill>
              </a:rPr>
              <a:t>d'</a:t>
            </a:r>
            <a:r>
              <a:rPr lang="fr-FR" sz="4500" b="1" noProof="0" dirty="0">
                <a:solidFill>
                  <a:srgbClr val="FFFFFF"/>
                </a:solidFill>
              </a:rPr>
              <a:t>e</a:t>
            </a:r>
            <a:r>
              <a:rPr lang="fr-FR" sz="4500" b="1" i="0" noProof="0" dirty="0">
                <a:solidFill>
                  <a:srgbClr val="FFFFFF"/>
                </a:solidFill>
              </a:rPr>
              <a:t>ntrainements</a:t>
            </a:r>
            <a:r>
              <a:rPr lang="fr-FR" sz="4500" b="1" noProof="0" dirty="0">
                <a:solidFill>
                  <a:srgbClr val="FFFFFF"/>
                </a:solidFill>
              </a:rPr>
              <a:t> équestres</a:t>
            </a:r>
            <a:r>
              <a:rPr lang="fr-FR" sz="4500" b="1" i="0" noProof="0" dirty="0">
                <a:solidFill>
                  <a:srgbClr val="FFFFFF"/>
                </a:solidFill>
              </a:rPr>
              <a:t> IA</a:t>
            </a:r>
          </a:p>
        </p:txBody>
      </p:sp>
      <p:sp>
        <p:nvSpPr>
          <p:cNvPr id="8" name="TextBox 7"/>
          <p:cNvSpPr txBox="1"/>
          <p:nvPr/>
        </p:nvSpPr>
        <p:spPr>
          <a:xfrm>
            <a:off x="3494933" y="1450694"/>
            <a:ext cx="8136194" cy="600164"/>
          </a:xfrm>
          <a:prstGeom prst="rect">
            <a:avLst/>
          </a:prstGeom>
          <a:noFill/>
        </p:spPr>
        <p:txBody>
          <a:bodyPr wrap="square">
            <a:spAutoFit/>
          </a:bodyPr>
          <a:lstStyle/>
          <a:p>
            <a:r>
              <a:rPr lang="fr-FR" sz="3300" b="0" i="1" noProof="0">
                <a:solidFill>
                  <a:schemeClr val="bg1"/>
                </a:solidFill>
              </a:rPr>
              <a:t>Une étude présentée par Manil Doudou</a:t>
            </a:r>
            <a:endParaRPr lang="fr-FR" sz="3300" b="0" i="1" noProof="0" dirty="0">
              <a:solidFill>
                <a:schemeClr val="bg1"/>
              </a:solidFill>
            </a:endParaRPr>
          </a:p>
        </p:txBody>
      </p:sp>
      <p:sp>
        <p:nvSpPr>
          <p:cNvPr id="2" name="ZoneTexte 1">
            <a:extLst>
              <a:ext uri="{FF2B5EF4-FFF2-40B4-BE49-F238E27FC236}">
                <a16:creationId xmlns:a16="http://schemas.microsoft.com/office/drawing/2014/main" id="{590B354A-8E7C-D502-4CEF-CADE430E3E14}"/>
              </a:ext>
            </a:extLst>
          </p:cNvPr>
          <p:cNvSpPr txBox="1"/>
          <p:nvPr/>
        </p:nvSpPr>
        <p:spPr>
          <a:xfrm>
            <a:off x="1263766" y="2707504"/>
            <a:ext cx="9712682" cy="1015663"/>
          </a:xfrm>
          <a:prstGeom prst="rect">
            <a:avLst/>
          </a:prstGeom>
          <a:noFill/>
        </p:spPr>
        <p:txBody>
          <a:bodyPr wrap="square" rtlCol="0">
            <a:spAutoFit/>
          </a:bodyPr>
          <a:lstStyle/>
          <a:p>
            <a:r>
              <a:rPr lang="en-GB" i="1" dirty="0">
                <a:solidFill>
                  <a:schemeClr val="bg1"/>
                </a:solidFill>
              </a:rPr>
              <a:t>“</a:t>
            </a:r>
            <a:r>
              <a:rPr lang="en-GB" sz="2000" i="1" dirty="0">
                <a:solidFill>
                  <a:schemeClr val="bg1"/>
                </a:solidFill>
              </a:rPr>
              <a:t>Our intelligence is what makes us human, and AI is an extension of that quality. Artificial intelligence is extending what we can do with our abilities. In this way, it’s letting us become more human.” -Yann LeCun on the Future of Artificial Intelligence, Yann André LeCun-</a:t>
            </a:r>
            <a:endParaRPr lang="fr-FR" sz="2000" dirty="0">
              <a:solidFill>
                <a:schemeClr val="bg1"/>
              </a:solidFill>
            </a:endParaRPr>
          </a:p>
        </p:txBody>
      </p:sp>
      <p:sp>
        <p:nvSpPr>
          <p:cNvPr id="4" name="Forme libre : forme 3">
            <a:extLst>
              <a:ext uri="{FF2B5EF4-FFF2-40B4-BE49-F238E27FC236}">
                <a16:creationId xmlns:a16="http://schemas.microsoft.com/office/drawing/2014/main" id="{776C80B5-089D-CE6C-721E-0A1A43F50582}"/>
              </a:ext>
            </a:extLst>
          </p:cNvPr>
          <p:cNvSpPr/>
          <p:nvPr/>
        </p:nvSpPr>
        <p:spPr>
          <a:xfrm>
            <a:off x="977516" y="4236366"/>
            <a:ext cx="10078064" cy="2104103"/>
          </a:xfrm>
          <a:custGeom>
            <a:avLst/>
            <a:gdLst>
              <a:gd name="csX0" fmla="*/ 0 w 10078064"/>
              <a:gd name="csY0" fmla="*/ 757084 h 2104103"/>
              <a:gd name="csX1" fmla="*/ 58993 w 10078064"/>
              <a:gd name="csY1" fmla="*/ 806245 h 2104103"/>
              <a:gd name="csX2" fmla="*/ 540774 w 10078064"/>
              <a:gd name="csY2" fmla="*/ 816077 h 2104103"/>
              <a:gd name="csX3" fmla="*/ 717754 w 10078064"/>
              <a:gd name="csY3" fmla="*/ 688258 h 2104103"/>
              <a:gd name="csX4" fmla="*/ 835741 w 10078064"/>
              <a:gd name="csY4" fmla="*/ 511277 h 2104103"/>
              <a:gd name="csX5" fmla="*/ 1160206 w 10078064"/>
              <a:gd name="csY5" fmla="*/ 294967 h 2104103"/>
              <a:gd name="csX6" fmla="*/ 1327354 w 10078064"/>
              <a:gd name="csY6" fmla="*/ 245806 h 2104103"/>
              <a:gd name="csX7" fmla="*/ 1474838 w 10078064"/>
              <a:gd name="csY7" fmla="*/ 216309 h 2104103"/>
              <a:gd name="csX8" fmla="*/ 1740309 w 10078064"/>
              <a:gd name="csY8" fmla="*/ 265471 h 2104103"/>
              <a:gd name="csX9" fmla="*/ 1946787 w 10078064"/>
              <a:gd name="csY9" fmla="*/ 432619 h 2104103"/>
              <a:gd name="csX10" fmla="*/ 2143432 w 10078064"/>
              <a:gd name="csY10" fmla="*/ 953729 h 2104103"/>
              <a:gd name="csX11" fmla="*/ 2153264 w 10078064"/>
              <a:gd name="csY11" fmla="*/ 1091380 h 2104103"/>
              <a:gd name="csX12" fmla="*/ 2212258 w 10078064"/>
              <a:gd name="csY12" fmla="*/ 1514167 h 2104103"/>
              <a:gd name="csX13" fmla="*/ 2605548 w 10078064"/>
              <a:gd name="csY13" fmla="*/ 1877961 h 2104103"/>
              <a:gd name="csX14" fmla="*/ 3048000 w 10078064"/>
              <a:gd name="csY14" fmla="*/ 2015613 h 2104103"/>
              <a:gd name="csX15" fmla="*/ 3932903 w 10078064"/>
              <a:gd name="csY15" fmla="*/ 2104103 h 2104103"/>
              <a:gd name="csX16" fmla="*/ 4080387 w 10078064"/>
              <a:gd name="csY16" fmla="*/ 2074606 h 2104103"/>
              <a:gd name="csX17" fmla="*/ 4198374 w 10078064"/>
              <a:gd name="csY17" fmla="*/ 1986116 h 2104103"/>
              <a:gd name="csX18" fmla="*/ 4444180 w 10078064"/>
              <a:gd name="csY18" fmla="*/ 1838632 h 2104103"/>
              <a:gd name="csX19" fmla="*/ 4837471 w 10078064"/>
              <a:gd name="csY19" fmla="*/ 1612490 h 2104103"/>
              <a:gd name="csX20" fmla="*/ 5024283 w 10078064"/>
              <a:gd name="csY20" fmla="*/ 1474838 h 2104103"/>
              <a:gd name="csX21" fmla="*/ 5102941 w 10078064"/>
              <a:gd name="csY21" fmla="*/ 1376516 h 2104103"/>
              <a:gd name="csX22" fmla="*/ 5142271 w 10078064"/>
              <a:gd name="csY22" fmla="*/ 1229032 h 2104103"/>
              <a:gd name="csX23" fmla="*/ 5112774 w 10078064"/>
              <a:gd name="csY23" fmla="*/ 1140542 h 2104103"/>
              <a:gd name="csX24" fmla="*/ 4886632 w 10078064"/>
              <a:gd name="csY24" fmla="*/ 1012722 h 2104103"/>
              <a:gd name="csX25" fmla="*/ 4817806 w 10078064"/>
              <a:gd name="csY25" fmla="*/ 993058 h 2104103"/>
              <a:gd name="csX26" fmla="*/ 4719483 w 10078064"/>
              <a:gd name="csY26" fmla="*/ 983225 h 2104103"/>
              <a:gd name="csX27" fmla="*/ 4355690 w 10078064"/>
              <a:gd name="csY27" fmla="*/ 993058 h 2104103"/>
              <a:gd name="csX28" fmla="*/ 3657600 w 10078064"/>
              <a:gd name="csY28" fmla="*/ 825909 h 2104103"/>
              <a:gd name="csX29" fmla="*/ 3578941 w 10078064"/>
              <a:gd name="csY29" fmla="*/ 747251 h 2104103"/>
              <a:gd name="csX30" fmla="*/ 3834580 w 10078064"/>
              <a:gd name="csY30" fmla="*/ 521109 h 2104103"/>
              <a:gd name="csX31" fmla="*/ 4306529 w 10078064"/>
              <a:gd name="csY31" fmla="*/ 363793 h 2104103"/>
              <a:gd name="csX32" fmla="*/ 5447071 w 10078064"/>
              <a:gd name="csY32" fmla="*/ 471948 h 2104103"/>
              <a:gd name="csX33" fmla="*/ 5683045 w 10078064"/>
              <a:gd name="csY33" fmla="*/ 629264 h 2104103"/>
              <a:gd name="csX34" fmla="*/ 6007509 w 10078064"/>
              <a:gd name="csY34" fmla="*/ 973393 h 2104103"/>
              <a:gd name="csX35" fmla="*/ 6076335 w 10078064"/>
              <a:gd name="csY35" fmla="*/ 1258529 h 2104103"/>
              <a:gd name="csX36" fmla="*/ 6263148 w 10078064"/>
              <a:gd name="csY36" fmla="*/ 1425677 h 2104103"/>
              <a:gd name="csX37" fmla="*/ 7374193 w 10078064"/>
              <a:gd name="csY37" fmla="*/ 1543664 h 2104103"/>
              <a:gd name="csX38" fmla="*/ 8229600 w 10078064"/>
              <a:gd name="csY38" fmla="*/ 1435509 h 2104103"/>
              <a:gd name="csX39" fmla="*/ 8249264 w 10078064"/>
              <a:gd name="csY39" fmla="*/ 1278193 h 2104103"/>
              <a:gd name="csX40" fmla="*/ 8180438 w 10078064"/>
              <a:gd name="csY40" fmla="*/ 1120877 h 2104103"/>
              <a:gd name="csX41" fmla="*/ 8062451 w 10078064"/>
              <a:gd name="csY41" fmla="*/ 934064 h 2104103"/>
              <a:gd name="csX42" fmla="*/ 8396748 w 10078064"/>
              <a:gd name="csY42" fmla="*/ 698090 h 2104103"/>
              <a:gd name="csX43" fmla="*/ 8495071 w 10078064"/>
              <a:gd name="csY43" fmla="*/ 521109 h 2104103"/>
              <a:gd name="csX44" fmla="*/ 7433187 w 10078064"/>
              <a:gd name="csY44" fmla="*/ 186813 h 2104103"/>
              <a:gd name="csX45" fmla="*/ 7895303 w 10078064"/>
              <a:gd name="csY45" fmla="*/ 147484 h 2104103"/>
              <a:gd name="csX46" fmla="*/ 8219767 w 10078064"/>
              <a:gd name="csY46" fmla="*/ 108155 h 2104103"/>
              <a:gd name="csX47" fmla="*/ 8357419 w 10078064"/>
              <a:gd name="csY47" fmla="*/ 78658 h 2104103"/>
              <a:gd name="csX48" fmla="*/ 8514735 w 10078064"/>
              <a:gd name="csY48" fmla="*/ 49161 h 2104103"/>
              <a:gd name="csX49" fmla="*/ 8691716 w 10078064"/>
              <a:gd name="csY49" fmla="*/ 9832 h 2104103"/>
              <a:gd name="csX50" fmla="*/ 8957187 w 10078064"/>
              <a:gd name="csY50" fmla="*/ 0 h 2104103"/>
              <a:gd name="csX51" fmla="*/ 9242322 w 10078064"/>
              <a:gd name="csY51" fmla="*/ 29496 h 2104103"/>
              <a:gd name="csX52" fmla="*/ 9281651 w 10078064"/>
              <a:gd name="csY52" fmla="*/ 167148 h 2104103"/>
              <a:gd name="csX53" fmla="*/ 9635612 w 10078064"/>
              <a:gd name="csY53" fmla="*/ 324464 h 2104103"/>
              <a:gd name="csX54" fmla="*/ 9301316 w 10078064"/>
              <a:gd name="csY54" fmla="*/ 550606 h 2104103"/>
              <a:gd name="csX55" fmla="*/ 9291483 w 10078064"/>
              <a:gd name="csY55" fmla="*/ 580103 h 2104103"/>
              <a:gd name="csX56" fmla="*/ 9910916 w 10078064"/>
              <a:gd name="csY56" fmla="*/ 668593 h 2104103"/>
              <a:gd name="csX57" fmla="*/ 9999406 w 10078064"/>
              <a:gd name="csY57" fmla="*/ 796413 h 2104103"/>
              <a:gd name="csX58" fmla="*/ 9950245 w 10078064"/>
              <a:gd name="csY58" fmla="*/ 924232 h 2104103"/>
              <a:gd name="csX59" fmla="*/ 9861754 w 10078064"/>
              <a:gd name="csY59" fmla="*/ 1111045 h 2104103"/>
              <a:gd name="csX60" fmla="*/ 9842090 w 10078064"/>
              <a:gd name="csY60" fmla="*/ 1268361 h 2104103"/>
              <a:gd name="csX61" fmla="*/ 9783096 w 10078064"/>
              <a:gd name="csY61" fmla="*/ 1317522 h 2104103"/>
              <a:gd name="csX62" fmla="*/ 9753600 w 10078064"/>
              <a:gd name="csY62" fmla="*/ 1347019 h 2104103"/>
              <a:gd name="csX63" fmla="*/ 10009238 w 10078064"/>
              <a:gd name="csY63" fmla="*/ 1396180 h 2104103"/>
              <a:gd name="csX64" fmla="*/ 9999406 w 10078064"/>
              <a:gd name="csY64" fmla="*/ 1435509 h 2104103"/>
              <a:gd name="csX65" fmla="*/ 10078064 w 10078064"/>
              <a:gd name="csY65" fmla="*/ 1455174 h 21041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Lst>
            <a:rect l="l" t="t" r="r" b="b"/>
            <a:pathLst>
              <a:path w="10078064" h="2104103">
                <a:moveTo>
                  <a:pt x="0" y="757084"/>
                </a:moveTo>
                <a:cubicBezTo>
                  <a:pt x="19664" y="773471"/>
                  <a:pt x="35341" y="796458"/>
                  <a:pt x="58993" y="806245"/>
                </a:cubicBezTo>
                <a:cubicBezTo>
                  <a:pt x="316195" y="912673"/>
                  <a:pt x="266742" y="879315"/>
                  <a:pt x="540774" y="816077"/>
                </a:cubicBezTo>
                <a:cubicBezTo>
                  <a:pt x="599767" y="773471"/>
                  <a:pt x="666298" y="739714"/>
                  <a:pt x="717754" y="688258"/>
                </a:cubicBezTo>
                <a:cubicBezTo>
                  <a:pt x="831060" y="574952"/>
                  <a:pt x="739677" y="590187"/>
                  <a:pt x="835741" y="511277"/>
                </a:cubicBezTo>
                <a:cubicBezTo>
                  <a:pt x="910786" y="449633"/>
                  <a:pt x="1048628" y="336292"/>
                  <a:pt x="1160206" y="294967"/>
                </a:cubicBezTo>
                <a:cubicBezTo>
                  <a:pt x="1214667" y="274796"/>
                  <a:pt x="1271012" y="259891"/>
                  <a:pt x="1327354" y="245806"/>
                </a:cubicBezTo>
                <a:cubicBezTo>
                  <a:pt x="1375992" y="233646"/>
                  <a:pt x="1425677" y="226141"/>
                  <a:pt x="1474838" y="216309"/>
                </a:cubicBezTo>
                <a:cubicBezTo>
                  <a:pt x="1563328" y="232696"/>
                  <a:pt x="1658498" y="227974"/>
                  <a:pt x="1740309" y="265471"/>
                </a:cubicBezTo>
                <a:cubicBezTo>
                  <a:pt x="1820808" y="302366"/>
                  <a:pt x="1893898" y="361597"/>
                  <a:pt x="1946787" y="432619"/>
                </a:cubicBezTo>
                <a:cubicBezTo>
                  <a:pt x="2062581" y="588114"/>
                  <a:pt x="2096396" y="773425"/>
                  <a:pt x="2143432" y="953729"/>
                </a:cubicBezTo>
                <a:cubicBezTo>
                  <a:pt x="2146709" y="999613"/>
                  <a:pt x="2150481" y="1045464"/>
                  <a:pt x="2153264" y="1091380"/>
                </a:cubicBezTo>
                <a:cubicBezTo>
                  <a:pt x="2162453" y="1243003"/>
                  <a:pt x="2156647" y="1365872"/>
                  <a:pt x="2212258" y="1514167"/>
                </a:cubicBezTo>
                <a:cubicBezTo>
                  <a:pt x="2276791" y="1686255"/>
                  <a:pt x="2448953" y="1804884"/>
                  <a:pt x="2605548" y="1877961"/>
                </a:cubicBezTo>
                <a:cubicBezTo>
                  <a:pt x="2745514" y="1943278"/>
                  <a:pt x="2896972" y="1983250"/>
                  <a:pt x="3048000" y="2015613"/>
                </a:cubicBezTo>
                <a:cubicBezTo>
                  <a:pt x="3360360" y="2082547"/>
                  <a:pt x="3622288" y="2087313"/>
                  <a:pt x="3932903" y="2104103"/>
                </a:cubicBezTo>
                <a:cubicBezTo>
                  <a:pt x="3982064" y="2094271"/>
                  <a:pt x="4034573" y="2094968"/>
                  <a:pt x="4080387" y="2074606"/>
                </a:cubicBezTo>
                <a:cubicBezTo>
                  <a:pt x="4125311" y="2054640"/>
                  <a:pt x="4157130" y="2012869"/>
                  <a:pt x="4198374" y="1986116"/>
                </a:cubicBezTo>
                <a:cubicBezTo>
                  <a:pt x="4278539" y="1934117"/>
                  <a:pt x="4361717" y="1886903"/>
                  <a:pt x="4444180" y="1838632"/>
                </a:cubicBezTo>
                <a:cubicBezTo>
                  <a:pt x="4523796" y="1792027"/>
                  <a:pt x="4787257" y="1649490"/>
                  <a:pt x="4837471" y="1612490"/>
                </a:cubicBezTo>
                <a:cubicBezTo>
                  <a:pt x="4899742" y="1566606"/>
                  <a:pt x="4966471" y="1526226"/>
                  <a:pt x="5024283" y="1474838"/>
                </a:cubicBezTo>
                <a:cubicBezTo>
                  <a:pt x="5055653" y="1446954"/>
                  <a:pt x="5076722" y="1409290"/>
                  <a:pt x="5102941" y="1376516"/>
                </a:cubicBezTo>
                <a:cubicBezTo>
                  <a:pt x="5117139" y="1338655"/>
                  <a:pt x="5147874" y="1273856"/>
                  <a:pt x="5142271" y="1229032"/>
                </a:cubicBezTo>
                <a:cubicBezTo>
                  <a:pt x="5138415" y="1198180"/>
                  <a:pt x="5130704" y="1165943"/>
                  <a:pt x="5112774" y="1140542"/>
                </a:cubicBezTo>
                <a:cubicBezTo>
                  <a:pt x="5051832" y="1054209"/>
                  <a:pt x="4982481" y="1044672"/>
                  <a:pt x="4886632" y="1012722"/>
                </a:cubicBezTo>
                <a:cubicBezTo>
                  <a:pt x="4863996" y="1005177"/>
                  <a:pt x="4841303" y="997205"/>
                  <a:pt x="4817806" y="993058"/>
                </a:cubicBezTo>
                <a:cubicBezTo>
                  <a:pt x="4785369" y="987334"/>
                  <a:pt x="4752257" y="986503"/>
                  <a:pt x="4719483" y="983225"/>
                </a:cubicBezTo>
                <a:cubicBezTo>
                  <a:pt x="4598219" y="986503"/>
                  <a:pt x="4476730" y="1001127"/>
                  <a:pt x="4355690" y="993058"/>
                </a:cubicBezTo>
                <a:cubicBezTo>
                  <a:pt x="4035800" y="971732"/>
                  <a:pt x="3951270" y="923799"/>
                  <a:pt x="3657600" y="825909"/>
                </a:cubicBezTo>
                <a:cubicBezTo>
                  <a:pt x="3631380" y="799690"/>
                  <a:pt x="3586985" y="783448"/>
                  <a:pt x="3578941" y="747251"/>
                </a:cubicBezTo>
                <a:cubicBezTo>
                  <a:pt x="3552675" y="629053"/>
                  <a:pt x="3817317" y="529549"/>
                  <a:pt x="3834580" y="521109"/>
                </a:cubicBezTo>
                <a:cubicBezTo>
                  <a:pt x="3997294" y="441559"/>
                  <a:pt x="4132736" y="412455"/>
                  <a:pt x="4306529" y="363793"/>
                </a:cubicBezTo>
                <a:cubicBezTo>
                  <a:pt x="4651124" y="372982"/>
                  <a:pt x="5100494" y="338650"/>
                  <a:pt x="5447071" y="471948"/>
                </a:cubicBezTo>
                <a:cubicBezTo>
                  <a:pt x="5535305" y="505884"/>
                  <a:pt x="5607638" y="572249"/>
                  <a:pt x="5683045" y="629264"/>
                </a:cubicBezTo>
                <a:cubicBezTo>
                  <a:pt x="5854318" y="758763"/>
                  <a:pt x="5870224" y="801787"/>
                  <a:pt x="6007509" y="973393"/>
                </a:cubicBezTo>
                <a:cubicBezTo>
                  <a:pt x="6030451" y="1068438"/>
                  <a:pt x="6028224" y="1173410"/>
                  <a:pt x="6076335" y="1258529"/>
                </a:cubicBezTo>
                <a:cubicBezTo>
                  <a:pt x="6117450" y="1331272"/>
                  <a:pt x="6186091" y="1393363"/>
                  <a:pt x="6263148" y="1425677"/>
                </a:cubicBezTo>
                <a:cubicBezTo>
                  <a:pt x="6549420" y="1545726"/>
                  <a:pt x="7118261" y="1532695"/>
                  <a:pt x="7374193" y="1543664"/>
                </a:cubicBezTo>
                <a:cubicBezTo>
                  <a:pt x="7380823" y="1543569"/>
                  <a:pt x="8074932" y="1647161"/>
                  <a:pt x="8229600" y="1435509"/>
                </a:cubicBezTo>
                <a:cubicBezTo>
                  <a:pt x="8260780" y="1392841"/>
                  <a:pt x="8242709" y="1330632"/>
                  <a:pt x="8249264" y="1278193"/>
                </a:cubicBezTo>
                <a:cubicBezTo>
                  <a:pt x="8226322" y="1225754"/>
                  <a:pt x="8210143" y="1169803"/>
                  <a:pt x="8180438" y="1120877"/>
                </a:cubicBezTo>
                <a:cubicBezTo>
                  <a:pt x="8039433" y="888633"/>
                  <a:pt x="8108955" y="1096823"/>
                  <a:pt x="8062451" y="934064"/>
                </a:cubicBezTo>
                <a:cubicBezTo>
                  <a:pt x="8173883" y="855406"/>
                  <a:pt x="8298084" y="792269"/>
                  <a:pt x="8396748" y="698090"/>
                </a:cubicBezTo>
                <a:cubicBezTo>
                  <a:pt x="8445565" y="651492"/>
                  <a:pt x="8545783" y="565637"/>
                  <a:pt x="8495071" y="521109"/>
                </a:cubicBezTo>
                <a:cubicBezTo>
                  <a:pt x="8412304" y="448436"/>
                  <a:pt x="7505679" y="207162"/>
                  <a:pt x="7433187" y="186813"/>
                </a:cubicBezTo>
                <a:cubicBezTo>
                  <a:pt x="7664797" y="153723"/>
                  <a:pt x="7293736" y="205168"/>
                  <a:pt x="7895303" y="147484"/>
                </a:cubicBezTo>
                <a:cubicBezTo>
                  <a:pt x="8003752" y="137085"/>
                  <a:pt x="8112009" y="124204"/>
                  <a:pt x="8219767" y="108155"/>
                </a:cubicBezTo>
                <a:cubicBezTo>
                  <a:pt x="8266181" y="101242"/>
                  <a:pt x="8311405" y="87861"/>
                  <a:pt x="8357419" y="78658"/>
                </a:cubicBezTo>
                <a:cubicBezTo>
                  <a:pt x="8409735" y="68195"/>
                  <a:pt x="8462479" y="59920"/>
                  <a:pt x="8514735" y="49161"/>
                </a:cubicBezTo>
                <a:cubicBezTo>
                  <a:pt x="8573926" y="36975"/>
                  <a:pt x="8631653" y="16506"/>
                  <a:pt x="8691716" y="9832"/>
                </a:cubicBezTo>
                <a:cubicBezTo>
                  <a:pt x="8779725" y="53"/>
                  <a:pt x="8868697" y="3277"/>
                  <a:pt x="8957187" y="0"/>
                </a:cubicBezTo>
                <a:cubicBezTo>
                  <a:pt x="9052232" y="9832"/>
                  <a:pt x="9157379" y="-14263"/>
                  <a:pt x="9242322" y="29496"/>
                </a:cubicBezTo>
                <a:cubicBezTo>
                  <a:pt x="9284744" y="51350"/>
                  <a:pt x="9256359" y="126681"/>
                  <a:pt x="9281651" y="167148"/>
                </a:cubicBezTo>
                <a:cubicBezTo>
                  <a:pt x="9365535" y="301363"/>
                  <a:pt x="9492231" y="290053"/>
                  <a:pt x="9635612" y="324464"/>
                </a:cubicBezTo>
                <a:cubicBezTo>
                  <a:pt x="9524180" y="399845"/>
                  <a:pt x="9409312" y="470380"/>
                  <a:pt x="9301316" y="550606"/>
                </a:cubicBezTo>
                <a:cubicBezTo>
                  <a:pt x="9292996" y="556786"/>
                  <a:pt x="9281308" y="578134"/>
                  <a:pt x="9291483" y="580103"/>
                </a:cubicBezTo>
                <a:cubicBezTo>
                  <a:pt x="9496257" y="619737"/>
                  <a:pt x="9704438" y="639096"/>
                  <a:pt x="9910916" y="668593"/>
                </a:cubicBezTo>
                <a:cubicBezTo>
                  <a:pt x="9940413" y="711200"/>
                  <a:pt x="9991526" y="745195"/>
                  <a:pt x="9999406" y="796413"/>
                </a:cubicBezTo>
                <a:cubicBezTo>
                  <a:pt x="10006347" y="841531"/>
                  <a:pt x="9969941" y="883050"/>
                  <a:pt x="9950245" y="924232"/>
                </a:cubicBezTo>
                <a:cubicBezTo>
                  <a:pt x="9840257" y="1154207"/>
                  <a:pt x="9931807" y="900887"/>
                  <a:pt x="9861754" y="1111045"/>
                </a:cubicBezTo>
                <a:cubicBezTo>
                  <a:pt x="9855199" y="1163484"/>
                  <a:pt x="9860903" y="1218976"/>
                  <a:pt x="9842090" y="1268361"/>
                </a:cubicBezTo>
                <a:cubicBezTo>
                  <a:pt x="9832977" y="1292282"/>
                  <a:pt x="9802228" y="1300516"/>
                  <a:pt x="9783096" y="1317522"/>
                </a:cubicBezTo>
                <a:cubicBezTo>
                  <a:pt x="9772703" y="1326760"/>
                  <a:pt x="9763432" y="1337187"/>
                  <a:pt x="9753600" y="1347019"/>
                </a:cubicBezTo>
                <a:cubicBezTo>
                  <a:pt x="9794162" y="1349154"/>
                  <a:pt x="9959425" y="1329764"/>
                  <a:pt x="10009238" y="1396180"/>
                </a:cubicBezTo>
                <a:cubicBezTo>
                  <a:pt x="10017346" y="1406990"/>
                  <a:pt x="10002683" y="1422399"/>
                  <a:pt x="9999406" y="1435509"/>
                </a:cubicBezTo>
                <a:lnTo>
                  <a:pt x="10078064" y="1455174"/>
                </a:lnTo>
              </a:path>
            </a:pathLst>
          </a:custGeom>
          <a:ln>
            <a:solidFill>
              <a:schemeClr val="bg1"/>
            </a:solidFill>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fr-FR"/>
          </a:p>
        </p:txBody>
      </p:sp>
      <p:sp>
        <p:nvSpPr>
          <p:cNvPr id="6" name="ZoneTexte 5">
            <a:extLst>
              <a:ext uri="{FF2B5EF4-FFF2-40B4-BE49-F238E27FC236}">
                <a16:creationId xmlns:a16="http://schemas.microsoft.com/office/drawing/2014/main" id="{5753BF90-A693-487E-006A-34E6F15C4EC3}"/>
              </a:ext>
            </a:extLst>
          </p:cNvPr>
          <p:cNvSpPr txBox="1"/>
          <p:nvPr/>
        </p:nvSpPr>
        <p:spPr>
          <a:xfrm>
            <a:off x="781344" y="4576369"/>
            <a:ext cx="703801" cy="861774"/>
          </a:xfrm>
          <a:prstGeom prst="rect">
            <a:avLst/>
          </a:prstGeom>
          <a:noFill/>
        </p:spPr>
        <p:txBody>
          <a:bodyPr wrap="square" rtlCol="0">
            <a:spAutoFit/>
          </a:bodyPr>
          <a:lstStyle/>
          <a:p>
            <a:r>
              <a:rPr lang="fr-FR" sz="5000" dirty="0">
                <a:solidFill>
                  <a:schemeClr val="bg1"/>
                </a:solidFill>
              </a:rPr>
              <a:t>x</a:t>
            </a:r>
          </a:p>
        </p:txBody>
      </p:sp>
      <p:sp>
        <p:nvSpPr>
          <p:cNvPr id="10" name="ZoneTexte 9">
            <a:extLst>
              <a:ext uri="{FF2B5EF4-FFF2-40B4-BE49-F238E27FC236}">
                <a16:creationId xmlns:a16="http://schemas.microsoft.com/office/drawing/2014/main" id="{C7003CAB-D4B5-0731-163F-0C04B5D8C9C4}"/>
              </a:ext>
            </a:extLst>
          </p:cNvPr>
          <p:cNvSpPr txBox="1"/>
          <p:nvPr/>
        </p:nvSpPr>
        <p:spPr>
          <a:xfrm>
            <a:off x="10907622" y="5288417"/>
            <a:ext cx="688259" cy="707886"/>
          </a:xfrm>
          <a:prstGeom prst="rect">
            <a:avLst/>
          </a:prstGeom>
          <a:noFill/>
        </p:spPr>
        <p:txBody>
          <a:bodyPr wrap="square" rtlCol="0">
            <a:spAutoFit/>
          </a:bodyPr>
          <a:lstStyle/>
          <a:p>
            <a:r>
              <a:rPr lang="fr-FR" sz="4000" b="1" dirty="0">
                <a:solidFill>
                  <a:schemeClr val="bg1"/>
                </a:solidFill>
              </a:rPr>
              <a:t>X</a:t>
            </a:r>
          </a:p>
        </p:txBody>
      </p:sp>
      <p:sp>
        <p:nvSpPr>
          <p:cNvPr id="11" name="ZoneTexte 10">
            <a:extLst>
              <a:ext uri="{FF2B5EF4-FFF2-40B4-BE49-F238E27FC236}">
                <a16:creationId xmlns:a16="http://schemas.microsoft.com/office/drawing/2014/main" id="{064D5DAA-BFA9-3BEF-9080-2F9F82A65440}"/>
              </a:ext>
            </a:extLst>
          </p:cNvPr>
          <p:cNvSpPr txBox="1"/>
          <p:nvPr/>
        </p:nvSpPr>
        <p:spPr>
          <a:xfrm>
            <a:off x="654715" y="4414684"/>
            <a:ext cx="830430" cy="400110"/>
          </a:xfrm>
          <a:prstGeom prst="rect">
            <a:avLst/>
          </a:prstGeom>
          <a:noFill/>
        </p:spPr>
        <p:txBody>
          <a:bodyPr wrap="square" rtlCol="0">
            <a:spAutoFit/>
          </a:bodyPr>
          <a:lstStyle/>
          <a:p>
            <a:r>
              <a:rPr lang="fr-FR" sz="2000" b="1" dirty="0">
                <a:solidFill>
                  <a:schemeClr val="bg1"/>
                </a:solidFill>
              </a:rPr>
              <a:t>Start</a:t>
            </a:r>
          </a:p>
        </p:txBody>
      </p:sp>
      <p:sp>
        <p:nvSpPr>
          <p:cNvPr id="12" name="ZoneTexte 11">
            <a:extLst>
              <a:ext uri="{FF2B5EF4-FFF2-40B4-BE49-F238E27FC236}">
                <a16:creationId xmlns:a16="http://schemas.microsoft.com/office/drawing/2014/main" id="{61FF7154-31EC-E48C-3AC0-7EC0791BC47D}"/>
              </a:ext>
            </a:extLst>
          </p:cNvPr>
          <p:cNvSpPr txBox="1"/>
          <p:nvPr/>
        </p:nvSpPr>
        <p:spPr>
          <a:xfrm>
            <a:off x="10976448" y="5082994"/>
            <a:ext cx="589936" cy="400110"/>
          </a:xfrm>
          <a:prstGeom prst="rect">
            <a:avLst/>
          </a:prstGeom>
          <a:noFill/>
        </p:spPr>
        <p:txBody>
          <a:bodyPr wrap="square" rtlCol="0">
            <a:spAutoFit/>
          </a:bodyPr>
          <a:lstStyle/>
          <a:p>
            <a:r>
              <a:rPr lang="fr-FR" sz="2000" b="1" dirty="0">
                <a:solidFill>
                  <a:schemeClr val="bg1"/>
                </a:solidFill>
              </a:rPr>
              <a:t>End</a:t>
            </a:r>
          </a:p>
        </p:txBody>
      </p:sp>
      <p:sp>
        <p:nvSpPr>
          <p:cNvPr id="14" name="ZoneTexte 13">
            <a:extLst>
              <a:ext uri="{FF2B5EF4-FFF2-40B4-BE49-F238E27FC236}">
                <a16:creationId xmlns:a16="http://schemas.microsoft.com/office/drawing/2014/main" id="{4F41CD24-CB57-6D2F-AFD2-8522D5774F91}"/>
              </a:ext>
            </a:extLst>
          </p:cNvPr>
          <p:cNvSpPr txBox="1"/>
          <p:nvPr/>
        </p:nvSpPr>
        <p:spPr>
          <a:xfrm>
            <a:off x="3381503" y="5407306"/>
            <a:ext cx="2635045" cy="400110"/>
          </a:xfrm>
          <a:prstGeom prst="rect">
            <a:avLst/>
          </a:prstGeom>
          <a:noFill/>
        </p:spPr>
        <p:txBody>
          <a:bodyPr wrap="square" rtlCol="0">
            <a:spAutoFit/>
          </a:bodyPr>
          <a:lstStyle/>
          <a:p>
            <a:r>
              <a:rPr lang="fr-FR" sz="2000" i="1" dirty="0">
                <a:solidFill>
                  <a:schemeClr val="bg1"/>
                </a:solidFill>
              </a:rPr>
              <a:t>It shoudn’t be perfect</a:t>
            </a:r>
          </a:p>
        </p:txBody>
      </p:sp>
      <p:sp>
        <p:nvSpPr>
          <p:cNvPr id="15" name="ZoneTexte 14">
            <a:extLst>
              <a:ext uri="{FF2B5EF4-FFF2-40B4-BE49-F238E27FC236}">
                <a16:creationId xmlns:a16="http://schemas.microsoft.com/office/drawing/2014/main" id="{43056066-0C0F-7F9E-FD1C-958FCE90A34B}"/>
              </a:ext>
            </a:extLst>
          </p:cNvPr>
          <p:cNvSpPr txBox="1"/>
          <p:nvPr/>
        </p:nvSpPr>
        <p:spPr>
          <a:xfrm>
            <a:off x="6941574" y="4647406"/>
            <a:ext cx="2399071" cy="400110"/>
          </a:xfrm>
          <a:prstGeom prst="rect">
            <a:avLst/>
          </a:prstGeom>
          <a:noFill/>
        </p:spPr>
        <p:txBody>
          <a:bodyPr wrap="square" rtlCol="0">
            <a:spAutoFit/>
          </a:bodyPr>
          <a:lstStyle/>
          <a:p>
            <a:r>
              <a:rPr lang="fr-FR" sz="2000" i="1" dirty="0">
                <a:solidFill>
                  <a:schemeClr val="bg1"/>
                </a:solidFill>
              </a:rPr>
              <a:t>But it should work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15A336A4-4D0B-B3FD-EF85-7A57165E11BC}"/>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5" name="TextBox 4"/>
          <p:cNvSpPr txBox="1"/>
          <p:nvPr/>
        </p:nvSpPr>
        <p:spPr>
          <a:xfrm>
            <a:off x="413840" y="44966"/>
            <a:ext cx="9326880" cy="1092607"/>
          </a:xfrm>
          <a:prstGeom prst="rect">
            <a:avLst/>
          </a:prstGeom>
          <a:noFill/>
        </p:spPr>
        <p:txBody>
          <a:bodyPr wrap="square">
            <a:spAutoFit/>
          </a:bodyPr>
          <a:lstStyle/>
          <a:p>
            <a:pPr algn="l"/>
            <a:r>
              <a:rPr lang="fr-FR" sz="6500" b="1" i="0" noProof="0" dirty="0">
                <a:solidFill>
                  <a:srgbClr val="FFFFFF"/>
                </a:solidFill>
              </a:rPr>
              <a:t>Sommaire</a:t>
            </a:r>
          </a:p>
        </p:txBody>
      </p:sp>
      <p:sp>
        <p:nvSpPr>
          <p:cNvPr id="11" name="Rectangle 10"/>
          <p:cNvSpPr/>
          <p:nvPr/>
        </p:nvSpPr>
        <p:spPr>
          <a:xfrm>
            <a:off x="512064" y="1391842"/>
            <a:ext cx="548640" cy="548640"/>
          </a:xfrm>
          <a:prstGeom prst="rect">
            <a:avLst/>
          </a:prstGeom>
          <a:solidFill>
            <a:srgbClr val="29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2" name="TextBox 11"/>
          <p:cNvSpPr txBox="1"/>
          <p:nvPr/>
        </p:nvSpPr>
        <p:spPr>
          <a:xfrm>
            <a:off x="269748" y="1391842"/>
            <a:ext cx="1033272" cy="553998"/>
          </a:xfrm>
          <a:prstGeom prst="rect">
            <a:avLst/>
          </a:prstGeom>
          <a:noFill/>
        </p:spPr>
        <p:txBody>
          <a:bodyPr wrap="square">
            <a:spAutoFit/>
          </a:bodyPr>
          <a:lstStyle/>
          <a:p>
            <a:pPr algn="ctr"/>
            <a:r>
              <a:rPr lang="fr-FR" sz="3000" b="1" i="0" noProof="0" dirty="0">
                <a:solidFill>
                  <a:srgbClr val="FFFFFF"/>
                </a:solidFill>
              </a:rPr>
              <a:t>1</a:t>
            </a:r>
          </a:p>
        </p:txBody>
      </p:sp>
      <p:sp>
        <p:nvSpPr>
          <p:cNvPr id="13" name="TextBox 12"/>
          <p:cNvSpPr txBox="1"/>
          <p:nvPr/>
        </p:nvSpPr>
        <p:spPr>
          <a:xfrm>
            <a:off x="1228147" y="1389163"/>
            <a:ext cx="4663440" cy="553998"/>
          </a:xfrm>
          <a:prstGeom prst="rect">
            <a:avLst/>
          </a:prstGeom>
          <a:noFill/>
        </p:spPr>
        <p:txBody>
          <a:bodyPr wrap="square">
            <a:spAutoFit/>
          </a:bodyPr>
          <a:lstStyle/>
          <a:p>
            <a:pPr algn="l"/>
            <a:r>
              <a:rPr lang="fr-FR" sz="3000" i="1" noProof="0" dirty="0">
                <a:solidFill>
                  <a:srgbClr val="FFFFFF"/>
                </a:solidFill>
              </a:rPr>
              <a:t>Revue scientifique</a:t>
            </a:r>
          </a:p>
        </p:txBody>
      </p:sp>
      <p:sp>
        <p:nvSpPr>
          <p:cNvPr id="17" name="Rectangle 16"/>
          <p:cNvSpPr/>
          <p:nvPr/>
        </p:nvSpPr>
        <p:spPr>
          <a:xfrm>
            <a:off x="502920" y="2078367"/>
            <a:ext cx="548640" cy="548640"/>
          </a:xfrm>
          <a:prstGeom prst="rect">
            <a:avLst/>
          </a:prstGeom>
          <a:solidFill>
            <a:srgbClr val="38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8" name="TextBox 17"/>
          <p:cNvSpPr txBox="1"/>
          <p:nvPr/>
        </p:nvSpPr>
        <p:spPr>
          <a:xfrm>
            <a:off x="482666" y="2075688"/>
            <a:ext cx="548640" cy="553998"/>
          </a:xfrm>
          <a:prstGeom prst="rect">
            <a:avLst/>
          </a:prstGeom>
          <a:noFill/>
        </p:spPr>
        <p:txBody>
          <a:bodyPr wrap="square">
            <a:spAutoFit/>
          </a:bodyPr>
          <a:lstStyle/>
          <a:p>
            <a:pPr algn="ctr"/>
            <a:r>
              <a:rPr lang="fr-FR" sz="3000" b="1" i="0" noProof="0" dirty="0">
                <a:solidFill>
                  <a:srgbClr val="FFFFFF"/>
                </a:solidFill>
              </a:rPr>
              <a:t>2</a:t>
            </a:r>
          </a:p>
        </p:txBody>
      </p:sp>
      <p:sp>
        <p:nvSpPr>
          <p:cNvPr id="19" name="TextBox 18"/>
          <p:cNvSpPr txBox="1"/>
          <p:nvPr/>
        </p:nvSpPr>
        <p:spPr>
          <a:xfrm>
            <a:off x="1234313" y="2130552"/>
            <a:ext cx="4663440" cy="553998"/>
          </a:xfrm>
          <a:prstGeom prst="rect">
            <a:avLst/>
          </a:prstGeom>
          <a:noFill/>
        </p:spPr>
        <p:txBody>
          <a:bodyPr wrap="square">
            <a:spAutoFit/>
          </a:bodyPr>
          <a:lstStyle/>
          <a:p>
            <a:pPr algn="l"/>
            <a:r>
              <a:rPr lang="fr-FR" sz="3000" i="1" noProof="0" dirty="0">
                <a:solidFill>
                  <a:srgbClr val="FFFFFF"/>
                </a:solidFill>
              </a:rPr>
              <a:t>Modèles IA possibles</a:t>
            </a:r>
          </a:p>
        </p:txBody>
      </p:sp>
      <p:sp>
        <p:nvSpPr>
          <p:cNvPr id="23" name="Rectangle 22"/>
          <p:cNvSpPr/>
          <p:nvPr/>
        </p:nvSpPr>
        <p:spPr>
          <a:xfrm>
            <a:off x="512064" y="2760434"/>
            <a:ext cx="548640" cy="548640"/>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4" name="TextBox 23"/>
          <p:cNvSpPr txBox="1"/>
          <p:nvPr/>
        </p:nvSpPr>
        <p:spPr>
          <a:xfrm>
            <a:off x="498401" y="2786717"/>
            <a:ext cx="548640" cy="553998"/>
          </a:xfrm>
          <a:prstGeom prst="rect">
            <a:avLst/>
          </a:prstGeom>
          <a:noFill/>
        </p:spPr>
        <p:txBody>
          <a:bodyPr wrap="square">
            <a:spAutoFit/>
          </a:bodyPr>
          <a:lstStyle/>
          <a:p>
            <a:pPr algn="ctr"/>
            <a:r>
              <a:rPr lang="fr-FR" sz="3000" b="1" i="0" noProof="0" dirty="0">
                <a:solidFill>
                  <a:srgbClr val="FFFFFF"/>
                </a:solidFill>
              </a:rPr>
              <a:t>3</a:t>
            </a:r>
          </a:p>
        </p:txBody>
      </p:sp>
      <p:sp>
        <p:nvSpPr>
          <p:cNvPr id="25" name="TextBox 24"/>
          <p:cNvSpPr txBox="1"/>
          <p:nvPr/>
        </p:nvSpPr>
        <p:spPr>
          <a:xfrm>
            <a:off x="1234313" y="2786717"/>
            <a:ext cx="4663440" cy="553998"/>
          </a:xfrm>
          <a:prstGeom prst="rect">
            <a:avLst/>
          </a:prstGeom>
          <a:noFill/>
        </p:spPr>
        <p:txBody>
          <a:bodyPr wrap="square">
            <a:spAutoFit/>
          </a:bodyPr>
          <a:lstStyle/>
          <a:p>
            <a:pPr algn="l"/>
            <a:r>
              <a:rPr lang="fr-FR" sz="3000" i="1" noProof="0" dirty="0">
                <a:solidFill>
                  <a:srgbClr val="FFFFFF"/>
                </a:solidFill>
              </a:rPr>
              <a:t>Sources et données</a:t>
            </a:r>
          </a:p>
        </p:txBody>
      </p:sp>
      <p:sp>
        <p:nvSpPr>
          <p:cNvPr id="29" name="Rectangle 28"/>
          <p:cNvSpPr/>
          <p:nvPr/>
        </p:nvSpPr>
        <p:spPr>
          <a:xfrm>
            <a:off x="512064" y="3534415"/>
            <a:ext cx="548640" cy="525582"/>
          </a:xfrm>
          <a:prstGeom prst="rect">
            <a:avLst/>
          </a:prstGeom>
          <a:solidFill>
            <a:srgbClr val="5BA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0" name="TextBox 29"/>
          <p:cNvSpPr txBox="1"/>
          <p:nvPr/>
        </p:nvSpPr>
        <p:spPr>
          <a:xfrm>
            <a:off x="488568" y="3515084"/>
            <a:ext cx="548640" cy="553998"/>
          </a:xfrm>
          <a:prstGeom prst="rect">
            <a:avLst/>
          </a:prstGeom>
          <a:noFill/>
        </p:spPr>
        <p:txBody>
          <a:bodyPr wrap="square">
            <a:spAutoFit/>
          </a:bodyPr>
          <a:lstStyle/>
          <a:p>
            <a:pPr algn="ctr"/>
            <a:r>
              <a:rPr lang="fr-FR" sz="3000" b="1" i="0" noProof="0" dirty="0">
                <a:solidFill>
                  <a:srgbClr val="FFFFFF"/>
                </a:solidFill>
              </a:rPr>
              <a:t>4</a:t>
            </a:r>
          </a:p>
        </p:txBody>
      </p:sp>
      <p:sp>
        <p:nvSpPr>
          <p:cNvPr id="31" name="TextBox 30"/>
          <p:cNvSpPr txBox="1"/>
          <p:nvPr/>
        </p:nvSpPr>
        <p:spPr>
          <a:xfrm>
            <a:off x="1237979" y="3546344"/>
            <a:ext cx="4663440" cy="553998"/>
          </a:xfrm>
          <a:prstGeom prst="rect">
            <a:avLst/>
          </a:prstGeom>
          <a:noFill/>
        </p:spPr>
        <p:txBody>
          <a:bodyPr wrap="square">
            <a:spAutoFit/>
          </a:bodyPr>
          <a:lstStyle/>
          <a:p>
            <a:pPr algn="l"/>
            <a:r>
              <a:rPr lang="fr-FR" sz="3000" i="1" noProof="0" dirty="0">
                <a:solidFill>
                  <a:srgbClr val="FFFFFF"/>
                </a:solidFill>
              </a:rPr>
              <a:t>Architecture technique</a:t>
            </a:r>
          </a:p>
        </p:txBody>
      </p:sp>
      <p:sp>
        <p:nvSpPr>
          <p:cNvPr id="35" name="Rectangle 34"/>
          <p:cNvSpPr/>
          <p:nvPr/>
        </p:nvSpPr>
        <p:spPr>
          <a:xfrm>
            <a:off x="512064" y="4253697"/>
            <a:ext cx="548640" cy="548640"/>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6" name="TextBox 35"/>
          <p:cNvSpPr txBox="1"/>
          <p:nvPr/>
        </p:nvSpPr>
        <p:spPr>
          <a:xfrm>
            <a:off x="488568" y="4217392"/>
            <a:ext cx="548640" cy="553998"/>
          </a:xfrm>
          <a:prstGeom prst="rect">
            <a:avLst/>
          </a:prstGeom>
          <a:noFill/>
        </p:spPr>
        <p:txBody>
          <a:bodyPr wrap="square">
            <a:spAutoFit/>
          </a:bodyPr>
          <a:lstStyle/>
          <a:p>
            <a:pPr algn="ctr"/>
            <a:r>
              <a:rPr lang="fr-FR" sz="3000" b="1" i="0" noProof="0" dirty="0">
                <a:solidFill>
                  <a:srgbClr val="FFFFFF"/>
                </a:solidFill>
              </a:rPr>
              <a:t>5</a:t>
            </a:r>
          </a:p>
        </p:txBody>
      </p:sp>
      <p:sp>
        <p:nvSpPr>
          <p:cNvPr id="37" name="TextBox 36"/>
          <p:cNvSpPr txBox="1"/>
          <p:nvPr/>
        </p:nvSpPr>
        <p:spPr>
          <a:xfrm>
            <a:off x="1228147" y="4251018"/>
            <a:ext cx="4663440" cy="553998"/>
          </a:xfrm>
          <a:prstGeom prst="rect">
            <a:avLst/>
          </a:prstGeom>
          <a:noFill/>
        </p:spPr>
        <p:txBody>
          <a:bodyPr wrap="square">
            <a:spAutoFit/>
          </a:bodyPr>
          <a:lstStyle/>
          <a:p>
            <a:pPr algn="l"/>
            <a:r>
              <a:rPr lang="fr-FR" sz="3000" i="1" dirty="0">
                <a:solidFill>
                  <a:srgbClr val="FFFFFF"/>
                </a:solidFill>
              </a:rPr>
              <a:t>Couts et faisabilité</a:t>
            </a:r>
            <a:endParaRPr lang="fr-FR" sz="3000" i="1" noProof="0" dirty="0">
              <a:solidFill>
                <a:srgbClr val="FFFFFF"/>
              </a:solidFill>
            </a:endParaRPr>
          </a:p>
        </p:txBody>
      </p:sp>
      <p:sp>
        <p:nvSpPr>
          <p:cNvPr id="42" name="TextBox 41"/>
          <p:cNvSpPr txBox="1"/>
          <p:nvPr/>
        </p:nvSpPr>
        <p:spPr>
          <a:xfrm>
            <a:off x="512064" y="4986952"/>
            <a:ext cx="548640" cy="553998"/>
          </a:xfrm>
          <a:prstGeom prst="rect">
            <a:avLst/>
          </a:prstGeom>
          <a:solidFill>
            <a:srgbClr val="7030A0"/>
          </a:solidFill>
        </p:spPr>
        <p:txBody>
          <a:bodyPr wrap="square">
            <a:spAutoFit/>
          </a:bodyPr>
          <a:lstStyle/>
          <a:p>
            <a:pPr algn="ctr"/>
            <a:r>
              <a:rPr lang="fr-FR" sz="3000" b="1" i="0" noProof="0" dirty="0">
                <a:solidFill>
                  <a:srgbClr val="FFFFFF"/>
                </a:solidFill>
              </a:rPr>
              <a:t>6</a:t>
            </a:r>
          </a:p>
        </p:txBody>
      </p:sp>
      <p:sp>
        <p:nvSpPr>
          <p:cNvPr id="43" name="TextBox 42"/>
          <p:cNvSpPr txBox="1"/>
          <p:nvPr/>
        </p:nvSpPr>
        <p:spPr>
          <a:xfrm>
            <a:off x="1237979" y="5725565"/>
            <a:ext cx="4663440" cy="553998"/>
          </a:xfrm>
          <a:prstGeom prst="rect">
            <a:avLst/>
          </a:prstGeom>
          <a:noFill/>
        </p:spPr>
        <p:txBody>
          <a:bodyPr wrap="square">
            <a:spAutoFit/>
          </a:bodyPr>
          <a:lstStyle/>
          <a:p>
            <a:pPr algn="l"/>
            <a:r>
              <a:rPr lang="fr-FR" sz="3000" i="1" noProof="0" dirty="0" err="1">
                <a:solidFill>
                  <a:srgbClr val="FFFFFF"/>
                </a:solidFill>
              </a:rPr>
              <a:t>Happie</a:t>
            </a:r>
            <a:r>
              <a:rPr lang="fr-FR" sz="3000" i="1" noProof="0" dirty="0">
                <a:solidFill>
                  <a:srgbClr val="FFFFFF"/>
                </a:solidFill>
              </a:rPr>
              <a:t> Animals</a:t>
            </a:r>
          </a:p>
        </p:txBody>
      </p:sp>
      <p:sp>
        <p:nvSpPr>
          <p:cNvPr id="50" name="TextBox 41">
            <a:extLst>
              <a:ext uri="{FF2B5EF4-FFF2-40B4-BE49-F238E27FC236}">
                <a16:creationId xmlns:a16="http://schemas.microsoft.com/office/drawing/2014/main" id="{4437C6CD-CB1E-A692-5EA4-DDC1A83513D8}"/>
              </a:ext>
            </a:extLst>
          </p:cNvPr>
          <p:cNvSpPr txBox="1"/>
          <p:nvPr/>
        </p:nvSpPr>
        <p:spPr>
          <a:xfrm>
            <a:off x="492235" y="5725565"/>
            <a:ext cx="548640" cy="553998"/>
          </a:xfrm>
          <a:prstGeom prst="rect">
            <a:avLst/>
          </a:prstGeom>
          <a:solidFill>
            <a:srgbClr val="00B0F0"/>
          </a:solidFill>
        </p:spPr>
        <p:txBody>
          <a:bodyPr wrap="square">
            <a:spAutoFit/>
          </a:bodyPr>
          <a:lstStyle/>
          <a:p>
            <a:pPr algn="ctr"/>
            <a:r>
              <a:rPr lang="fr-FR" sz="3000" b="1" dirty="0">
                <a:solidFill>
                  <a:srgbClr val="FFFFFF"/>
                </a:solidFill>
              </a:rPr>
              <a:t>7</a:t>
            </a:r>
            <a:endParaRPr lang="fr-FR" sz="3000" b="1" i="0" noProof="0" dirty="0">
              <a:solidFill>
                <a:srgbClr val="FFFFFF"/>
              </a:solidFill>
            </a:endParaRPr>
          </a:p>
        </p:txBody>
      </p:sp>
      <p:sp>
        <p:nvSpPr>
          <p:cNvPr id="52" name="ZoneTexte 51">
            <a:extLst>
              <a:ext uri="{FF2B5EF4-FFF2-40B4-BE49-F238E27FC236}">
                <a16:creationId xmlns:a16="http://schemas.microsoft.com/office/drawing/2014/main" id="{4933C382-694A-C98A-5AB5-9CA142234460}"/>
              </a:ext>
            </a:extLst>
          </p:cNvPr>
          <p:cNvSpPr txBox="1"/>
          <p:nvPr/>
        </p:nvSpPr>
        <p:spPr>
          <a:xfrm>
            <a:off x="1228147" y="4998448"/>
            <a:ext cx="6096000" cy="553998"/>
          </a:xfrm>
          <a:prstGeom prst="rect">
            <a:avLst/>
          </a:prstGeom>
          <a:noFill/>
        </p:spPr>
        <p:txBody>
          <a:bodyPr wrap="square">
            <a:spAutoFit/>
          </a:bodyPr>
          <a:lstStyle/>
          <a:p>
            <a:pPr algn="l"/>
            <a:r>
              <a:rPr lang="fr-FR" sz="3000" i="1" noProof="0" dirty="0">
                <a:solidFill>
                  <a:srgbClr val="FFFFFF"/>
                </a:solidFill>
              </a:rPr>
              <a:t>Roadmap complète</a:t>
            </a:r>
          </a:p>
        </p:txBody>
      </p:sp>
      <p:pic>
        <p:nvPicPr>
          <p:cNvPr id="2050" name="Picture 2" descr="Quarter Horse (Race de cheval) - Equidassur">
            <a:extLst>
              <a:ext uri="{FF2B5EF4-FFF2-40B4-BE49-F238E27FC236}">
                <a16:creationId xmlns:a16="http://schemas.microsoft.com/office/drawing/2014/main" id="{E026A704-78A2-27F0-74A4-E56BDB9A1FF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095"/>
          <a:stretch>
            <a:fillRect/>
          </a:stretch>
        </p:blipFill>
        <p:spPr bwMode="auto">
          <a:xfrm>
            <a:off x="5555066" y="1517063"/>
            <a:ext cx="5994458" cy="4762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870357DB-A64A-9D62-03A9-2D529335226A}"/>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6" name="TextBox 5"/>
          <p:cNvSpPr txBox="1"/>
          <p:nvPr/>
        </p:nvSpPr>
        <p:spPr>
          <a:xfrm>
            <a:off x="698582" y="544708"/>
            <a:ext cx="9688708" cy="1938992"/>
          </a:xfrm>
          <a:prstGeom prst="rect">
            <a:avLst/>
          </a:prstGeom>
          <a:noFill/>
        </p:spPr>
        <p:txBody>
          <a:bodyPr wrap="square">
            <a:spAutoFit/>
          </a:bodyPr>
          <a:lstStyle/>
          <a:p>
            <a:pPr algn="l"/>
            <a:r>
              <a:rPr lang="fr-FR" sz="6000" b="1" i="0" noProof="0" dirty="0">
                <a:solidFill>
                  <a:srgbClr val="FFFFFF"/>
                </a:solidFill>
              </a:rPr>
              <a:t>Revue Scientifique
</a:t>
            </a:r>
          </a:p>
        </p:txBody>
      </p:sp>
      <p:pic>
        <p:nvPicPr>
          <p:cNvPr id="1026" name="Picture 2" descr="Revues scientifiques à la BSB">
            <a:extLst>
              <a:ext uri="{FF2B5EF4-FFF2-40B4-BE49-F238E27FC236}">
                <a16:creationId xmlns:a16="http://schemas.microsoft.com/office/drawing/2014/main" id="{A9E686DB-E832-C85E-EE44-9D9A07B996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4060" y="1648989"/>
            <a:ext cx="3168673" cy="4163962"/>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La Recherche : le magazine de référence scientifique. 577, Avril-Juin 2024  - Site officiel de la Médiathèque de Monaco">
            <a:extLst>
              <a:ext uri="{FF2B5EF4-FFF2-40B4-BE49-F238E27FC236}">
                <a16:creationId xmlns:a16="http://schemas.microsoft.com/office/drawing/2014/main" id="{2D68CB48-4AA1-1D1D-A9A4-1CE3AD0C8F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35365" y="2959510"/>
            <a:ext cx="2446354" cy="322006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Qui sommes nous ? - Pour la Science">
            <a:extLst>
              <a:ext uri="{FF2B5EF4-FFF2-40B4-BE49-F238E27FC236}">
                <a16:creationId xmlns:a16="http://schemas.microsoft.com/office/drawing/2014/main" id="{AE1BB393-1023-CA1E-0A53-6FA443AD4A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9933" y="4288818"/>
            <a:ext cx="1547054" cy="21143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4B528689-FCB7-B8ED-133D-E8A1CDC069EF}"/>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5" name="TextBox 4"/>
          <p:cNvSpPr txBox="1"/>
          <p:nvPr/>
        </p:nvSpPr>
        <p:spPr>
          <a:xfrm>
            <a:off x="347471" y="115074"/>
            <a:ext cx="12434463" cy="707886"/>
          </a:xfrm>
          <a:prstGeom prst="rect">
            <a:avLst/>
          </a:prstGeom>
          <a:noFill/>
        </p:spPr>
        <p:txBody>
          <a:bodyPr wrap="square">
            <a:spAutoFit/>
          </a:bodyPr>
          <a:lstStyle/>
          <a:p>
            <a:pPr algn="l"/>
            <a:r>
              <a:rPr lang="fr-FR" sz="4000" b="1" i="0" noProof="0" dirty="0">
                <a:solidFill>
                  <a:srgbClr val="FFFFFF"/>
                </a:solidFill>
              </a:rPr>
              <a:t>Publications scientifiques clés </a:t>
            </a:r>
          </a:p>
        </p:txBody>
      </p:sp>
      <p:sp>
        <p:nvSpPr>
          <p:cNvPr id="12" name="Rectangle 11"/>
          <p:cNvSpPr/>
          <p:nvPr/>
        </p:nvSpPr>
        <p:spPr>
          <a:xfrm>
            <a:off x="365760" y="1097280"/>
            <a:ext cx="658368" cy="1005840"/>
          </a:xfrm>
          <a:prstGeom prst="rect">
            <a:avLst/>
          </a:prstGeom>
          <a:solidFill>
            <a:srgbClr val="29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3" name="TextBox 12"/>
          <p:cNvSpPr txBox="1"/>
          <p:nvPr/>
        </p:nvSpPr>
        <p:spPr>
          <a:xfrm>
            <a:off x="365760" y="1353312"/>
            <a:ext cx="658368" cy="475488"/>
          </a:xfrm>
          <a:prstGeom prst="rect">
            <a:avLst/>
          </a:prstGeom>
          <a:noFill/>
        </p:spPr>
        <p:txBody>
          <a:bodyPr wrap="square">
            <a:spAutoFit/>
          </a:bodyPr>
          <a:lstStyle/>
          <a:p>
            <a:pPr algn="ctr"/>
            <a:r>
              <a:rPr lang="fr-FR" sz="1400" b="1" i="0" noProof="0" dirty="0">
                <a:solidFill>
                  <a:srgbClr val="FFFFFF"/>
                </a:solidFill>
              </a:rPr>
              <a:t>2024</a:t>
            </a:r>
          </a:p>
        </p:txBody>
      </p:sp>
      <p:sp>
        <p:nvSpPr>
          <p:cNvPr id="14" name="Rectangle 13"/>
          <p:cNvSpPr/>
          <p:nvPr/>
        </p:nvSpPr>
        <p:spPr>
          <a:xfrm>
            <a:off x="1097280" y="1097280"/>
            <a:ext cx="6444062" cy="10058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5" name="Rectangle 14"/>
          <p:cNvSpPr/>
          <p:nvPr/>
        </p:nvSpPr>
        <p:spPr>
          <a:xfrm>
            <a:off x="1097280" y="1097280"/>
            <a:ext cx="45720" cy="1005840"/>
          </a:xfrm>
          <a:prstGeom prst="rect">
            <a:avLst/>
          </a:prstGeom>
          <a:solidFill>
            <a:srgbClr val="29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6" name="TextBox 15"/>
          <p:cNvSpPr txBox="1"/>
          <p:nvPr/>
        </p:nvSpPr>
        <p:spPr>
          <a:xfrm>
            <a:off x="1261872" y="1170432"/>
            <a:ext cx="7315200" cy="400110"/>
          </a:xfrm>
          <a:prstGeom prst="rect">
            <a:avLst/>
          </a:prstGeom>
          <a:noFill/>
        </p:spPr>
        <p:txBody>
          <a:bodyPr wrap="square">
            <a:spAutoFit/>
          </a:bodyPr>
          <a:lstStyle/>
          <a:p>
            <a:pPr algn="l"/>
            <a:r>
              <a:rPr lang="fr-FR" sz="2000" b="1" i="0" noProof="0" dirty="0">
                <a:solidFill>
                  <a:srgbClr val="FFFFFF"/>
                </a:solidFill>
              </a:rPr>
              <a:t>AI-</a:t>
            </a:r>
            <a:r>
              <a:rPr lang="fr-FR" sz="2000" b="1" i="0" noProof="0" dirty="0" err="1">
                <a:solidFill>
                  <a:srgbClr val="FFFFFF"/>
                </a:solidFill>
              </a:rPr>
              <a:t>driven</a:t>
            </a:r>
            <a:r>
              <a:rPr lang="fr-FR" sz="2000" b="1" i="0" noProof="0" dirty="0">
                <a:solidFill>
                  <a:srgbClr val="FFFFFF"/>
                </a:solidFill>
              </a:rPr>
              <a:t> </a:t>
            </a:r>
            <a:r>
              <a:rPr lang="fr-FR" sz="2000" b="1" i="0" noProof="0" dirty="0" err="1">
                <a:solidFill>
                  <a:srgbClr val="FFFFFF"/>
                </a:solidFill>
              </a:rPr>
              <a:t>personalized</a:t>
            </a:r>
            <a:r>
              <a:rPr lang="fr-FR" sz="2000" b="1" i="0" noProof="0" dirty="0">
                <a:solidFill>
                  <a:srgbClr val="FFFFFF"/>
                </a:solidFill>
              </a:rPr>
              <a:t> training in </a:t>
            </a:r>
            <a:r>
              <a:rPr lang="fr-FR" sz="2000" b="1" i="0" noProof="0" dirty="0" err="1">
                <a:solidFill>
                  <a:srgbClr val="FFFFFF"/>
                </a:solidFill>
              </a:rPr>
              <a:t>equestrian</a:t>
            </a:r>
            <a:r>
              <a:rPr lang="fr-FR" sz="2000" b="1" i="0" noProof="0" dirty="0">
                <a:solidFill>
                  <a:srgbClr val="FFFFFF"/>
                </a:solidFill>
              </a:rPr>
              <a:t> sports</a:t>
            </a:r>
          </a:p>
        </p:txBody>
      </p:sp>
      <p:sp>
        <p:nvSpPr>
          <p:cNvPr id="18" name="TextBox 17"/>
          <p:cNvSpPr txBox="1"/>
          <p:nvPr/>
        </p:nvSpPr>
        <p:spPr>
          <a:xfrm>
            <a:off x="1261872" y="1645920"/>
            <a:ext cx="10332720" cy="323165"/>
          </a:xfrm>
          <a:prstGeom prst="rect">
            <a:avLst/>
          </a:prstGeom>
          <a:noFill/>
        </p:spPr>
        <p:txBody>
          <a:bodyPr wrap="square">
            <a:spAutoFit/>
          </a:bodyPr>
          <a:lstStyle/>
          <a:p>
            <a:pPr algn="l"/>
            <a:r>
              <a:rPr lang="fr-FR" sz="1500" b="0" i="1" noProof="0" dirty="0">
                <a:solidFill>
                  <a:schemeClr val="bg1"/>
                </a:solidFill>
              </a:rPr>
              <a:t>CNN + capteurs IMU pour analyse posturale — 91% de précision</a:t>
            </a:r>
          </a:p>
        </p:txBody>
      </p:sp>
      <p:sp>
        <p:nvSpPr>
          <p:cNvPr id="19" name="Rectangle 18"/>
          <p:cNvSpPr/>
          <p:nvPr/>
        </p:nvSpPr>
        <p:spPr>
          <a:xfrm>
            <a:off x="365760" y="2212848"/>
            <a:ext cx="658368" cy="1005840"/>
          </a:xfrm>
          <a:prstGeom prst="rect">
            <a:avLst/>
          </a:prstGeom>
          <a:solidFill>
            <a:srgbClr val="29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0" name="TextBox 19"/>
          <p:cNvSpPr txBox="1"/>
          <p:nvPr/>
        </p:nvSpPr>
        <p:spPr>
          <a:xfrm>
            <a:off x="365760" y="2468880"/>
            <a:ext cx="658368" cy="475488"/>
          </a:xfrm>
          <a:prstGeom prst="rect">
            <a:avLst/>
          </a:prstGeom>
          <a:noFill/>
        </p:spPr>
        <p:txBody>
          <a:bodyPr wrap="square">
            <a:spAutoFit/>
          </a:bodyPr>
          <a:lstStyle/>
          <a:p>
            <a:pPr algn="ctr"/>
            <a:r>
              <a:rPr lang="fr-FR" sz="1400" b="1" i="0" noProof="0" dirty="0">
                <a:solidFill>
                  <a:srgbClr val="FFFFFF"/>
                </a:solidFill>
              </a:rPr>
              <a:t>2023</a:t>
            </a:r>
          </a:p>
        </p:txBody>
      </p:sp>
      <p:sp>
        <p:nvSpPr>
          <p:cNvPr id="21" name="Rectangle 20"/>
          <p:cNvSpPr/>
          <p:nvPr/>
        </p:nvSpPr>
        <p:spPr>
          <a:xfrm>
            <a:off x="1097280" y="2212848"/>
            <a:ext cx="6444062" cy="10058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2" name="Rectangle 21"/>
          <p:cNvSpPr/>
          <p:nvPr/>
        </p:nvSpPr>
        <p:spPr>
          <a:xfrm>
            <a:off x="1097280" y="2212848"/>
            <a:ext cx="45720" cy="1005840"/>
          </a:xfrm>
          <a:prstGeom prst="rect">
            <a:avLst/>
          </a:prstGeom>
          <a:solidFill>
            <a:srgbClr val="29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3" name="TextBox 22"/>
          <p:cNvSpPr txBox="1"/>
          <p:nvPr/>
        </p:nvSpPr>
        <p:spPr>
          <a:xfrm>
            <a:off x="1261872" y="2286000"/>
            <a:ext cx="7315200" cy="400110"/>
          </a:xfrm>
          <a:prstGeom prst="rect">
            <a:avLst/>
          </a:prstGeom>
          <a:noFill/>
        </p:spPr>
        <p:txBody>
          <a:bodyPr wrap="square">
            <a:spAutoFit/>
          </a:bodyPr>
          <a:lstStyle/>
          <a:p>
            <a:pPr algn="l"/>
            <a:r>
              <a:rPr lang="fr-FR" sz="2000" b="1" i="0" noProof="0" dirty="0">
                <a:solidFill>
                  <a:srgbClr val="FFFFFF"/>
                </a:solidFill>
              </a:rPr>
              <a:t>LLM for sports coaching </a:t>
            </a:r>
            <a:r>
              <a:rPr lang="fr-FR" sz="2000" b="1" i="0" noProof="0" dirty="0" err="1">
                <a:solidFill>
                  <a:srgbClr val="FFFFFF"/>
                </a:solidFill>
              </a:rPr>
              <a:t>recommendation</a:t>
            </a:r>
            <a:r>
              <a:rPr lang="fr-FR" sz="2000" b="1" i="0" noProof="0" dirty="0">
                <a:solidFill>
                  <a:srgbClr val="FFFFFF"/>
                </a:solidFill>
              </a:rPr>
              <a:t> </a:t>
            </a:r>
            <a:r>
              <a:rPr lang="fr-FR" sz="2000" b="1" i="0" noProof="0" dirty="0" err="1">
                <a:solidFill>
                  <a:srgbClr val="FFFFFF"/>
                </a:solidFill>
              </a:rPr>
              <a:t>systems</a:t>
            </a:r>
            <a:endParaRPr lang="fr-FR" sz="2000" b="1" i="0" noProof="0" dirty="0">
              <a:solidFill>
                <a:srgbClr val="FFFFFF"/>
              </a:solidFill>
            </a:endParaRPr>
          </a:p>
        </p:txBody>
      </p:sp>
      <p:sp>
        <p:nvSpPr>
          <p:cNvPr id="25" name="TextBox 24"/>
          <p:cNvSpPr txBox="1"/>
          <p:nvPr/>
        </p:nvSpPr>
        <p:spPr>
          <a:xfrm>
            <a:off x="1261872" y="2761488"/>
            <a:ext cx="10332720" cy="323165"/>
          </a:xfrm>
          <a:prstGeom prst="rect">
            <a:avLst/>
          </a:prstGeom>
          <a:noFill/>
        </p:spPr>
        <p:txBody>
          <a:bodyPr wrap="square">
            <a:spAutoFit/>
          </a:bodyPr>
          <a:lstStyle/>
          <a:p>
            <a:pPr algn="l"/>
            <a:r>
              <a:rPr lang="fr-FR" sz="1500" b="0" i="1" noProof="0" dirty="0">
                <a:solidFill>
                  <a:schemeClr val="bg1"/>
                </a:solidFill>
              </a:rPr>
              <a:t>GPT-4 fine-tune sur logs d'athlètes — plans personnalises pertinents</a:t>
            </a:r>
          </a:p>
        </p:txBody>
      </p:sp>
      <p:sp>
        <p:nvSpPr>
          <p:cNvPr id="26" name="Rectangle 25"/>
          <p:cNvSpPr/>
          <p:nvPr/>
        </p:nvSpPr>
        <p:spPr>
          <a:xfrm>
            <a:off x="365760" y="3328415"/>
            <a:ext cx="658368" cy="1005840"/>
          </a:xfrm>
          <a:prstGeom prst="rect">
            <a:avLst/>
          </a:prstGeom>
          <a:solidFill>
            <a:srgbClr val="29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7" name="TextBox 26"/>
          <p:cNvSpPr txBox="1"/>
          <p:nvPr/>
        </p:nvSpPr>
        <p:spPr>
          <a:xfrm>
            <a:off x="365760" y="3584447"/>
            <a:ext cx="658368" cy="475488"/>
          </a:xfrm>
          <a:prstGeom prst="rect">
            <a:avLst/>
          </a:prstGeom>
          <a:noFill/>
        </p:spPr>
        <p:txBody>
          <a:bodyPr wrap="square">
            <a:spAutoFit/>
          </a:bodyPr>
          <a:lstStyle/>
          <a:p>
            <a:pPr algn="ctr"/>
            <a:r>
              <a:rPr lang="fr-FR" sz="1400" b="1" i="0" noProof="0" dirty="0">
                <a:solidFill>
                  <a:srgbClr val="FFFFFF"/>
                </a:solidFill>
              </a:rPr>
              <a:t>2022</a:t>
            </a:r>
          </a:p>
        </p:txBody>
      </p:sp>
      <p:sp>
        <p:nvSpPr>
          <p:cNvPr id="28" name="Rectangle 27"/>
          <p:cNvSpPr/>
          <p:nvPr/>
        </p:nvSpPr>
        <p:spPr>
          <a:xfrm>
            <a:off x="1097280" y="3328415"/>
            <a:ext cx="6444062" cy="10058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9" name="Rectangle 28"/>
          <p:cNvSpPr/>
          <p:nvPr/>
        </p:nvSpPr>
        <p:spPr>
          <a:xfrm>
            <a:off x="1097280" y="3328415"/>
            <a:ext cx="45720" cy="1005840"/>
          </a:xfrm>
          <a:prstGeom prst="rect">
            <a:avLst/>
          </a:prstGeom>
          <a:solidFill>
            <a:srgbClr val="29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0" name="TextBox 29"/>
          <p:cNvSpPr txBox="1"/>
          <p:nvPr/>
        </p:nvSpPr>
        <p:spPr>
          <a:xfrm>
            <a:off x="1261872" y="3401567"/>
            <a:ext cx="7315200" cy="400110"/>
          </a:xfrm>
          <a:prstGeom prst="rect">
            <a:avLst/>
          </a:prstGeom>
          <a:noFill/>
        </p:spPr>
        <p:txBody>
          <a:bodyPr wrap="square">
            <a:spAutoFit/>
          </a:bodyPr>
          <a:lstStyle/>
          <a:p>
            <a:pPr algn="l"/>
            <a:r>
              <a:rPr lang="fr-FR" sz="2000" b="1" i="0" noProof="0" dirty="0">
                <a:solidFill>
                  <a:srgbClr val="FFFFFF"/>
                </a:solidFill>
              </a:rPr>
              <a:t>Computer vision for horse </a:t>
            </a:r>
            <a:r>
              <a:rPr lang="fr-FR" sz="2000" b="1" i="0" noProof="0" dirty="0" err="1">
                <a:solidFill>
                  <a:srgbClr val="FFFFFF"/>
                </a:solidFill>
              </a:rPr>
              <a:t>gait</a:t>
            </a:r>
            <a:r>
              <a:rPr lang="fr-FR" sz="2000" b="1" i="0" noProof="0" dirty="0">
                <a:solidFill>
                  <a:srgbClr val="FFFFFF"/>
                </a:solidFill>
              </a:rPr>
              <a:t> </a:t>
            </a:r>
            <a:r>
              <a:rPr lang="fr-FR" sz="2000" b="1" i="0" noProof="0" dirty="0" err="1">
                <a:solidFill>
                  <a:srgbClr val="FFFFFF"/>
                </a:solidFill>
              </a:rPr>
              <a:t>analysis</a:t>
            </a:r>
            <a:endParaRPr lang="fr-FR" sz="2000" b="1" i="0" noProof="0" dirty="0">
              <a:solidFill>
                <a:srgbClr val="FFFFFF"/>
              </a:solidFill>
            </a:endParaRPr>
          </a:p>
        </p:txBody>
      </p:sp>
      <p:sp>
        <p:nvSpPr>
          <p:cNvPr id="32" name="TextBox 31"/>
          <p:cNvSpPr txBox="1"/>
          <p:nvPr/>
        </p:nvSpPr>
        <p:spPr>
          <a:xfrm>
            <a:off x="1261872" y="3877055"/>
            <a:ext cx="10332720" cy="323165"/>
          </a:xfrm>
          <a:prstGeom prst="rect">
            <a:avLst/>
          </a:prstGeom>
          <a:noFill/>
        </p:spPr>
        <p:txBody>
          <a:bodyPr wrap="square">
            <a:spAutoFit/>
          </a:bodyPr>
          <a:lstStyle/>
          <a:p>
            <a:pPr algn="l"/>
            <a:r>
              <a:rPr lang="fr-FR" sz="1500" b="0" i="1" noProof="0" dirty="0">
                <a:solidFill>
                  <a:schemeClr val="bg1"/>
                </a:solidFill>
              </a:rPr>
              <a:t>Détection automatique des allures et boiteries — 94% de précision</a:t>
            </a:r>
          </a:p>
        </p:txBody>
      </p:sp>
      <p:sp>
        <p:nvSpPr>
          <p:cNvPr id="33" name="Rectangle 32"/>
          <p:cNvSpPr/>
          <p:nvPr/>
        </p:nvSpPr>
        <p:spPr>
          <a:xfrm>
            <a:off x="365760" y="4443984"/>
            <a:ext cx="658368" cy="1005840"/>
          </a:xfrm>
          <a:prstGeom prst="rect">
            <a:avLst/>
          </a:prstGeom>
          <a:solidFill>
            <a:srgbClr val="29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4" name="TextBox 33"/>
          <p:cNvSpPr txBox="1"/>
          <p:nvPr/>
        </p:nvSpPr>
        <p:spPr>
          <a:xfrm>
            <a:off x="365760" y="4700016"/>
            <a:ext cx="658368" cy="475488"/>
          </a:xfrm>
          <a:prstGeom prst="rect">
            <a:avLst/>
          </a:prstGeom>
          <a:noFill/>
        </p:spPr>
        <p:txBody>
          <a:bodyPr wrap="square">
            <a:spAutoFit/>
          </a:bodyPr>
          <a:lstStyle/>
          <a:p>
            <a:pPr algn="ctr"/>
            <a:r>
              <a:rPr lang="fr-FR" sz="1400" b="1" i="0" noProof="0" dirty="0">
                <a:solidFill>
                  <a:srgbClr val="FFFFFF"/>
                </a:solidFill>
              </a:rPr>
              <a:t>2021</a:t>
            </a:r>
          </a:p>
        </p:txBody>
      </p:sp>
      <p:sp>
        <p:nvSpPr>
          <p:cNvPr id="35" name="Rectangle 34"/>
          <p:cNvSpPr/>
          <p:nvPr/>
        </p:nvSpPr>
        <p:spPr>
          <a:xfrm>
            <a:off x="1097280" y="4443984"/>
            <a:ext cx="6444062" cy="10058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6" name="Rectangle 35"/>
          <p:cNvSpPr/>
          <p:nvPr/>
        </p:nvSpPr>
        <p:spPr>
          <a:xfrm>
            <a:off x="1097280" y="4443984"/>
            <a:ext cx="45720" cy="1005840"/>
          </a:xfrm>
          <a:prstGeom prst="rect">
            <a:avLst/>
          </a:prstGeom>
          <a:solidFill>
            <a:srgbClr val="29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7" name="TextBox 36"/>
          <p:cNvSpPr txBox="1"/>
          <p:nvPr/>
        </p:nvSpPr>
        <p:spPr>
          <a:xfrm>
            <a:off x="1261872" y="4517136"/>
            <a:ext cx="7315200" cy="400110"/>
          </a:xfrm>
          <a:prstGeom prst="rect">
            <a:avLst/>
          </a:prstGeom>
          <a:noFill/>
        </p:spPr>
        <p:txBody>
          <a:bodyPr wrap="square">
            <a:spAutoFit/>
          </a:bodyPr>
          <a:lstStyle/>
          <a:p>
            <a:pPr algn="l"/>
            <a:r>
              <a:rPr lang="fr-FR" sz="2000" b="1" i="0" noProof="0" dirty="0">
                <a:solidFill>
                  <a:srgbClr val="FFFFFF"/>
                </a:solidFill>
              </a:rPr>
              <a:t>RAG-</a:t>
            </a:r>
            <a:r>
              <a:rPr lang="fr-FR" sz="2000" b="1" i="0" noProof="0" dirty="0" err="1">
                <a:solidFill>
                  <a:srgbClr val="FFFFFF"/>
                </a:solidFill>
              </a:rPr>
              <a:t>based</a:t>
            </a:r>
            <a:r>
              <a:rPr lang="fr-FR" sz="2000" b="1" i="0" noProof="0" dirty="0">
                <a:solidFill>
                  <a:srgbClr val="FFFFFF"/>
                </a:solidFill>
              </a:rPr>
              <a:t> </a:t>
            </a:r>
            <a:r>
              <a:rPr lang="fr-FR" sz="2000" b="1" i="0" noProof="0" dirty="0" err="1">
                <a:solidFill>
                  <a:srgbClr val="FFFFFF"/>
                </a:solidFill>
              </a:rPr>
              <a:t>personalization</a:t>
            </a:r>
            <a:r>
              <a:rPr lang="fr-FR" sz="2000" b="1" i="0" noProof="0" dirty="0">
                <a:solidFill>
                  <a:srgbClr val="FFFFFF"/>
                </a:solidFill>
              </a:rPr>
              <a:t> in fitness coaching apps</a:t>
            </a:r>
          </a:p>
        </p:txBody>
      </p:sp>
      <p:sp>
        <p:nvSpPr>
          <p:cNvPr id="39" name="TextBox 38"/>
          <p:cNvSpPr txBox="1"/>
          <p:nvPr/>
        </p:nvSpPr>
        <p:spPr>
          <a:xfrm>
            <a:off x="1261872" y="4992624"/>
            <a:ext cx="10332720" cy="323165"/>
          </a:xfrm>
          <a:prstGeom prst="rect">
            <a:avLst/>
          </a:prstGeom>
          <a:noFill/>
        </p:spPr>
        <p:txBody>
          <a:bodyPr wrap="square">
            <a:spAutoFit/>
          </a:bodyPr>
          <a:lstStyle/>
          <a:p>
            <a:pPr algn="l"/>
            <a:r>
              <a:rPr lang="fr-FR" sz="1500" b="0" i="1" noProof="0" dirty="0" err="1">
                <a:solidFill>
                  <a:schemeClr val="bg1"/>
                </a:solidFill>
              </a:rPr>
              <a:t>Retrieval-Augmented</a:t>
            </a:r>
            <a:r>
              <a:rPr lang="fr-FR" sz="1500" i="1" dirty="0">
                <a:solidFill>
                  <a:schemeClr val="bg1"/>
                </a:solidFill>
              </a:rPr>
              <a:t>: </a:t>
            </a:r>
            <a:r>
              <a:rPr lang="fr-FR" sz="1500" b="0" i="1" noProof="0" dirty="0">
                <a:solidFill>
                  <a:schemeClr val="bg1"/>
                </a:solidFill>
              </a:rPr>
              <a:t>Génération pour plans d'entrainement adaptatifs</a:t>
            </a:r>
          </a:p>
        </p:txBody>
      </p:sp>
      <p:sp>
        <p:nvSpPr>
          <p:cNvPr id="40" name="Rectangle 39"/>
          <p:cNvSpPr/>
          <p:nvPr/>
        </p:nvSpPr>
        <p:spPr>
          <a:xfrm>
            <a:off x="365760" y="5559552"/>
            <a:ext cx="658368" cy="1005840"/>
          </a:xfrm>
          <a:prstGeom prst="rect">
            <a:avLst/>
          </a:prstGeom>
          <a:solidFill>
            <a:srgbClr val="29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1" name="TextBox 40"/>
          <p:cNvSpPr txBox="1"/>
          <p:nvPr/>
        </p:nvSpPr>
        <p:spPr>
          <a:xfrm>
            <a:off x="365760" y="5815584"/>
            <a:ext cx="658368" cy="475488"/>
          </a:xfrm>
          <a:prstGeom prst="rect">
            <a:avLst/>
          </a:prstGeom>
          <a:noFill/>
        </p:spPr>
        <p:txBody>
          <a:bodyPr wrap="square">
            <a:spAutoFit/>
          </a:bodyPr>
          <a:lstStyle/>
          <a:p>
            <a:pPr algn="ctr"/>
            <a:r>
              <a:rPr lang="fr-FR" sz="1400" b="1" i="0" noProof="0" dirty="0">
                <a:solidFill>
                  <a:srgbClr val="FFFFFF"/>
                </a:solidFill>
              </a:rPr>
              <a:t>2020</a:t>
            </a:r>
          </a:p>
        </p:txBody>
      </p:sp>
      <p:sp>
        <p:nvSpPr>
          <p:cNvPr id="42" name="Rectangle 41"/>
          <p:cNvSpPr/>
          <p:nvPr/>
        </p:nvSpPr>
        <p:spPr>
          <a:xfrm>
            <a:off x="1097280" y="5559552"/>
            <a:ext cx="6444062" cy="10058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3" name="Rectangle 42"/>
          <p:cNvSpPr/>
          <p:nvPr/>
        </p:nvSpPr>
        <p:spPr>
          <a:xfrm>
            <a:off x="1097280" y="5559552"/>
            <a:ext cx="45720" cy="1005840"/>
          </a:xfrm>
          <a:prstGeom prst="rect">
            <a:avLst/>
          </a:prstGeom>
          <a:solidFill>
            <a:srgbClr val="29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4" name="TextBox 43"/>
          <p:cNvSpPr txBox="1"/>
          <p:nvPr/>
        </p:nvSpPr>
        <p:spPr>
          <a:xfrm>
            <a:off x="1261872" y="5632704"/>
            <a:ext cx="7315200" cy="400110"/>
          </a:xfrm>
          <a:prstGeom prst="rect">
            <a:avLst/>
          </a:prstGeom>
          <a:noFill/>
        </p:spPr>
        <p:txBody>
          <a:bodyPr wrap="square">
            <a:spAutoFit/>
          </a:bodyPr>
          <a:lstStyle/>
          <a:p>
            <a:pPr algn="l"/>
            <a:r>
              <a:rPr lang="fr-FR" sz="2000" b="1" i="0" noProof="0" dirty="0" err="1">
                <a:solidFill>
                  <a:srgbClr val="FFFFFF"/>
                </a:solidFill>
              </a:rPr>
              <a:t>Biomechanics</a:t>
            </a:r>
            <a:r>
              <a:rPr lang="fr-FR" sz="2000" b="1" i="0" noProof="0" dirty="0">
                <a:solidFill>
                  <a:srgbClr val="FFFFFF"/>
                </a:solidFill>
              </a:rPr>
              <a:t> of horse-rider interaction</a:t>
            </a:r>
          </a:p>
        </p:txBody>
      </p:sp>
      <p:sp>
        <p:nvSpPr>
          <p:cNvPr id="46" name="TextBox 45"/>
          <p:cNvSpPr txBox="1"/>
          <p:nvPr/>
        </p:nvSpPr>
        <p:spPr>
          <a:xfrm>
            <a:off x="1261872" y="6108192"/>
            <a:ext cx="10332720" cy="323165"/>
          </a:xfrm>
          <a:prstGeom prst="rect">
            <a:avLst/>
          </a:prstGeom>
          <a:noFill/>
        </p:spPr>
        <p:txBody>
          <a:bodyPr wrap="square">
            <a:spAutoFit/>
          </a:bodyPr>
          <a:lstStyle/>
          <a:p>
            <a:pPr algn="l"/>
            <a:r>
              <a:rPr lang="fr-FR" sz="1500" b="0" i="1" noProof="0" dirty="0">
                <a:solidFill>
                  <a:schemeClr val="bg1"/>
                </a:solidFill>
              </a:rPr>
              <a:t>Base scientifique : coordination, équilibre, impulsion, timing</a:t>
            </a:r>
          </a:p>
        </p:txBody>
      </p:sp>
      <p:pic>
        <p:nvPicPr>
          <p:cNvPr id="2050" name="Picture 2" descr="Horse Logo PNGs for Free Download">
            <a:extLst>
              <a:ext uri="{FF2B5EF4-FFF2-40B4-BE49-F238E27FC236}">
                <a16:creationId xmlns:a16="http://schemas.microsoft.com/office/drawing/2014/main" id="{624D931B-C957-AF98-4E4F-B6D20CEF75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0103" y="1337633"/>
            <a:ext cx="3816573" cy="38165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60588E4F-5651-DA09-A8F3-7AE52B65FD57}"/>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5" name="TextBox 4"/>
          <p:cNvSpPr txBox="1"/>
          <p:nvPr/>
        </p:nvSpPr>
        <p:spPr>
          <a:xfrm>
            <a:off x="365759" y="203841"/>
            <a:ext cx="10282575" cy="707886"/>
          </a:xfrm>
          <a:prstGeom prst="rect">
            <a:avLst/>
          </a:prstGeom>
          <a:noFill/>
        </p:spPr>
        <p:txBody>
          <a:bodyPr wrap="square">
            <a:spAutoFit/>
          </a:bodyPr>
          <a:lstStyle/>
          <a:p>
            <a:pPr algn="l"/>
            <a:r>
              <a:rPr lang="fr-FR" sz="4000" b="1" i="0" noProof="0" dirty="0">
                <a:solidFill>
                  <a:srgbClr val="FFFFFF"/>
                </a:solidFill>
              </a:rPr>
              <a:t>Benchmark des outils existants sur le marché</a:t>
            </a:r>
          </a:p>
        </p:txBody>
      </p:sp>
      <p:graphicFrame>
        <p:nvGraphicFramePr>
          <p:cNvPr id="12" name="Table 11"/>
          <p:cNvGraphicFramePr>
            <a:graphicFrameLocks noGrp="1"/>
          </p:cNvGraphicFramePr>
          <p:nvPr>
            <p:extLst>
              <p:ext uri="{D42A27DB-BD31-4B8C-83A1-F6EECF244321}">
                <p14:modId xmlns:p14="http://schemas.microsoft.com/office/powerpoint/2010/main" val="3824173241"/>
              </p:ext>
            </p:extLst>
          </p:nvPr>
        </p:nvGraphicFramePr>
        <p:xfrm>
          <a:off x="324465" y="1115568"/>
          <a:ext cx="10556895" cy="5058530"/>
        </p:xfrm>
        <a:graphic>
          <a:graphicData uri="http://schemas.openxmlformats.org/drawingml/2006/table">
            <a:tbl>
              <a:tblPr firstRow="1" bandRow="1">
                <a:tableStyleId>{5C22544A-7EE6-4342-B048-85BDC9FD1C3A}</a:tableStyleId>
              </a:tblPr>
              <a:tblGrid>
                <a:gridCol w="2327295">
                  <a:extLst>
                    <a:ext uri="{9D8B030D-6E8A-4147-A177-3AD203B41FA5}">
                      <a16:colId xmlns:a16="http://schemas.microsoft.com/office/drawing/2014/main" val="20000"/>
                    </a:ext>
                  </a:extLst>
                </a:gridCol>
                <a:gridCol w="1713763">
                  <a:extLst>
                    <a:ext uri="{9D8B030D-6E8A-4147-A177-3AD203B41FA5}">
                      <a16:colId xmlns:a16="http://schemas.microsoft.com/office/drawing/2014/main" val="20001"/>
                    </a:ext>
                  </a:extLst>
                </a:gridCol>
                <a:gridCol w="1858296">
                  <a:extLst>
                    <a:ext uri="{9D8B030D-6E8A-4147-A177-3AD203B41FA5}">
                      <a16:colId xmlns:a16="http://schemas.microsoft.com/office/drawing/2014/main" val="20002"/>
                    </a:ext>
                  </a:extLst>
                </a:gridCol>
                <a:gridCol w="766916">
                  <a:extLst>
                    <a:ext uri="{9D8B030D-6E8A-4147-A177-3AD203B41FA5}">
                      <a16:colId xmlns:a16="http://schemas.microsoft.com/office/drawing/2014/main" val="20003"/>
                    </a:ext>
                  </a:extLst>
                </a:gridCol>
                <a:gridCol w="904568">
                  <a:extLst>
                    <a:ext uri="{9D8B030D-6E8A-4147-A177-3AD203B41FA5}">
                      <a16:colId xmlns:a16="http://schemas.microsoft.com/office/drawing/2014/main" val="20004"/>
                    </a:ext>
                  </a:extLst>
                </a:gridCol>
                <a:gridCol w="1340137">
                  <a:extLst>
                    <a:ext uri="{9D8B030D-6E8A-4147-A177-3AD203B41FA5}">
                      <a16:colId xmlns:a16="http://schemas.microsoft.com/office/drawing/2014/main" val="20005"/>
                    </a:ext>
                  </a:extLst>
                </a:gridCol>
                <a:gridCol w="1645920">
                  <a:extLst>
                    <a:ext uri="{9D8B030D-6E8A-4147-A177-3AD203B41FA5}">
                      <a16:colId xmlns:a16="http://schemas.microsoft.com/office/drawing/2014/main" val="20006"/>
                    </a:ext>
                  </a:extLst>
                </a:gridCol>
              </a:tblGrid>
              <a:tr h="724988">
                <a:tc>
                  <a:txBody>
                    <a:bodyPr/>
                    <a:lstStyle/>
                    <a:p>
                      <a:pPr algn="ctr"/>
                      <a:r>
                        <a:rPr lang="fr-FR" sz="2500" b="1" noProof="0" dirty="0">
                          <a:solidFill>
                            <a:srgbClr val="38D4FF"/>
                          </a:solidFill>
                        </a:rPr>
                        <a:t>Outil</a:t>
                      </a:r>
                    </a:p>
                  </a:txBody>
                  <a:tcPr marT="63500" marB="63500">
                    <a:solidFill>
                      <a:srgbClr val="051A42"/>
                    </a:solidFill>
                  </a:tcPr>
                </a:tc>
                <a:tc>
                  <a:txBody>
                    <a:bodyPr/>
                    <a:lstStyle/>
                    <a:p>
                      <a:pPr algn="ctr"/>
                      <a:r>
                        <a:rPr lang="fr-FR" sz="2500" b="1" noProof="0" dirty="0">
                          <a:solidFill>
                            <a:srgbClr val="38D4FF"/>
                          </a:solidFill>
                        </a:rPr>
                        <a:t>Type</a:t>
                      </a:r>
                    </a:p>
                  </a:txBody>
                  <a:tcPr marT="63500" marB="63500">
                    <a:solidFill>
                      <a:srgbClr val="051A42"/>
                    </a:solidFill>
                  </a:tcPr>
                </a:tc>
                <a:tc>
                  <a:txBody>
                    <a:bodyPr/>
                    <a:lstStyle/>
                    <a:p>
                      <a:pPr algn="ctr"/>
                      <a:r>
                        <a:rPr lang="fr-FR" sz="1800" b="1" noProof="0" dirty="0">
                          <a:solidFill>
                            <a:srgbClr val="38D4FF"/>
                          </a:solidFill>
                        </a:rPr>
                        <a:t>Personnalisation</a:t>
                      </a:r>
                    </a:p>
                  </a:txBody>
                  <a:tcPr marT="63500" marB="63500">
                    <a:solidFill>
                      <a:srgbClr val="051A42"/>
                    </a:solidFill>
                  </a:tcPr>
                </a:tc>
                <a:tc>
                  <a:txBody>
                    <a:bodyPr/>
                    <a:lstStyle/>
                    <a:p>
                      <a:pPr algn="ctr"/>
                      <a:r>
                        <a:rPr lang="fr-FR" sz="1500" b="1" noProof="0" dirty="0">
                          <a:solidFill>
                            <a:srgbClr val="38D4FF"/>
                          </a:solidFill>
                        </a:rPr>
                        <a:t>Vision d’IA</a:t>
                      </a:r>
                    </a:p>
                  </a:txBody>
                  <a:tcPr marT="63500" marB="63500">
                    <a:solidFill>
                      <a:srgbClr val="051A42"/>
                    </a:solidFill>
                  </a:tcPr>
                </a:tc>
                <a:tc>
                  <a:txBody>
                    <a:bodyPr/>
                    <a:lstStyle/>
                    <a:p>
                      <a:pPr algn="ctr"/>
                      <a:r>
                        <a:rPr lang="fr-FR" sz="1500" b="1" noProof="0" dirty="0">
                          <a:solidFill>
                            <a:srgbClr val="38D4FF"/>
                          </a:solidFill>
                        </a:rPr>
                        <a:t>Schémas</a:t>
                      </a:r>
                    </a:p>
                  </a:txBody>
                  <a:tcPr marT="63500" marB="63500">
                    <a:solidFill>
                      <a:srgbClr val="051A42"/>
                    </a:solidFill>
                  </a:tcPr>
                </a:tc>
                <a:tc>
                  <a:txBody>
                    <a:bodyPr/>
                    <a:lstStyle/>
                    <a:p>
                      <a:pPr algn="ctr"/>
                      <a:r>
                        <a:rPr lang="fr-FR" sz="2000" b="1" noProof="0" dirty="0">
                          <a:solidFill>
                            <a:srgbClr val="38D4FF"/>
                          </a:solidFill>
                        </a:rPr>
                        <a:t>Prix / mois</a:t>
                      </a:r>
                    </a:p>
                  </a:txBody>
                  <a:tcPr marT="63500" marB="63500">
                    <a:solidFill>
                      <a:srgbClr val="051A42"/>
                    </a:solidFill>
                  </a:tcPr>
                </a:tc>
                <a:tc>
                  <a:txBody>
                    <a:bodyPr/>
                    <a:lstStyle/>
                    <a:p>
                      <a:pPr algn="ctr"/>
                      <a:r>
                        <a:rPr lang="fr-FR" sz="2000" b="1" noProof="0" dirty="0">
                          <a:solidFill>
                            <a:srgbClr val="38D4FF"/>
                          </a:solidFill>
                        </a:rPr>
                        <a:t>Maturité</a:t>
                      </a:r>
                    </a:p>
                  </a:txBody>
                  <a:tcPr marT="63500" marB="63500">
                    <a:solidFill>
                      <a:srgbClr val="051A42"/>
                    </a:solidFill>
                  </a:tcPr>
                </a:tc>
                <a:extLst>
                  <a:ext uri="{0D108BD9-81ED-4DB2-BD59-A6C34878D82A}">
                    <a16:rowId xmlns:a16="http://schemas.microsoft.com/office/drawing/2014/main" val="10000"/>
                  </a:ext>
                </a:extLst>
              </a:tr>
              <a:tr h="724988">
                <a:tc>
                  <a:txBody>
                    <a:bodyPr/>
                    <a:lstStyle/>
                    <a:p>
                      <a:pPr algn="l"/>
                      <a:r>
                        <a:rPr lang="fr-FR" sz="2000" noProof="0" dirty="0" err="1">
                          <a:solidFill>
                            <a:srgbClr val="E8EFF8"/>
                          </a:solidFill>
                        </a:rPr>
                        <a:t>Equestic</a:t>
                      </a:r>
                      <a:r>
                        <a:rPr lang="fr-FR" sz="2000" noProof="0" dirty="0">
                          <a:solidFill>
                            <a:srgbClr val="E8EFF8"/>
                          </a:solidFill>
                        </a:rPr>
                        <a:t> </a:t>
                      </a:r>
                      <a:r>
                        <a:rPr lang="fr-FR" sz="2000" noProof="0" dirty="0" err="1">
                          <a:solidFill>
                            <a:srgbClr val="E8EFF8"/>
                          </a:solidFill>
                        </a:rPr>
                        <a:t>SaddleClip</a:t>
                      </a:r>
                      <a:endParaRPr lang="fr-FR" sz="2000" noProof="0" dirty="0">
                        <a:solidFill>
                          <a:srgbClr val="E8EFF8"/>
                        </a:solidFill>
                      </a:endParaRPr>
                    </a:p>
                  </a:txBody>
                  <a:tcPr marT="50800" marB="50800">
                    <a:solidFill>
                      <a:srgbClr val="061430"/>
                    </a:solidFill>
                  </a:tcPr>
                </a:tc>
                <a:tc>
                  <a:txBody>
                    <a:bodyPr/>
                    <a:lstStyle/>
                    <a:p>
                      <a:pPr algn="ctr"/>
                      <a:r>
                        <a:rPr lang="fr-FR" sz="2000" noProof="0" dirty="0">
                          <a:solidFill>
                            <a:srgbClr val="E8EFF8"/>
                          </a:solidFill>
                        </a:rPr>
                        <a:t>Capteur selle</a:t>
                      </a:r>
                    </a:p>
                  </a:txBody>
                  <a:tcPr marT="50800" marB="50800">
                    <a:solidFill>
                      <a:srgbClr val="061430"/>
                    </a:solidFill>
                  </a:tcPr>
                </a:tc>
                <a:tc>
                  <a:txBody>
                    <a:bodyPr/>
                    <a:lstStyle/>
                    <a:p>
                      <a:pPr algn="ctr"/>
                      <a:r>
                        <a:rPr lang="fr-FR" sz="2000" noProof="0" dirty="0">
                          <a:solidFill>
                            <a:srgbClr val="E8EFF8"/>
                          </a:solidFill>
                        </a:rPr>
                        <a:t>Partielle</a:t>
                      </a:r>
                    </a:p>
                  </a:txBody>
                  <a:tcPr marT="50800" marB="50800">
                    <a:solidFill>
                      <a:srgbClr val="061430"/>
                    </a:solidFill>
                  </a:tcPr>
                </a:tc>
                <a:tc>
                  <a:txBody>
                    <a:bodyPr/>
                    <a:lstStyle/>
                    <a:p>
                      <a:pPr algn="ctr"/>
                      <a:r>
                        <a:rPr lang="fr-FR" sz="2000" noProof="0" dirty="0">
                          <a:solidFill>
                            <a:srgbClr val="E8EFF8"/>
                          </a:solidFill>
                        </a:rPr>
                        <a:t>Non</a:t>
                      </a:r>
                    </a:p>
                  </a:txBody>
                  <a:tcPr marT="50800" marB="50800">
                    <a:solidFill>
                      <a:srgbClr val="061430"/>
                    </a:solidFill>
                  </a:tcPr>
                </a:tc>
                <a:tc>
                  <a:txBody>
                    <a:bodyPr/>
                    <a:lstStyle/>
                    <a:p>
                      <a:pPr algn="ctr"/>
                      <a:r>
                        <a:rPr lang="fr-FR" sz="2000" noProof="0" dirty="0">
                          <a:solidFill>
                            <a:srgbClr val="E8EFF8"/>
                          </a:solidFill>
                        </a:rPr>
                        <a:t>Non</a:t>
                      </a:r>
                    </a:p>
                  </a:txBody>
                  <a:tcPr marT="50800" marB="50800">
                    <a:solidFill>
                      <a:srgbClr val="061430"/>
                    </a:solidFill>
                  </a:tcPr>
                </a:tc>
                <a:tc>
                  <a:txBody>
                    <a:bodyPr/>
                    <a:lstStyle/>
                    <a:p>
                      <a:pPr algn="ctr"/>
                      <a:r>
                        <a:rPr lang="fr-FR" sz="2000" noProof="0" dirty="0">
                          <a:solidFill>
                            <a:srgbClr val="E8EFF8"/>
                          </a:solidFill>
                        </a:rPr>
                        <a:t>~15 EUR</a:t>
                      </a:r>
                    </a:p>
                  </a:txBody>
                  <a:tcPr marT="50800" marB="50800">
                    <a:solidFill>
                      <a:srgbClr val="061430"/>
                    </a:solidFill>
                  </a:tcPr>
                </a:tc>
                <a:tc>
                  <a:txBody>
                    <a:bodyPr/>
                    <a:lstStyle/>
                    <a:p>
                      <a:pPr algn="ctr"/>
                      <a:r>
                        <a:rPr lang="fr-FR" sz="2000" noProof="0" dirty="0">
                          <a:solidFill>
                            <a:srgbClr val="E8EFF8"/>
                          </a:solidFill>
                        </a:rPr>
                        <a:t>Etabli</a:t>
                      </a:r>
                    </a:p>
                  </a:txBody>
                  <a:tcPr marT="50800" marB="50800">
                    <a:solidFill>
                      <a:srgbClr val="061430"/>
                    </a:solidFill>
                  </a:tcPr>
                </a:tc>
                <a:extLst>
                  <a:ext uri="{0D108BD9-81ED-4DB2-BD59-A6C34878D82A}">
                    <a16:rowId xmlns:a16="http://schemas.microsoft.com/office/drawing/2014/main" val="10001"/>
                  </a:ext>
                </a:extLst>
              </a:tr>
              <a:tr h="708598">
                <a:tc>
                  <a:txBody>
                    <a:bodyPr/>
                    <a:lstStyle/>
                    <a:p>
                      <a:pPr algn="l"/>
                      <a:r>
                        <a:rPr lang="fr-FR" sz="2000" noProof="0" dirty="0" err="1">
                          <a:solidFill>
                            <a:srgbClr val="E8EFF8"/>
                          </a:solidFill>
                        </a:rPr>
                        <a:t>Horsealytics</a:t>
                      </a:r>
                      <a:endParaRPr lang="fr-FR" sz="2000" noProof="0" dirty="0">
                        <a:solidFill>
                          <a:srgbClr val="E8EFF8"/>
                        </a:solidFill>
                      </a:endParaRPr>
                    </a:p>
                  </a:txBody>
                  <a:tcPr marT="50800" marB="50800">
                    <a:solidFill>
                      <a:srgbClr val="041028"/>
                    </a:solidFill>
                  </a:tcPr>
                </a:tc>
                <a:tc>
                  <a:txBody>
                    <a:bodyPr/>
                    <a:lstStyle/>
                    <a:p>
                      <a:pPr algn="ctr"/>
                      <a:r>
                        <a:rPr lang="fr-FR" sz="2000" noProof="0" dirty="0">
                          <a:solidFill>
                            <a:srgbClr val="E8EFF8"/>
                          </a:solidFill>
                        </a:rPr>
                        <a:t>App vidéo</a:t>
                      </a:r>
                    </a:p>
                  </a:txBody>
                  <a:tcPr marT="50800" marB="50800">
                    <a:solidFill>
                      <a:srgbClr val="041028"/>
                    </a:solidFill>
                  </a:tcPr>
                </a:tc>
                <a:tc>
                  <a:txBody>
                    <a:bodyPr/>
                    <a:lstStyle/>
                    <a:p>
                      <a:pPr algn="ctr"/>
                      <a:r>
                        <a:rPr lang="fr-FR" sz="2000" noProof="0" dirty="0">
                          <a:solidFill>
                            <a:srgbClr val="E8EFF8"/>
                          </a:solidFill>
                        </a:rPr>
                        <a:t>Partielle</a:t>
                      </a:r>
                    </a:p>
                  </a:txBody>
                  <a:tcPr marT="50800" marB="50800">
                    <a:solidFill>
                      <a:srgbClr val="041028"/>
                    </a:solidFill>
                  </a:tcPr>
                </a:tc>
                <a:tc>
                  <a:txBody>
                    <a:bodyPr/>
                    <a:lstStyle/>
                    <a:p>
                      <a:pPr algn="ctr"/>
                      <a:r>
                        <a:rPr lang="fr-FR" sz="2000" noProof="0" dirty="0">
                          <a:solidFill>
                            <a:srgbClr val="E8EFF8"/>
                          </a:solidFill>
                        </a:rPr>
                        <a:t>Oui</a:t>
                      </a:r>
                    </a:p>
                  </a:txBody>
                  <a:tcPr marT="50800" marB="50800">
                    <a:solidFill>
                      <a:srgbClr val="041028"/>
                    </a:solidFill>
                  </a:tcPr>
                </a:tc>
                <a:tc>
                  <a:txBody>
                    <a:bodyPr/>
                    <a:lstStyle/>
                    <a:p>
                      <a:pPr algn="ctr"/>
                      <a:r>
                        <a:rPr lang="fr-FR" sz="2000" noProof="0" dirty="0">
                          <a:solidFill>
                            <a:srgbClr val="E8EFF8"/>
                          </a:solidFill>
                        </a:rPr>
                        <a:t>Non</a:t>
                      </a:r>
                    </a:p>
                  </a:txBody>
                  <a:tcPr marT="50800" marB="50800">
                    <a:solidFill>
                      <a:srgbClr val="041028"/>
                    </a:solidFill>
                  </a:tcPr>
                </a:tc>
                <a:tc>
                  <a:txBody>
                    <a:bodyPr/>
                    <a:lstStyle/>
                    <a:p>
                      <a:pPr algn="ctr"/>
                      <a:r>
                        <a:rPr lang="fr-FR" sz="2000" noProof="0" dirty="0">
                          <a:solidFill>
                            <a:srgbClr val="E8EFF8"/>
                          </a:solidFill>
                        </a:rPr>
                        <a:t>~25 EUR</a:t>
                      </a:r>
                    </a:p>
                  </a:txBody>
                  <a:tcPr marT="50800" marB="50800">
                    <a:solidFill>
                      <a:srgbClr val="041028"/>
                    </a:solidFill>
                  </a:tcPr>
                </a:tc>
                <a:tc>
                  <a:txBody>
                    <a:bodyPr/>
                    <a:lstStyle/>
                    <a:p>
                      <a:pPr algn="ctr"/>
                      <a:r>
                        <a:rPr lang="fr-FR" sz="2000" noProof="0" dirty="0" err="1">
                          <a:solidFill>
                            <a:srgbClr val="E8EFF8"/>
                          </a:solidFill>
                        </a:rPr>
                        <a:t>Early</a:t>
                      </a:r>
                      <a:r>
                        <a:rPr lang="fr-FR" sz="2000" noProof="0" dirty="0">
                          <a:solidFill>
                            <a:srgbClr val="E8EFF8"/>
                          </a:solidFill>
                        </a:rPr>
                        <a:t> stage</a:t>
                      </a:r>
                    </a:p>
                  </a:txBody>
                  <a:tcPr marT="50800" marB="50800">
                    <a:solidFill>
                      <a:srgbClr val="041028"/>
                    </a:solidFill>
                  </a:tcPr>
                </a:tc>
                <a:extLst>
                  <a:ext uri="{0D108BD9-81ED-4DB2-BD59-A6C34878D82A}">
                    <a16:rowId xmlns:a16="http://schemas.microsoft.com/office/drawing/2014/main" val="10002"/>
                  </a:ext>
                </a:extLst>
              </a:tr>
              <a:tr h="724988">
                <a:tc>
                  <a:txBody>
                    <a:bodyPr/>
                    <a:lstStyle/>
                    <a:p>
                      <a:pPr algn="l"/>
                      <a:r>
                        <a:rPr lang="fr-FR" sz="2000" noProof="0" dirty="0" err="1">
                          <a:solidFill>
                            <a:srgbClr val="E8EFF8"/>
                          </a:solidFill>
                        </a:rPr>
                        <a:t>TrainingPeaks</a:t>
                      </a:r>
                      <a:r>
                        <a:rPr lang="fr-FR" sz="2000" noProof="0" dirty="0">
                          <a:solidFill>
                            <a:srgbClr val="E8EFF8"/>
                          </a:solidFill>
                        </a:rPr>
                        <a:t> AI</a:t>
                      </a:r>
                    </a:p>
                  </a:txBody>
                  <a:tcPr marT="50800" marB="50800">
                    <a:solidFill>
                      <a:srgbClr val="061430"/>
                    </a:solidFill>
                  </a:tcPr>
                </a:tc>
                <a:tc>
                  <a:txBody>
                    <a:bodyPr/>
                    <a:lstStyle/>
                    <a:p>
                      <a:pPr algn="ctr"/>
                      <a:r>
                        <a:rPr lang="fr-FR" sz="2000" noProof="0" dirty="0">
                          <a:solidFill>
                            <a:srgbClr val="E8EFF8"/>
                          </a:solidFill>
                        </a:rPr>
                        <a:t>Coach IA</a:t>
                      </a:r>
                    </a:p>
                  </a:txBody>
                  <a:tcPr marT="50800" marB="50800">
                    <a:solidFill>
                      <a:srgbClr val="061430"/>
                    </a:solidFill>
                  </a:tcPr>
                </a:tc>
                <a:tc>
                  <a:txBody>
                    <a:bodyPr/>
                    <a:lstStyle/>
                    <a:p>
                      <a:pPr algn="ctr"/>
                      <a:r>
                        <a:rPr lang="fr-FR" sz="2000" noProof="0" dirty="0">
                          <a:solidFill>
                            <a:srgbClr val="E8EFF8"/>
                          </a:solidFill>
                        </a:rPr>
                        <a:t>Complete</a:t>
                      </a:r>
                    </a:p>
                  </a:txBody>
                  <a:tcPr marT="50800" marB="50800">
                    <a:solidFill>
                      <a:srgbClr val="061430"/>
                    </a:solidFill>
                  </a:tcPr>
                </a:tc>
                <a:tc>
                  <a:txBody>
                    <a:bodyPr/>
                    <a:lstStyle/>
                    <a:p>
                      <a:pPr algn="ctr"/>
                      <a:r>
                        <a:rPr lang="fr-FR" sz="2000" noProof="0" dirty="0">
                          <a:solidFill>
                            <a:srgbClr val="E8EFF8"/>
                          </a:solidFill>
                        </a:rPr>
                        <a:t>Non</a:t>
                      </a:r>
                    </a:p>
                  </a:txBody>
                  <a:tcPr marT="50800" marB="50800">
                    <a:solidFill>
                      <a:srgbClr val="061430"/>
                    </a:solidFill>
                  </a:tcPr>
                </a:tc>
                <a:tc>
                  <a:txBody>
                    <a:bodyPr/>
                    <a:lstStyle/>
                    <a:p>
                      <a:pPr algn="ctr"/>
                      <a:r>
                        <a:rPr lang="fr-FR" sz="2000" noProof="0" dirty="0">
                          <a:solidFill>
                            <a:srgbClr val="E8EFF8"/>
                          </a:solidFill>
                        </a:rPr>
                        <a:t>Non</a:t>
                      </a:r>
                    </a:p>
                  </a:txBody>
                  <a:tcPr marT="50800" marB="50800">
                    <a:solidFill>
                      <a:srgbClr val="061430"/>
                    </a:solidFill>
                  </a:tcPr>
                </a:tc>
                <a:tc>
                  <a:txBody>
                    <a:bodyPr/>
                    <a:lstStyle/>
                    <a:p>
                      <a:pPr algn="ctr"/>
                      <a:r>
                        <a:rPr lang="fr-FR" sz="2000" noProof="0" dirty="0">
                          <a:solidFill>
                            <a:srgbClr val="E8EFF8"/>
                          </a:solidFill>
                        </a:rPr>
                        <a:t>~19 EUR</a:t>
                      </a:r>
                    </a:p>
                  </a:txBody>
                  <a:tcPr marT="50800" marB="50800">
                    <a:solidFill>
                      <a:srgbClr val="061430"/>
                    </a:solidFill>
                  </a:tcPr>
                </a:tc>
                <a:tc>
                  <a:txBody>
                    <a:bodyPr/>
                    <a:lstStyle/>
                    <a:p>
                      <a:pPr algn="ctr"/>
                      <a:r>
                        <a:rPr lang="fr-FR" sz="2000" noProof="0" dirty="0">
                          <a:solidFill>
                            <a:srgbClr val="E8EFF8"/>
                          </a:solidFill>
                        </a:rPr>
                        <a:t>Leader</a:t>
                      </a:r>
                    </a:p>
                  </a:txBody>
                  <a:tcPr marT="50800" marB="50800">
                    <a:solidFill>
                      <a:srgbClr val="061430"/>
                    </a:solidFill>
                  </a:tcPr>
                </a:tc>
                <a:extLst>
                  <a:ext uri="{0D108BD9-81ED-4DB2-BD59-A6C34878D82A}">
                    <a16:rowId xmlns:a16="http://schemas.microsoft.com/office/drawing/2014/main" val="10003"/>
                  </a:ext>
                </a:extLst>
              </a:tr>
              <a:tr h="724988">
                <a:tc>
                  <a:txBody>
                    <a:bodyPr/>
                    <a:lstStyle/>
                    <a:p>
                      <a:pPr algn="l"/>
                      <a:r>
                        <a:rPr lang="fr-FR" sz="2000" noProof="0" dirty="0" err="1">
                          <a:solidFill>
                            <a:srgbClr val="E8EFF8"/>
                          </a:solidFill>
                        </a:rPr>
                        <a:t>Dartfish</a:t>
                      </a:r>
                      <a:endParaRPr lang="fr-FR" sz="2000" noProof="0" dirty="0">
                        <a:solidFill>
                          <a:srgbClr val="E8EFF8"/>
                        </a:solidFill>
                      </a:endParaRPr>
                    </a:p>
                  </a:txBody>
                  <a:tcPr marT="50800" marB="50800">
                    <a:solidFill>
                      <a:srgbClr val="041028"/>
                    </a:solidFill>
                  </a:tcPr>
                </a:tc>
                <a:tc>
                  <a:txBody>
                    <a:bodyPr/>
                    <a:lstStyle/>
                    <a:p>
                      <a:pPr algn="ctr"/>
                      <a:r>
                        <a:rPr lang="fr-FR" sz="2000" noProof="0" dirty="0">
                          <a:solidFill>
                            <a:srgbClr val="E8EFF8"/>
                          </a:solidFill>
                        </a:rPr>
                        <a:t>Biomécanique</a:t>
                      </a:r>
                    </a:p>
                  </a:txBody>
                  <a:tcPr marT="50800" marB="50800">
                    <a:solidFill>
                      <a:srgbClr val="041028"/>
                    </a:solidFill>
                  </a:tcPr>
                </a:tc>
                <a:tc>
                  <a:txBody>
                    <a:bodyPr/>
                    <a:lstStyle/>
                    <a:p>
                      <a:pPr algn="ctr"/>
                      <a:r>
                        <a:rPr lang="fr-FR" sz="2000" noProof="0" dirty="0">
                          <a:solidFill>
                            <a:srgbClr val="E8EFF8"/>
                          </a:solidFill>
                        </a:rPr>
                        <a:t>Nulle</a:t>
                      </a:r>
                    </a:p>
                  </a:txBody>
                  <a:tcPr marT="50800" marB="50800">
                    <a:solidFill>
                      <a:srgbClr val="041028"/>
                    </a:solidFill>
                  </a:tcPr>
                </a:tc>
                <a:tc>
                  <a:txBody>
                    <a:bodyPr/>
                    <a:lstStyle/>
                    <a:p>
                      <a:pPr algn="ctr"/>
                      <a:r>
                        <a:rPr lang="fr-FR" sz="2000" noProof="0" dirty="0">
                          <a:solidFill>
                            <a:srgbClr val="E8EFF8"/>
                          </a:solidFill>
                        </a:rPr>
                        <a:t>Oui</a:t>
                      </a:r>
                    </a:p>
                  </a:txBody>
                  <a:tcPr marT="50800" marB="50800">
                    <a:solidFill>
                      <a:srgbClr val="041028"/>
                    </a:solidFill>
                  </a:tcPr>
                </a:tc>
                <a:tc>
                  <a:txBody>
                    <a:bodyPr/>
                    <a:lstStyle/>
                    <a:p>
                      <a:pPr algn="ctr"/>
                      <a:r>
                        <a:rPr lang="fr-FR" sz="2000" noProof="0" dirty="0">
                          <a:solidFill>
                            <a:srgbClr val="E8EFF8"/>
                          </a:solidFill>
                        </a:rPr>
                        <a:t>Oui</a:t>
                      </a:r>
                    </a:p>
                  </a:txBody>
                  <a:tcPr marT="50800" marB="50800">
                    <a:solidFill>
                      <a:srgbClr val="041028"/>
                    </a:solidFill>
                  </a:tcPr>
                </a:tc>
                <a:tc>
                  <a:txBody>
                    <a:bodyPr/>
                    <a:lstStyle/>
                    <a:p>
                      <a:pPr algn="ctr"/>
                      <a:r>
                        <a:rPr lang="fr-FR" sz="2000" noProof="0" dirty="0">
                          <a:solidFill>
                            <a:srgbClr val="E8EFF8"/>
                          </a:solidFill>
                        </a:rPr>
                        <a:t>~200 EUR</a:t>
                      </a:r>
                    </a:p>
                  </a:txBody>
                  <a:tcPr marT="50800" marB="50800">
                    <a:solidFill>
                      <a:srgbClr val="041028"/>
                    </a:solidFill>
                  </a:tcPr>
                </a:tc>
                <a:tc>
                  <a:txBody>
                    <a:bodyPr/>
                    <a:lstStyle/>
                    <a:p>
                      <a:pPr algn="ctr"/>
                      <a:r>
                        <a:rPr lang="fr-FR" sz="2000" noProof="0" dirty="0">
                          <a:solidFill>
                            <a:srgbClr val="E8EFF8"/>
                          </a:solidFill>
                        </a:rPr>
                        <a:t>Pro / clubs</a:t>
                      </a:r>
                    </a:p>
                  </a:txBody>
                  <a:tcPr marT="50800" marB="50800">
                    <a:solidFill>
                      <a:srgbClr val="041028"/>
                    </a:solidFill>
                  </a:tcPr>
                </a:tc>
                <a:extLst>
                  <a:ext uri="{0D108BD9-81ED-4DB2-BD59-A6C34878D82A}">
                    <a16:rowId xmlns:a16="http://schemas.microsoft.com/office/drawing/2014/main" val="10004"/>
                  </a:ext>
                </a:extLst>
              </a:tr>
              <a:tr h="724988">
                <a:tc>
                  <a:txBody>
                    <a:bodyPr/>
                    <a:lstStyle/>
                    <a:p>
                      <a:pPr algn="l"/>
                      <a:r>
                        <a:rPr lang="fr-FR" sz="2000" noProof="0" dirty="0" err="1">
                          <a:solidFill>
                            <a:srgbClr val="E8EFF8"/>
                          </a:solidFill>
                        </a:rPr>
                        <a:t>CoachAI</a:t>
                      </a:r>
                      <a:r>
                        <a:rPr lang="fr-FR" sz="2000" noProof="0" dirty="0">
                          <a:solidFill>
                            <a:srgbClr val="E8EFF8"/>
                          </a:solidFill>
                        </a:rPr>
                        <a:t> Equitation</a:t>
                      </a:r>
                    </a:p>
                  </a:txBody>
                  <a:tcPr marT="50800" marB="50800">
                    <a:solidFill>
                      <a:srgbClr val="061430"/>
                    </a:solidFill>
                  </a:tcPr>
                </a:tc>
                <a:tc>
                  <a:txBody>
                    <a:bodyPr/>
                    <a:lstStyle/>
                    <a:p>
                      <a:pPr algn="ctr"/>
                      <a:r>
                        <a:rPr lang="fr-FR" sz="2000" noProof="0" dirty="0">
                          <a:solidFill>
                            <a:srgbClr val="E8EFF8"/>
                          </a:solidFill>
                        </a:rPr>
                        <a:t>LLM chatbot</a:t>
                      </a:r>
                    </a:p>
                  </a:txBody>
                  <a:tcPr marT="50800" marB="50800">
                    <a:solidFill>
                      <a:srgbClr val="061430"/>
                    </a:solidFill>
                  </a:tcPr>
                </a:tc>
                <a:tc>
                  <a:txBody>
                    <a:bodyPr/>
                    <a:lstStyle/>
                    <a:p>
                      <a:pPr algn="ctr"/>
                      <a:r>
                        <a:rPr lang="fr-FR" sz="2000" noProof="0" dirty="0">
                          <a:solidFill>
                            <a:srgbClr val="E8EFF8"/>
                          </a:solidFill>
                        </a:rPr>
                        <a:t>Partielle</a:t>
                      </a:r>
                    </a:p>
                  </a:txBody>
                  <a:tcPr marT="50800" marB="50800">
                    <a:solidFill>
                      <a:srgbClr val="061430"/>
                    </a:solidFill>
                  </a:tcPr>
                </a:tc>
                <a:tc>
                  <a:txBody>
                    <a:bodyPr/>
                    <a:lstStyle/>
                    <a:p>
                      <a:pPr algn="ctr"/>
                      <a:r>
                        <a:rPr lang="fr-FR" sz="2000" noProof="0" dirty="0">
                          <a:solidFill>
                            <a:srgbClr val="E8EFF8"/>
                          </a:solidFill>
                        </a:rPr>
                        <a:t>Non</a:t>
                      </a:r>
                    </a:p>
                  </a:txBody>
                  <a:tcPr marT="50800" marB="50800">
                    <a:solidFill>
                      <a:srgbClr val="061430"/>
                    </a:solidFill>
                  </a:tcPr>
                </a:tc>
                <a:tc>
                  <a:txBody>
                    <a:bodyPr/>
                    <a:lstStyle/>
                    <a:p>
                      <a:pPr algn="ctr"/>
                      <a:r>
                        <a:rPr lang="fr-FR" sz="2000" noProof="0" dirty="0">
                          <a:solidFill>
                            <a:srgbClr val="E8EFF8"/>
                          </a:solidFill>
                        </a:rPr>
                        <a:t>Non</a:t>
                      </a:r>
                    </a:p>
                  </a:txBody>
                  <a:tcPr marT="50800" marB="50800">
                    <a:solidFill>
                      <a:srgbClr val="061430"/>
                    </a:solidFill>
                  </a:tcPr>
                </a:tc>
                <a:tc>
                  <a:txBody>
                    <a:bodyPr/>
                    <a:lstStyle/>
                    <a:p>
                      <a:pPr algn="ctr"/>
                      <a:r>
                        <a:rPr lang="fr-FR" sz="2000" noProof="0" dirty="0">
                          <a:solidFill>
                            <a:srgbClr val="E8EFF8"/>
                          </a:solidFill>
                        </a:rPr>
                        <a:t>~10 EUR</a:t>
                      </a:r>
                    </a:p>
                  </a:txBody>
                  <a:tcPr marT="50800" marB="50800">
                    <a:solidFill>
                      <a:srgbClr val="061430"/>
                    </a:solidFill>
                  </a:tcPr>
                </a:tc>
                <a:tc>
                  <a:txBody>
                    <a:bodyPr/>
                    <a:lstStyle/>
                    <a:p>
                      <a:pPr algn="ctr"/>
                      <a:r>
                        <a:rPr lang="fr-FR" sz="2000" noProof="0" dirty="0">
                          <a:solidFill>
                            <a:srgbClr val="E8EFF8"/>
                          </a:solidFill>
                        </a:rPr>
                        <a:t>Beta</a:t>
                      </a:r>
                    </a:p>
                  </a:txBody>
                  <a:tcPr marT="50800" marB="50800">
                    <a:solidFill>
                      <a:srgbClr val="061430"/>
                    </a:solidFill>
                  </a:tcPr>
                </a:tc>
                <a:extLst>
                  <a:ext uri="{0D108BD9-81ED-4DB2-BD59-A6C34878D82A}">
                    <a16:rowId xmlns:a16="http://schemas.microsoft.com/office/drawing/2014/main" val="10005"/>
                  </a:ext>
                </a:extLst>
              </a:tr>
              <a:tr h="724992">
                <a:tc>
                  <a:txBody>
                    <a:bodyPr/>
                    <a:lstStyle/>
                    <a:p>
                      <a:pPr algn="l"/>
                      <a:r>
                        <a:rPr lang="fr-FR" sz="2000" noProof="0" dirty="0">
                          <a:solidFill>
                            <a:srgbClr val="E8EFF8"/>
                          </a:solidFill>
                        </a:rPr>
                        <a:t>Projet cible</a:t>
                      </a:r>
                    </a:p>
                  </a:txBody>
                  <a:tcPr marT="50800" marB="50800">
                    <a:solidFill>
                      <a:srgbClr val="041028"/>
                    </a:solidFill>
                  </a:tcPr>
                </a:tc>
                <a:tc>
                  <a:txBody>
                    <a:bodyPr/>
                    <a:lstStyle/>
                    <a:p>
                      <a:pPr algn="ctr"/>
                      <a:r>
                        <a:rPr lang="fr-FR" sz="2000" noProof="0" dirty="0">
                          <a:solidFill>
                            <a:srgbClr val="E8EFF8"/>
                          </a:solidFill>
                        </a:rPr>
                        <a:t>LLM + RAG</a:t>
                      </a:r>
                    </a:p>
                  </a:txBody>
                  <a:tcPr marT="50800" marB="50800">
                    <a:solidFill>
                      <a:srgbClr val="041028"/>
                    </a:solidFill>
                  </a:tcPr>
                </a:tc>
                <a:tc>
                  <a:txBody>
                    <a:bodyPr/>
                    <a:lstStyle/>
                    <a:p>
                      <a:pPr algn="ctr"/>
                      <a:r>
                        <a:rPr lang="fr-FR" sz="2000" noProof="0" dirty="0">
                          <a:solidFill>
                            <a:srgbClr val="E8EFF8"/>
                          </a:solidFill>
                        </a:rPr>
                        <a:t>Complete</a:t>
                      </a:r>
                    </a:p>
                  </a:txBody>
                  <a:tcPr marT="50800" marB="50800">
                    <a:solidFill>
                      <a:srgbClr val="041028"/>
                    </a:solidFill>
                  </a:tcPr>
                </a:tc>
                <a:tc>
                  <a:txBody>
                    <a:bodyPr/>
                    <a:lstStyle/>
                    <a:p>
                      <a:pPr algn="ctr"/>
                      <a:r>
                        <a:rPr lang="fr-FR" sz="2000" noProof="0" dirty="0">
                          <a:solidFill>
                            <a:srgbClr val="E8EFF8"/>
                          </a:solidFill>
                        </a:rPr>
                        <a:t>V2</a:t>
                      </a:r>
                    </a:p>
                  </a:txBody>
                  <a:tcPr marT="50800" marB="50800">
                    <a:solidFill>
                      <a:srgbClr val="041028"/>
                    </a:solidFill>
                  </a:tcPr>
                </a:tc>
                <a:tc>
                  <a:txBody>
                    <a:bodyPr/>
                    <a:lstStyle/>
                    <a:p>
                      <a:pPr algn="ctr"/>
                      <a:r>
                        <a:rPr lang="fr-FR" sz="2000" noProof="0" dirty="0">
                          <a:solidFill>
                            <a:srgbClr val="E8EFF8"/>
                          </a:solidFill>
                        </a:rPr>
                        <a:t>Auto-</a:t>
                      </a:r>
                      <a:r>
                        <a:rPr lang="fr-FR" sz="2000" noProof="0" dirty="0" err="1">
                          <a:solidFill>
                            <a:srgbClr val="E8EFF8"/>
                          </a:solidFill>
                        </a:rPr>
                        <a:t>gen</a:t>
                      </a:r>
                      <a:r>
                        <a:rPr lang="fr-FR" sz="2000" noProof="0" dirty="0">
                          <a:solidFill>
                            <a:srgbClr val="E8EFF8"/>
                          </a:solidFill>
                        </a:rPr>
                        <a:t>.</a:t>
                      </a:r>
                    </a:p>
                  </a:txBody>
                  <a:tcPr marT="50800" marB="50800">
                    <a:solidFill>
                      <a:srgbClr val="041028"/>
                    </a:solidFill>
                  </a:tcPr>
                </a:tc>
                <a:tc>
                  <a:txBody>
                    <a:bodyPr/>
                    <a:lstStyle/>
                    <a:p>
                      <a:pPr algn="ctr"/>
                      <a:r>
                        <a:rPr lang="fr-FR" sz="2000" noProof="0" dirty="0">
                          <a:solidFill>
                            <a:srgbClr val="E8EFF8"/>
                          </a:solidFill>
                        </a:rPr>
                        <a:t>A définir</a:t>
                      </a:r>
                    </a:p>
                  </a:txBody>
                  <a:tcPr marT="50800" marB="50800">
                    <a:solidFill>
                      <a:srgbClr val="041028"/>
                    </a:solidFill>
                  </a:tcPr>
                </a:tc>
                <a:tc>
                  <a:txBody>
                    <a:bodyPr/>
                    <a:lstStyle/>
                    <a:p>
                      <a:pPr algn="ctr"/>
                      <a:r>
                        <a:rPr lang="fr-FR" sz="2000" noProof="0" dirty="0">
                          <a:solidFill>
                            <a:srgbClr val="E8EFF8"/>
                          </a:solidFill>
                        </a:rPr>
                        <a:t>MVP</a:t>
                      </a:r>
                    </a:p>
                  </a:txBody>
                  <a:tcPr marT="50800" marB="50800">
                    <a:solidFill>
                      <a:srgbClr val="041028"/>
                    </a:solidFill>
                  </a:tcPr>
                </a:tc>
                <a:extLst>
                  <a:ext uri="{0D108BD9-81ED-4DB2-BD59-A6C34878D82A}">
                    <a16:rowId xmlns:a16="http://schemas.microsoft.com/office/drawing/2014/main" val="10006"/>
                  </a:ext>
                </a:extLst>
              </a:tr>
            </a:tbl>
          </a:graphicData>
        </a:graphic>
      </p:graphicFrame>
      <p:sp>
        <p:nvSpPr>
          <p:cNvPr id="13" name="TextBox 12"/>
          <p:cNvSpPr txBox="1"/>
          <p:nvPr/>
        </p:nvSpPr>
        <p:spPr>
          <a:xfrm>
            <a:off x="226142" y="6281916"/>
            <a:ext cx="12054347" cy="430887"/>
          </a:xfrm>
          <a:prstGeom prst="rect">
            <a:avLst/>
          </a:prstGeom>
          <a:noFill/>
        </p:spPr>
        <p:txBody>
          <a:bodyPr wrap="square">
            <a:spAutoFit/>
          </a:bodyPr>
          <a:lstStyle/>
          <a:p>
            <a:pPr algn="l"/>
            <a:r>
              <a:rPr lang="fr-FR" sz="2200" b="1" i="1" noProof="0" dirty="0">
                <a:solidFill>
                  <a:srgbClr val="3CE88E"/>
                </a:solidFill>
              </a:rPr>
              <a:t>A</a:t>
            </a:r>
            <a:r>
              <a:rPr lang="fr-FR" sz="2100" b="1" i="1" noProof="0" dirty="0">
                <a:solidFill>
                  <a:srgbClr val="3CE88E"/>
                </a:solidFill>
              </a:rPr>
              <a:t>ucune solution ne combine génération LLM, base d'exercices structurés et schémas automatisés.</a:t>
            </a: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2C7D73BE-353D-8C40-91C8-74C6178CB7D4}"/>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6" name="TextBox 5"/>
          <p:cNvSpPr txBox="1"/>
          <p:nvPr/>
        </p:nvSpPr>
        <p:spPr>
          <a:xfrm>
            <a:off x="688258" y="521111"/>
            <a:ext cx="6666271" cy="2246769"/>
          </a:xfrm>
          <a:prstGeom prst="rect">
            <a:avLst/>
          </a:prstGeom>
          <a:noFill/>
        </p:spPr>
        <p:txBody>
          <a:bodyPr wrap="square">
            <a:spAutoFit/>
          </a:bodyPr>
          <a:lstStyle/>
          <a:p>
            <a:pPr algn="l"/>
            <a:r>
              <a:rPr lang="fr-FR" sz="7000" b="1" i="0" noProof="0" dirty="0">
                <a:solidFill>
                  <a:srgbClr val="FFFFFF"/>
                </a:solidFill>
              </a:rPr>
              <a:t>Modèles IA</a:t>
            </a:r>
            <a:r>
              <a:rPr lang="fr-FR" sz="7000" b="1" noProof="0" dirty="0">
                <a:solidFill>
                  <a:srgbClr val="FFFFFF"/>
                </a:solidFill>
              </a:rPr>
              <a:t> p</a:t>
            </a:r>
            <a:r>
              <a:rPr lang="fr-FR" sz="7000" b="1" i="0" noProof="0" dirty="0">
                <a:solidFill>
                  <a:srgbClr val="FFFFFF"/>
                </a:solidFill>
              </a:rPr>
              <a:t>ossibles</a:t>
            </a:r>
          </a:p>
        </p:txBody>
      </p:sp>
      <p:pic>
        <p:nvPicPr>
          <p:cNvPr id="9" name="Image 8" descr="The image illustrates a visual diagram with 11 ways to increase productivity using AI tools, featuring apps for tasks like content creation, coding, and workflow automation.&#10;&#10;Le contenu généré par l’IA peut être incorrect.">
            <a:extLst>
              <a:ext uri="{FF2B5EF4-FFF2-40B4-BE49-F238E27FC236}">
                <a16:creationId xmlns:a16="http://schemas.microsoft.com/office/drawing/2014/main" id="{011EACD8-AF9F-E283-FE7C-A518018EE2D7}"/>
              </a:ext>
            </a:extLst>
          </p:cNvPr>
          <p:cNvPicPr>
            <a:picLocks noChangeAspect="1"/>
          </p:cNvPicPr>
          <p:nvPr/>
        </p:nvPicPr>
        <p:blipFill>
          <a:blip r:embed="rId3"/>
          <a:stretch>
            <a:fillRect/>
          </a:stretch>
        </p:blipFill>
        <p:spPr>
          <a:xfrm>
            <a:off x="6861826" y="393291"/>
            <a:ext cx="4766560" cy="5864942"/>
          </a:xfrm>
          <a:prstGeom prst="rect">
            <a:avLst/>
          </a:prstGeom>
        </p:spPr>
      </p:pic>
      <p:pic>
        <p:nvPicPr>
          <p:cNvPr id="2" name="Image 1" descr="The image depicts a robotic figure, likely an AI or robot, situated at the center of a digital world, surrounded by various human figures and technological symbols, suggesting a collaborative or integrated environment.&#10;&#10;Le contenu généré par l’IA peut être incorrect.">
            <a:extLst>
              <a:ext uri="{FF2B5EF4-FFF2-40B4-BE49-F238E27FC236}">
                <a16:creationId xmlns:a16="http://schemas.microsoft.com/office/drawing/2014/main" id="{FF108EAB-2333-67AE-69D4-CB7F9C9135FD}"/>
              </a:ext>
            </a:extLst>
          </p:cNvPr>
          <p:cNvPicPr>
            <a:picLocks noChangeAspect="1"/>
          </p:cNvPicPr>
          <p:nvPr/>
        </p:nvPicPr>
        <p:blipFill>
          <a:blip r:embed="rId4"/>
          <a:stretch>
            <a:fillRect/>
          </a:stretch>
        </p:blipFill>
        <p:spPr>
          <a:xfrm>
            <a:off x="835741" y="3429001"/>
            <a:ext cx="3874914" cy="2695112"/>
          </a:xfrm>
          <a:prstGeom prst="rect">
            <a:avLst/>
          </a:prstGeom>
        </p:spPr>
      </p:pic>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830DA7A2-8342-CEF1-2CCF-E33623911E3E}"/>
              </a:ext>
            </a:extLst>
          </p:cNvPr>
          <p:cNvPicPr>
            <a:picLocks noChangeAspect="1"/>
          </p:cNvPicPr>
          <p:nvPr/>
        </p:nvPicPr>
        <p:blipFill>
          <a:blip r:embed="rId3"/>
          <a:srcRect b="15603"/>
          <a:stretch>
            <a:fillRect/>
          </a:stretch>
        </p:blipFill>
        <p:spPr>
          <a:xfrm>
            <a:off x="-1" y="-1"/>
            <a:ext cx="12188825" cy="6858001"/>
          </a:xfrm>
          <a:prstGeom prst="rect">
            <a:avLst/>
          </a:prstGeom>
        </p:spPr>
      </p:pic>
      <p:sp>
        <p:nvSpPr>
          <p:cNvPr id="5" name="TextBox 4"/>
          <p:cNvSpPr txBox="1"/>
          <p:nvPr/>
        </p:nvSpPr>
        <p:spPr>
          <a:xfrm>
            <a:off x="201167" y="135261"/>
            <a:ext cx="12315297" cy="707886"/>
          </a:xfrm>
          <a:prstGeom prst="rect">
            <a:avLst/>
          </a:prstGeom>
          <a:noFill/>
        </p:spPr>
        <p:txBody>
          <a:bodyPr wrap="square">
            <a:spAutoFit/>
          </a:bodyPr>
          <a:lstStyle/>
          <a:p>
            <a:pPr algn="l"/>
            <a:r>
              <a:rPr lang="fr-FR" sz="4000" b="1" i="0" noProof="0" dirty="0">
                <a:solidFill>
                  <a:srgbClr val="FFFFFF"/>
                </a:solidFill>
              </a:rPr>
              <a:t>Comparatif modèles de LLM pour génération de texte</a:t>
            </a:r>
          </a:p>
        </p:txBody>
      </p:sp>
      <p:sp>
        <p:nvSpPr>
          <p:cNvPr id="10" name="Rectangle 9"/>
          <p:cNvSpPr/>
          <p:nvPr/>
        </p:nvSpPr>
        <p:spPr>
          <a:xfrm>
            <a:off x="0" y="6565392"/>
            <a:ext cx="12188952" cy="292608"/>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graphicFrame>
        <p:nvGraphicFramePr>
          <p:cNvPr id="12" name="Table 11"/>
          <p:cNvGraphicFramePr>
            <a:graphicFrameLocks noGrp="1"/>
          </p:cNvGraphicFramePr>
          <p:nvPr>
            <p:extLst>
              <p:ext uri="{D42A27DB-BD31-4B8C-83A1-F6EECF244321}">
                <p14:modId xmlns:p14="http://schemas.microsoft.com/office/powerpoint/2010/main" val="1740763337"/>
              </p:ext>
            </p:extLst>
          </p:nvPr>
        </p:nvGraphicFramePr>
        <p:xfrm>
          <a:off x="365760" y="1115568"/>
          <a:ext cx="11155680" cy="5086532"/>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151357">
                  <a:extLst>
                    <a:ext uri="{9D8B030D-6E8A-4147-A177-3AD203B41FA5}">
                      <a16:colId xmlns:a16="http://schemas.microsoft.com/office/drawing/2014/main" val="20002"/>
                    </a:ext>
                  </a:extLst>
                </a:gridCol>
                <a:gridCol w="1180363">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2240280">
                  <a:extLst>
                    <a:ext uri="{9D8B030D-6E8A-4147-A177-3AD203B41FA5}">
                      <a16:colId xmlns:a16="http://schemas.microsoft.com/office/drawing/2014/main" val="20005"/>
                    </a:ext>
                  </a:extLst>
                </a:gridCol>
                <a:gridCol w="1920240">
                  <a:extLst>
                    <a:ext uri="{9D8B030D-6E8A-4147-A177-3AD203B41FA5}">
                      <a16:colId xmlns:a16="http://schemas.microsoft.com/office/drawing/2014/main" val="20006"/>
                    </a:ext>
                  </a:extLst>
                </a:gridCol>
              </a:tblGrid>
              <a:tr h="724988">
                <a:tc>
                  <a:txBody>
                    <a:bodyPr/>
                    <a:lstStyle/>
                    <a:p>
                      <a:pPr algn="ctr"/>
                      <a:r>
                        <a:rPr lang="fr-FR" sz="2000" b="1" noProof="0" dirty="0">
                          <a:solidFill>
                            <a:srgbClr val="38D4FF"/>
                          </a:solidFill>
                        </a:rPr>
                        <a:t>Modèle</a:t>
                      </a:r>
                    </a:p>
                  </a:txBody>
                  <a:tcPr marT="63500" marB="63500">
                    <a:solidFill>
                      <a:srgbClr val="051A42"/>
                    </a:solidFill>
                  </a:tcPr>
                </a:tc>
                <a:tc>
                  <a:txBody>
                    <a:bodyPr/>
                    <a:lstStyle/>
                    <a:p>
                      <a:pPr algn="ctr"/>
                      <a:r>
                        <a:rPr lang="fr-FR" sz="2000" b="1" noProof="0" dirty="0">
                          <a:solidFill>
                            <a:srgbClr val="38D4FF"/>
                          </a:solidFill>
                        </a:rPr>
                        <a:t>Editeur</a:t>
                      </a:r>
                    </a:p>
                  </a:txBody>
                  <a:tcPr marT="63500" marB="63500">
                    <a:solidFill>
                      <a:srgbClr val="051A42"/>
                    </a:solidFill>
                  </a:tcPr>
                </a:tc>
                <a:tc>
                  <a:txBody>
                    <a:bodyPr/>
                    <a:lstStyle/>
                    <a:p>
                      <a:pPr algn="ctr"/>
                      <a:r>
                        <a:rPr lang="fr-FR" sz="2000" b="1" noProof="0" dirty="0">
                          <a:solidFill>
                            <a:srgbClr val="38D4FF"/>
                          </a:solidFill>
                        </a:rPr>
                        <a:t>Contexte</a:t>
                      </a:r>
                    </a:p>
                  </a:txBody>
                  <a:tcPr marT="63500" marB="63500">
                    <a:solidFill>
                      <a:srgbClr val="051A42"/>
                    </a:solidFill>
                  </a:tcPr>
                </a:tc>
                <a:tc>
                  <a:txBody>
                    <a:bodyPr/>
                    <a:lstStyle/>
                    <a:p>
                      <a:pPr algn="ctr"/>
                      <a:r>
                        <a:rPr lang="fr-FR" sz="2000" b="1" noProof="0" dirty="0">
                          <a:solidFill>
                            <a:srgbClr val="38D4FF"/>
                          </a:solidFill>
                        </a:rPr>
                        <a:t>Qualité</a:t>
                      </a:r>
                    </a:p>
                  </a:txBody>
                  <a:tcPr marT="63500" marB="63500">
                    <a:solidFill>
                      <a:srgbClr val="051A42"/>
                    </a:solidFill>
                  </a:tcPr>
                </a:tc>
                <a:tc>
                  <a:txBody>
                    <a:bodyPr/>
                    <a:lstStyle/>
                    <a:p>
                      <a:pPr algn="ctr"/>
                      <a:r>
                        <a:rPr lang="fr-FR" sz="2000" b="1" noProof="0" dirty="0">
                          <a:solidFill>
                            <a:srgbClr val="38D4FF"/>
                          </a:solidFill>
                        </a:rPr>
                        <a:t>Vitesse</a:t>
                      </a:r>
                    </a:p>
                  </a:txBody>
                  <a:tcPr marT="63500" marB="63500">
                    <a:solidFill>
                      <a:srgbClr val="051A42"/>
                    </a:solidFill>
                  </a:tcPr>
                </a:tc>
                <a:tc>
                  <a:txBody>
                    <a:bodyPr/>
                    <a:lstStyle/>
                    <a:p>
                      <a:pPr algn="ctr"/>
                      <a:r>
                        <a:rPr lang="fr-FR" sz="2000" b="1" noProof="0" dirty="0">
                          <a:solidFill>
                            <a:srgbClr val="38D4FF"/>
                          </a:solidFill>
                        </a:rPr>
                        <a:t>Prix IN &amp; OUT</a:t>
                      </a:r>
                    </a:p>
                    <a:p>
                      <a:pPr algn="ctr"/>
                      <a:r>
                        <a:rPr lang="fr-FR" sz="2000" b="1" noProof="0" dirty="0">
                          <a:solidFill>
                            <a:srgbClr val="38D4FF"/>
                          </a:solidFill>
                        </a:rPr>
                        <a:t> ($ / M </a:t>
                      </a:r>
                      <a:r>
                        <a:rPr lang="fr-FR" sz="2000" b="1" noProof="0" dirty="0" err="1">
                          <a:solidFill>
                            <a:srgbClr val="38D4FF"/>
                          </a:solidFill>
                        </a:rPr>
                        <a:t>tok</a:t>
                      </a:r>
                      <a:r>
                        <a:rPr lang="fr-FR" sz="2000" b="1" noProof="0" dirty="0">
                          <a:solidFill>
                            <a:srgbClr val="38D4FF"/>
                          </a:solidFill>
                        </a:rPr>
                        <a:t>)</a:t>
                      </a:r>
                    </a:p>
                  </a:txBody>
                  <a:tcPr marT="63500" marB="63500">
                    <a:solidFill>
                      <a:srgbClr val="051A42"/>
                    </a:solidFill>
                  </a:tcPr>
                </a:tc>
                <a:tc>
                  <a:txBody>
                    <a:bodyPr/>
                    <a:lstStyle/>
                    <a:p>
                      <a:pPr algn="ctr"/>
                      <a:r>
                        <a:rPr lang="fr-FR" sz="2000" b="1" noProof="0" dirty="0">
                          <a:solidFill>
                            <a:srgbClr val="38D4FF"/>
                          </a:solidFill>
                        </a:rPr>
                        <a:t>Choix</a:t>
                      </a:r>
                    </a:p>
                  </a:txBody>
                  <a:tcPr marT="63500" marB="63500">
                    <a:solidFill>
                      <a:srgbClr val="051A42"/>
                    </a:solidFill>
                  </a:tcPr>
                </a:tc>
                <a:extLst>
                  <a:ext uri="{0D108BD9-81ED-4DB2-BD59-A6C34878D82A}">
                    <a16:rowId xmlns:a16="http://schemas.microsoft.com/office/drawing/2014/main" val="10000"/>
                  </a:ext>
                </a:extLst>
              </a:tr>
              <a:tr h="724988">
                <a:tc>
                  <a:txBody>
                    <a:bodyPr/>
                    <a:lstStyle/>
                    <a:p>
                      <a:pPr algn="l"/>
                      <a:r>
                        <a:rPr lang="fr-FR" sz="2000" noProof="0" dirty="0">
                          <a:solidFill>
                            <a:srgbClr val="E8EFF8"/>
                          </a:solidFill>
                        </a:rPr>
                        <a:t>Claude 3.5 Sonnet</a:t>
                      </a:r>
                    </a:p>
                  </a:txBody>
                  <a:tcPr marT="50800" marB="50800">
                    <a:solidFill>
                      <a:srgbClr val="061430"/>
                    </a:solidFill>
                  </a:tcPr>
                </a:tc>
                <a:tc>
                  <a:txBody>
                    <a:bodyPr/>
                    <a:lstStyle/>
                    <a:p>
                      <a:pPr algn="ctr"/>
                      <a:r>
                        <a:rPr lang="fr-FR" sz="2000" noProof="0" dirty="0" err="1">
                          <a:solidFill>
                            <a:srgbClr val="E8EFF8"/>
                          </a:solidFill>
                        </a:rPr>
                        <a:t>Anthropic</a:t>
                      </a:r>
                      <a:endParaRPr lang="fr-FR" sz="2000" noProof="0" dirty="0">
                        <a:solidFill>
                          <a:srgbClr val="E8EFF8"/>
                        </a:solidFill>
                      </a:endParaRPr>
                    </a:p>
                  </a:txBody>
                  <a:tcPr marT="50800" marB="50800">
                    <a:solidFill>
                      <a:srgbClr val="061430"/>
                    </a:solidFill>
                  </a:tcPr>
                </a:tc>
                <a:tc>
                  <a:txBody>
                    <a:bodyPr/>
                    <a:lstStyle/>
                    <a:p>
                      <a:pPr algn="ctr"/>
                      <a:r>
                        <a:rPr lang="fr-FR" sz="2000" noProof="0" dirty="0">
                          <a:solidFill>
                            <a:srgbClr val="E8EFF8"/>
                          </a:solidFill>
                        </a:rPr>
                        <a:t>200 K</a:t>
                      </a:r>
                    </a:p>
                  </a:txBody>
                  <a:tcPr marT="50800" marB="50800">
                    <a:solidFill>
                      <a:srgbClr val="061430"/>
                    </a:solidFill>
                  </a:tcPr>
                </a:tc>
                <a:tc>
                  <a:txBody>
                    <a:bodyPr/>
                    <a:lstStyle/>
                    <a:p>
                      <a:pPr algn="ctr"/>
                      <a:r>
                        <a:rPr lang="fr-FR" sz="2000" noProof="0" dirty="0">
                          <a:solidFill>
                            <a:srgbClr val="E8EFF8"/>
                          </a:solidFill>
                        </a:rPr>
                        <a:t>Très élevée</a:t>
                      </a:r>
                    </a:p>
                  </a:txBody>
                  <a:tcPr marT="50800" marB="50800">
                    <a:solidFill>
                      <a:srgbClr val="061430"/>
                    </a:solidFill>
                  </a:tcPr>
                </a:tc>
                <a:tc>
                  <a:txBody>
                    <a:bodyPr/>
                    <a:lstStyle/>
                    <a:p>
                      <a:pPr algn="ctr"/>
                      <a:r>
                        <a:rPr lang="fr-FR" sz="2000" noProof="0" dirty="0">
                          <a:solidFill>
                            <a:srgbClr val="E8EFF8"/>
                          </a:solidFill>
                        </a:rPr>
                        <a:t>Rapide</a:t>
                      </a:r>
                    </a:p>
                  </a:txBody>
                  <a:tcPr marT="50800" marB="50800">
                    <a:solidFill>
                      <a:srgbClr val="061430"/>
                    </a:solidFill>
                  </a:tcPr>
                </a:tc>
                <a:tc>
                  <a:txBody>
                    <a:bodyPr/>
                    <a:lstStyle/>
                    <a:p>
                      <a:pPr algn="ctr"/>
                      <a:r>
                        <a:rPr lang="fr-FR" sz="2000" noProof="0" dirty="0">
                          <a:solidFill>
                            <a:srgbClr val="E8EFF8"/>
                          </a:solidFill>
                        </a:rPr>
                        <a:t>3 / 15</a:t>
                      </a:r>
                    </a:p>
                  </a:txBody>
                  <a:tcPr marT="50800" marB="50800">
                    <a:solidFill>
                      <a:srgbClr val="061430"/>
                    </a:solidFill>
                  </a:tcPr>
                </a:tc>
                <a:tc>
                  <a:txBody>
                    <a:bodyPr/>
                    <a:lstStyle/>
                    <a:p>
                      <a:pPr algn="ctr"/>
                      <a:r>
                        <a:rPr lang="fr-FR" sz="2000" noProof="0" dirty="0">
                          <a:solidFill>
                            <a:srgbClr val="E8EFF8"/>
                          </a:solidFill>
                        </a:rPr>
                        <a:t>Recommandé</a:t>
                      </a:r>
                    </a:p>
                  </a:txBody>
                  <a:tcPr marT="50800" marB="50800">
                    <a:solidFill>
                      <a:srgbClr val="061430"/>
                    </a:solidFill>
                  </a:tcPr>
                </a:tc>
                <a:extLst>
                  <a:ext uri="{0D108BD9-81ED-4DB2-BD59-A6C34878D82A}">
                    <a16:rowId xmlns:a16="http://schemas.microsoft.com/office/drawing/2014/main" val="10001"/>
                  </a:ext>
                </a:extLst>
              </a:tr>
              <a:tr h="724988">
                <a:tc>
                  <a:txBody>
                    <a:bodyPr/>
                    <a:lstStyle/>
                    <a:p>
                      <a:pPr algn="l"/>
                      <a:r>
                        <a:rPr lang="fr-FR" sz="2000" noProof="0" dirty="0">
                          <a:solidFill>
                            <a:srgbClr val="E8EFF8"/>
                          </a:solidFill>
                        </a:rPr>
                        <a:t>GPT-4o</a:t>
                      </a:r>
                    </a:p>
                  </a:txBody>
                  <a:tcPr marT="50800" marB="50800">
                    <a:solidFill>
                      <a:srgbClr val="041028"/>
                    </a:solidFill>
                  </a:tcPr>
                </a:tc>
                <a:tc>
                  <a:txBody>
                    <a:bodyPr/>
                    <a:lstStyle/>
                    <a:p>
                      <a:pPr algn="ctr"/>
                      <a:r>
                        <a:rPr lang="fr-FR" sz="2000" noProof="0" dirty="0" err="1">
                          <a:solidFill>
                            <a:srgbClr val="E8EFF8"/>
                          </a:solidFill>
                        </a:rPr>
                        <a:t>OpenAI</a:t>
                      </a:r>
                      <a:endParaRPr lang="fr-FR" sz="2000" noProof="0" dirty="0">
                        <a:solidFill>
                          <a:srgbClr val="E8EFF8"/>
                        </a:solidFill>
                      </a:endParaRPr>
                    </a:p>
                  </a:txBody>
                  <a:tcPr marT="50800" marB="50800">
                    <a:solidFill>
                      <a:srgbClr val="041028"/>
                    </a:solidFill>
                  </a:tcPr>
                </a:tc>
                <a:tc>
                  <a:txBody>
                    <a:bodyPr/>
                    <a:lstStyle/>
                    <a:p>
                      <a:pPr algn="ctr"/>
                      <a:r>
                        <a:rPr lang="fr-FR" sz="2000" noProof="0" dirty="0">
                          <a:solidFill>
                            <a:srgbClr val="E8EFF8"/>
                          </a:solidFill>
                        </a:rPr>
                        <a:t>128 K</a:t>
                      </a:r>
                    </a:p>
                  </a:txBody>
                  <a:tcPr marT="50800" marB="50800">
                    <a:solidFill>
                      <a:srgbClr val="041028"/>
                    </a:solidFill>
                  </a:tcPr>
                </a:tc>
                <a:tc>
                  <a:txBody>
                    <a:bodyPr/>
                    <a:lstStyle/>
                    <a:p>
                      <a:pPr algn="ctr"/>
                      <a:r>
                        <a:rPr lang="fr-FR" sz="2000" noProof="0" dirty="0">
                          <a:solidFill>
                            <a:srgbClr val="E8EFF8"/>
                          </a:solidFill>
                        </a:rPr>
                        <a:t>Très élevée</a:t>
                      </a:r>
                    </a:p>
                  </a:txBody>
                  <a:tcPr marT="50800" marB="50800">
                    <a:solidFill>
                      <a:srgbClr val="041028"/>
                    </a:solidFill>
                  </a:tcPr>
                </a:tc>
                <a:tc>
                  <a:txBody>
                    <a:bodyPr/>
                    <a:lstStyle/>
                    <a:p>
                      <a:pPr algn="ctr"/>
                      <a:r>
                        <a:rPr lang="fr-FR" sz="2000" noProof="0" dirty="0">
                          <a:solidFill>
                            <a:srgbClr val="E8EFF8"/>
                          </a:solidFill>
                        </a:rPr>
                        <a:t>Moyen</a:t>
                      </a:r>
                    </a:p>
                  </a:txBody>
                  <a:tcPr marT="50800" marB="50800">
                    <a:solidFill>
                      <a:srgbClr val="041028"/>
                    </a:solidFill>
                  </a:tcPr>
                </a:tc>
                <a:tc>
                  <a:txBody>
                    <a:bodyPr/>
                    <a:lstStyle/>
                    <a:p>
                      <a:pPr algn="ctr"/>
                      <a:r>
                        <a:rPr lang="fr-FR" sz="2000" noProof="0" dirty="0">
                          <a:solidFill>
                            <a:srgbClr val="E8EFF8"/>
                          </a:solidFill>
                        </a:rPr>
                        <a:t>5 / 15</a:t>
                      </a:r>
                    </a:p>
                  </a:txBody>
                  <a:tcPr marT="50800" marB="50800">
                    <a:solidFill>
                      <a:srgbClr val="041028"/>
                    </a:solidFill>
                  </a:tcPr>
                </a:tc>
                <a:tc>
                  <a:txBody>
                    <a:bodyPr/>
                    <a:lstStyle/>
                    <a:p>
                      <a:pPr algn="ctr"/>
                      <a:r>
                        <a:rPr lang="fr-FR" sz="2000" noProof="0" dirty="0">
                          <a:solidFill>
                            <a:srgbClr val="E8EFF8"/>
                          </a:solidFill>
                        </a:rPr>
                        <a:t>Alternatif</a:t>
                      </a:r>
                    </a:p>
                  </a:txBody>
                  <a:tcPr marT="50800" marB="50800">
                    <a:solidFill>
                      <a:srgbClr val="041028"/>
                    </a:solidFill>
                  </a:tcPr>
                </a:tc>
                <a:extLst>
                  <a:ext uri="{0D108BD9-81ED-4DB2-BD59-A6C34878D82A}">
                    <a16:rowId xmlns:a16="http://schemas.microsoft.com/office/drawing/2014/main" val="10002"/>
                  </a:ext>
                </a:extLst>
              </a:tr>
              <a:tr h="724988">
                <a:tc>
                  <a:txBody>
                    <a:bodyPr/>
                    <a:lstStyle/>
                    <a:p>
                      <a:pPr algn="l"/>
                      <a:r>
                        <a:rPr lang="fr-FR" sz="2000" noProof="0" dirty="0">
                          <a:solidFill>
                            <a:srgbClr val="E8EFF8"/>
                          </a:solidFill>
                        </a:rPr>
                        <a:t>Gemini 1.5 Pro</a:t>
                      </a:r>
                    </a:p>
                  </a:txBody>
                  <a:tcPr marT="50800" marB="50800">
                    <a:solidFill>
                      <a:srgbClr val="061430"/>
                    </a:solidFill>
                  </a:tcPr>
                </a:tc>
                <a:tc>
                  <a:txBody>
                    <a:bodyPr/>
                    <a:lstStyle/>
                    <a:p>
                      <a:pPr algn="ctr"/>
                      <a:r>
                        <a:rPr lang="fr-FR" sz="2000" noProof="0" dirty="0">
                          <a:solidFill>
                            <a:srgbClr val="E8EFF8"/>
                          </a:solidFill>
                        </a:rPr>
                        <a:t>Google</a:t>
                      </a:r>
                    </a:p>
                  </a:txBody>
                  <a:tcPr marT="50800" marB="50800">
                    <a:solidFill>
                      <a:srgbClr val="061430"/>
                    </a:solidFill>
                  </a:tcPr>
                </a:tc>
                <a:tc>
                  <a:txBody>
                    <a:bodyPr/>
                    <a:lstStyle/>
                    <a:p>
                      <a:pPr algn="ctr"/>
                      <a:r>
                        <a:rPr lang="fr-FR" sz="2000" noProof="0" dirty="0">
                          <a:solidFill>
                            <a:srgbClr val="E8EFF8"/>
                          </a:solidFill>
                        </a:rPr>
                        <a:t>1 M</a:t>
                      </a:r>
                    </a:p>
                  </a:txBody>
                  <a:tcPr marT="50800" marB="50800">
                    <a:solidFill>
                      <a:srgbClr val="061430"/>
                    </a:solidFill>
                  </a:tcPr>
                </a:tc>
                <a:tc>
                  <a:txBody>
                    <a:bodyPr/>
                    <a:lstStyle/>
                    <a:p>
                      <a:pPr algn="ctr"/>
                      <a:r>
                        <a:rPr lang="fr-FR" sz="2000" noProof="0" dirty="0">
                          <a:solidFill>
                            <a:srgbClr val="E8EFF8"/>
                          </a:solidFill>
                        </a:rPr>
                        <a:t>Elevée</a:t>
                      </a:r>
                    </a:p>
                  </a:txBody>
                  <a:tcPr marT="50800" marB="50800">
                    <a:solidFill>
                      <a:srgbClr val="061430"/>
                    </a:solidFill>
                  </a:tcPr>
                </a:tc>
                <a:tc>
                  <a:txBody>
                    <a:bodyPr/>
                    <a:lstStyle/>
                    <a:p>
                      <a:pPr algn="ctr"/>
                      <a:r>
                        <a:rPr lang="fr-FR" sz="2000" noProof="0" dirty="0">
                          <a:solidFill>
                            <a:srgbClr val="E8EFF8"/>
                          </a:solidFill>
                        </a:rPr>
                        <a:t>Moyen</a:t>
                      </a:r>
                    </a:p>
                  </a:txBody>
                  <a:tcPr marT="50800" marB="50800">
                    <a:solidFill>
                      <a:srgbClr val="061430"/>
                    </a:solidFill>
                  </a:tcPr>
                </a:tc>
                <a:tc>
                  <a:txBody>
                    <a:bodyPr/>
                    <a:lstStyle/>
                    <a:p>
                      <a:pPr algn="ctr"/>
                      <a:r>
                        <a:rPr lang="fr-FR" sz="2000" noProof="0" dirty="0">
                          <a:solidFill>
                            <a:srgbClr val="E8EFF8"/>
                          </a:solidFill>
                        </a:rPr>
                        <a:t>3.5 / 10.5</a:t>
                      </a:r>
                    </a:p>
                  </a:txBody>
                  <a:tcPr marT="50800" marB="50800">
                    <a:solidFill>
                      <a:srgbClr val="061430"/>
                    </a:solidFill>
                  </a:tcPr>
                </a:tc>
                <a:tc>
                  <a:txBody>
                    <a:bodyPr/>
                    <a:lstStyle/>
                    <a:p>
                      <a:pPr algn="ctr"/>
                      <a:r>
                        <a:rPr lang="fr-FR" sz="2000" noProof="0" dirty="0">
                          <a:solidFill>
                            <a:srgbClr val="E8EFF8"/>
                          </a:solidFill>
                        </a:rPr>
                        <a:t>Long contexte</a:t>
                      </a:r>
                    </a:p>
                  </a:txBody>
                  <a:tcPr marT="50800" marB="50800">
                    <a:solidFill>
                      <a:srgbClr val="061430"/>
                    </a:solidFill>
                  </a:tcPr>
                </a:tc>
                <a:extLst>
                  <a:ext uri="{0D108BD9-81ED-4DB2-BD59-A6C34878D82A}">
                    <a16:rowId xmlns:a16="http://schemas.microsoft.com/office/drawing/2014/main" val="10003"/>
                  </a:ext>
                </a:extLst>
              </a:tr>
              <a:tr h="724988">
                <a:tc>
                  <a:txBody>
                    <a:bodyPr/>
                    <a:lstStyle/>
                    <a:p>
                      <a:pPr algn="l"/>
                      <a:r>
                        <a:rPr lang="fr-FR" sz="2000" noProof="0" dirty="0" err="1">
                          <a:solidFill>
                            <a:srgbClr val="E8EFF8"/>
                          </a:solidFill>
                        </a:rPr>
                        <a:t>Llama</a:t>
                      </a:r>
                      <a:r>
                        <a:rPr lang="fr-FR" sz="2000" noProof="0" dirty="0">
                          <a:solidFill>
                            <a:srgbClr val="E8EFF8"/>
                          </a:solidFill>
                        </a:rPr>
                        <a:t> 3.1 70B</a:t>
                      </a:r>
                    </a:p>
                  </a:txBody>
                  <a:tcPr marT="50800" marB="50800">
                    <a:solidFill>
                      <a:srgbClr val="041028"/>
                    </a:solidFill>
                  </a:tcPr>
                </a:tc>
                <a:tc>
                  <a:txBody>
                    <a:bodyPr/>
                    <a:lstStyle/>
                    <a:p>
                      <a:pPr algn="ctr"/>
                      <a:r>
                        <a:rPr lang="fr-FR" sz="2000" noProof="0" dirty="0">
                          <a:solidFill>
                            <a:srgbClr val="E8EFF8"/>
                          </a:solidFill>
                        </a:rPr>
                        <a:t>Meta</a:t>
                      </a:r>
                    </a:p>
                  </a:txBody>
                  <a:tcPr marT="50800" marB="50800">
                    <a:solidFill>
                      <a:srgbClr val="041028"/>
                    </a:solidFill>
                  </a:tcPr>
                </a:tc>
                <a:tc>
                  <a:txBody>
                    <a:bodyPr/>
                    <a:lstStyle/>
                    <a:p>
                      <a:pPr algn="ctr"/>
                      <a:r>
                        <a:rPr lang="fr-FR" sz="2000" noProof="0" dirty="0">
                          <a:solidFill>
                            <a:srgbClr val="E8EFF8"/>
                          </a:solidFill>
                        </a:rPr>
                        <a:t>128 K</a:t>
                      </a:r>
                    </a:p>
                  </a:txBody>
                  <a:tcPr marT="50800" marB="50800">
                    <a:solidFill>
                      <a:srgbClr val="041028"/>
                    </a:solidFill>
                  </a:tcPr>
                </a:tc>
                <a:tc>
                  <a:txBody>
                    <a:bodyPr/>
                    <a:lstStyle/>
                    <a:p>
                      <a:pPr algn="ctr"/>
                      <a:r>
                        <a:rPr lang="fr-FR" sz="2000" noProof="0" dirty="0">
                          <a:solidFill>
                            <a:srgbClr val="E8EFF8"/>
                          </a:solidFill>
                        </a:rPr>
                        <a:t>Elevée</a:t>
                      </a:r>
                    </a:p>
                  </a:txBody>
                  <a:tcPr marT="50800" marB="50800">
                    <a:solidFill>
                      <a:srgbClr val="041028"/>
                    </a:solidFill>
                  </a:tcPr>
                </a:tc>
                <a:tc>
                  <a:txBody>
                    <a:bodyPr/>
                    <a:lstStyle/>
                    <a:p>
                      <a:pPr algn="ctr"/>
                      <a:r>
                        <a:rPr lang="fr-FR" sz="2000" noProof="0" dirty="0">
                          <a:solidFill>
                            <a:srgbClr val="E8EFF8"/>
                          </a:solidFill>
                        </a:rPr>
                        <a:t>Rapide</a:t>
                      </a:r>
                    </a:p>
                  </a:txBody>
                  <a:tcPr marT="50800" marB="50800">
                    <a:solidFill>
                      <a:srgbClr val="041028"/>
                    </a:solidFill>
                  </a:tcPr>
                </a:tc>
                <a:tc>
                  <a:txBody>
                    <a:bodyPr/>
                    <a:lstStyle/>
                    <a:p>
                      <a:pPr algn="ctr"/>
                      <a:r>
                        <a:rPr lang="fr-FR" sz="2000" noProof="0" dirty="0">
                          <a:solidFill>
                            <a:srgbClr val="E8EFF8"/>
                          </a:solidFill>
                        </a:rPr>
                        <a:t>~0.9 (hébergé)</a:t>
                      </a:r>
                    </a:p>
                  </a:txBody>
                  <a:tcPr marT="50800" marB="50800">
                    <a:solidFill>
                      <a:srgbClr val="041028"/>
                    </a:solidFill>
                  </a:tcPr>
                </a:tc>
                <a:tc>
                  <a:txBody>
                    <a:bodyPr/>
                    <a:lstStyle/>
                    <a:p>
                      <a:pPr algn="ctr"/>
                      <a:r>
                        <a:rPr lang="fr-FR" sz="2000" noProof="0" dirty="0">
                          <a:solidFill>
                            <a:srgbClr val="E8EFF8"/>
                          </a:solidFill>
                        </a:rPr>
                        <a:t>Open source</a:t>
                      </a:r>
                    </a:p>
                  </a:txBody>
                  <a:tcPr marT="50800" marB="50800">
                    <a:solidFill>
                      <a:srgbClr val="041028"/>
                    </a:solidFill>
                  </a:tcPr>
                </a:tc>
                <a:extLst>
                  <a:ext uri="{0D108BD9-81ED-4DB2-BD59-A6C34878D82A}">
                    <a16:rowId xmlns:a16="http://schemas.microsoft.com/office/drawing/2014/main" val="10004"/>
                  </a:ext>
                </a:extLst>
              </a:tr>
              <a:tr h="724988">
                <a:tc>
                  <a:txBody>
                    <a:bodyPr/>
                    <a:lstStyle/>
                    <a:p>
                      <a:pPr algn="l"/>
                      <a:r>
                        <a:rPr lang="fr-FR" sz="2000" noProof="0" dirty="0">
                          <a:solidFill>
                            <a:srgbClr val="E8EFF8"/>
                          </a:solidFill>
                        </a:rPr>
                        <a:t>Mistral Large 2</a:t>
                      </a:r>
                    </a:p>
                  </a:txBody>
                  <a:tcPr marT="50800" marB="50800">
                    <a:solidFill>
                      <a:srgbClr val="061430"/>
                    </a:solidFill>
                  </a:tcPr>
                </a:tc>
                <a:tc>
                  <a:txBody>
                    <a:bodyPr/>
                    <a:lstStyle/>
                    <a:p>
                      <a:pPr algn="ctr"/>
                      <a:r>
                        <a:rPr lang="fr-FR" sz="2000" noProof="0" dirty="0">
                          <a:solidFill>
                            <a:srgbClr val="E8EFF8"/>
                          </a:solidFill>
                        </a:rPr>
                        <a:t>Mistral AI</a:t>
                      </a:r>
                    </a:p>
                  </a:txBody>
                  <a:tcPr marT="50800" marB="50800">
                    <a:solidFill>
                      <a:srgbClr val="061430"/>
                    </a:solidFill>
                  </a:tcPr>
                </a:tc>
                <a:tc>
                  <a:txBody>
                    <a:bodyPr/>
                    <a:lstStyle/>
                    <a:p>
                      <a:pPr algn="ctr"/>
                      <a:r>
                        <a:rPr lang="fr-FR" sz="2000" noProof="0" dirty="0">
                          <a:solidFill>
                            <a:srgbClr val="E8EFF8"/>
                          </a:solidFill>
                        </a:rPr>
                        <a:t>128 K</a:t>
                      </a:r>
                    </a:p>
                  </a:txBody>
                  <a:tcPr marT="50800" marB="50800">
                    <a:solidFill>
                      <a:srgbClr val="061430"/>
                    </a:solidFill>
                  </a:tcPr>
                </a:tc>
                <a:tc>
                  <a:txBody>
                    <a:bodyPr/>
                    <a:lstStyle/>
                    <a:p>
                      <a:pPr algn="ctr"/>
                      <a:r>
                        <a:rPr lang="fr-FR" sz="2000" noProof="0" dirty="0">
                          <a:solidFill>
                            <a:srgbClr val="E8EFF8"/>
                          </a:solidFill>
                        </a:rPr>
                        <a:t>Elevée</a:t>
                      </a:r>
                    </a:p>
                  </a:txBody>
                  <a:tcPr marT="50800" marB="50800">
                    <a:solidFill>
                      <a:srgbClr val="061430"/>
                    </a:solidFill>
                  </a:tcPr>
                </a:tc>
                <a:tc>
                  <a:txBody>
                    <a:bodyPr/>
                    <a:lstStyle/>
                    <a:p>
                      <a:pPr algn="ctr"/>
                      <a:r>
                        <a:rPr lang="fr-FR" sz="2000" noProof="0" dirty="0">
                          <a:solidFill>
                            <a:srgbClr val="E8EFF8"/>
                          </a:solidFill>
                        </a:rPr>
                        <a:t>Rapide</a:t>
                      </a:r>
                    </a:p>
                  </a:txBody>
                  <a:tcPr marT="50800" marB="50800">
                    <a:solidFill>
                      <a:srgbClr val="061430"/>
                    </a:solidFill>
                  </a:tcPr>
                </a:tc>
                <a:tc>
                  <a:txBody>
                    <a:bodyPr/>
                    <a:lstStyle/>
                    <a:p>
                      <a:pPr algn="ctr"/>
                      <a:r>
                        <a:rPr lang="fr-FR" sz="2000" noProof="0" dirty="0">
                          <a:solidFill>
                            <a:srgbClr val="E8EFF8"/>
                          </a:solidFill>
                        </a:rPr>
                        <a:t>4 / 12</a:t>
                      </a:r>
                    </a:p>
                  </a:txBody>
                  <a:tcPr marT="50800" marB="50800">
                    <a:solidFill>
                      <a:srgbClr val="061430"/>
                    </a:solidFill>
                  </a:tcPr>
                </a:tc>
                <a:tc>
                  <a:txBody>
                    <a:bodyPr/>
                    <a:lstStyle/>
                    <a:p>
                      <a:pPr algn="ctr"/>
                      <a:r>
                        <a:rPr lang="fr-FR" sz="2000" noProof="0" dirty="0">
                          <a:solidFill>
                            <a:srgbClr val="E8EFF8"/>
                          </a:solidFill>
                        </a:rPr>
                        <a:t>Option RGPD</a:t>
                      </a:r>
                    </a:p>
                  </a:txBody>
                  <a:tcPr marT="50800" marB="50800">
                    <a:solidFill>
                      <a:srgbClr val="061430"/>
                    </a:solidFill>
                  </a:tcPr>
                </a:tc>
                <a:extLst>
                  <a:ext uri="{0D108BD9-81ED-4DB2-BD59-A6C34878D82A}">
                    <a16:rowId xmlns:a16="http://schemas.microsoft.com/office/drawing/2014/main" val="10005"/>
                  </a:ext>
                </a:extLst>
              </a:tr>
              <a:tr h="724992">
                <a:tc>
                  <a:txBody>
                    <a:bodyPr/>
                    <a:lstStyle/>
                    <a:p>
                      <a:pPr algn="l"/>
                      <a:r>
                        <a:rPr lang="fr-FR" sz="2000" noProof="0" dirty="0">
                          <a:solidFill>
                            <a:srgbClr val="E8EFF8"/>
                          </a:solidFill>
                        </a:rPr>
                        <a:t>GPT-3.5 Turbo</a:t>
                      </a:r>
                    </a:p>
                  </a:txBody>
                  <a:tcPr marT="50800" marB="50800">
                    <a:solidFill>
                      <a:srgbClr val="041028"/>
                    </a:solidFill>
                  </a:tcPr>
                </a:tc>
                <a:tc>
                  <a:txBody>
                    <a:bodyPr/>
                    <a:lstStyle/>
                    <a:p>
                      <a:pPr algn="ctr"/>
                      <a:r>
                        <a:rPr lang="fr-FR" sz="2000" noProof="0" dirty="0" err="1">
                          <a:solidFill>
                            <a:srgbClr val="E8EFF8"/>
                          </a:solidFill>
                        </a:rPr>
                        <a:t>OpenAI</a:t>
                      </a:r>
                      <a:endParaRPr lang="fr-FR" sz="2000" noProof="0" dirty="0">
                        <a:solidFill>
                          <a:srgbClr val="E8EFF8"/>
                        </a:solidFill>
                      </a:endParaRPr>
                    </a:p>
                  </a:txBody>
                  <a:tcPr marT="50800" marB="50800">
                    <a:solidFill>
                      <a:srgbClr val="041028"/>
                    </a:solidFill>
                  </a:tcPr>
                </a:tc>
                <a:tc>
                  <a:txBody>
                    <a:bodyPr/>
                    <a:lstStyle/>
                    <a:p>
                      <a:pPr algn="ctr"/>
                      <a:r>
                        <a:rPr lang="fr-FR" sz="2000" noProof="0" dirty="0">
                          <a:solidFill>
                            <a:srgbClr val="E8EFF8"/>
                          </a:solidFill>
                        </a:rPr>
                        <a:t>16 K</a:t>
                      </a:r>
                    </a:p>
                  </a:txBody>
                  <a:tcPr marT="50800" marB="50800">
                    <a:solidFill>
                      <a:srgbClr val="041028"/>
                    </a:solidFill>
                  </a:tcPr>
                </a:tc>
                <a:tc>
                  <a:txBody>
                    <a:bodyPr/>
                    <a:lstStyle/>
                    <a:p>
                      <a:pPr algn="ctr"/>
                      <a:r>
                        <a:rPr lang="fr-FR" sz="2000" noProof="0" dirty="0">
                          <a:solidFill>
                            <a:srgbClr val="E8EFF8"/>
                          </a:solidFill>
                        </a:rPr>
                        <a:t>Correcte</a:t>
                      </a:r>
                    </a:p>
                  </a:txBody>
                  <a:tcPr marT="50800" marB="50800">
                    <a:solidFill>
                      <a:srgbClr val="041028"/>
                    </a:solidFill>
                  </a:tcPr>
                </a:tc>
                <a:tc>
                  <a:txBody>
                    <a:bodyPr/>
                    <a:lstStyle/>
                    <a:p>
                      <a:pPr algn="ctr"/>
                      <a:r>
                        <a:rPr lang="fr-FR" sz="2000" noProof="0" dirty="0">
                          <a:solidFill>
                            <a:srgbClr val="E8EFF8"/>
                          </a:solidFill>
                        </a:rPr>
                        <a:t>Très rapide</a:t>
                      </a:r>
                    </a:p>
                  </a:txBody>
                  <a:tcPr marT="50800" marB="50800">
                    <a:solidFill>
                      <a:srgbClr val="041028"/>
                    </a:solidFill>
                  </a:tcPr>
                </a:tc>
                <a:tc>
                  <a:txBody>
                    <a:bodyPr/>
                    <a:lstStyle/>
                    <a:p>
                      <a:pPr algn="ctr"/>
                      <a:r>
                        <a:rPr lang="fr-FR" sz="2000" noProof="0" dirty="0">
                          <a:solidFill>
                            <a:srgbClr val="E8EFF8"/>
                          </a:solidFill>
                        </a:rPr>
                        <a:t>0.5 / 1.5</a:t>
                      </a:r>
                    </a:p>
                  </a:txBody>
                  <a:tcPr marT="50800" marB="50800">
                    <a:solidFill>
                      <a:srgbClr val="041028"/>
                    </a:solidFill>
                  </a:tcPr>
                </a:tc>
                <a:tc>
                  <a:txBody>
                    <a:bodyPr/>
                    <a:lstStyle/>
                    <a:p>
                      <a:pPr algn="ctr"/>
                      <a:r>
                        <a:rPr lang="fr-FR" sz="2000" noProof="0" dirty="0">
                          <a:solidFill>
                            <a:srgbClr val="E8EFF8"/>
                          </a:solidFill>
                        </a:rPr>
                        <a:t>Budget</a:t>
                      </a:r>
                    </a:p>
                  </a:txBody>
                  <a:tcPr marT="50800" marB="50800">
                    <a:solidFill>
                      <a:srgbClr val="041028"/>
                    </a:solidFill>
                  </a:tcPr>
                </a:tc>
                <a:extLst>
                  <a:ext uri="{0D108BD9-81ED-4DB2-BD59-A6C34878D82A}">
                    <a16:rowId xmlns:a16="http://schemas.microsoft.com/office/drawing/2014/main" val="10006"/>
                  </a:ext>
                </a:extLst>
              </a:tr>
            </a:tbl>
          </a:graphicData>
        </a:graphic>
      </p:graphicFrame>
      <p:sp>
        <p:nvSpPr>
          <p:cNvPr id="13" name="TextBox 12"/>
          <p:cNvSpPr txBox="1"/>
          <p:nvPr/>
        </p:nvSpPr>
        <p:spPr>
          <a:xfrm>
            <a:off x="365760" y="6298034"/>
            <a:ext cx="11430000" cy="415498"/>
          </a:xfrm>
          <a:prstGeom prst="rect">
            <a:avLst/>
          </a:prstGeom>
          <a:noFill/>
        </p:spPr>
        <p:txBody>
          <a:bodyPr wrap="square">
            <a:spAutoFit/>
          </a:bodyPr>
          <a:lstStyle/>
          <a:p>
            <a:pPr algn="l"/>
            <a:r>
              <a:rPr lang="fr-FR" sz="2100" b="1" i="0" noProof="0" dirty="0">
                <a:solidFill>
                  <a:srgbClr val="00B050"/>
                </a:solidFill>
              </a:rPr>
              <a:t>Claude 3.5 Sonnet — meilleur ratio qualité / cout, 200 K </a:t>
            </a:r>
            <a:r>
              <a:rPr lang="fr-FR" sz="2100" b="1" i="0" noProof="0" dirty="0" err="1">
                <a:solidFill>
                  <a:srgbClr val="00B050"/>
                </a:solidFill>
              </a:rPr>
              <a:t>tokens</a:t>
            </a:r>
            <a:r>
              <a:rPr lang="fr-FR" sz="2100" b="1" i="0" noProof="0" dirty="0">
                <a:solidFill>
                  <a:srgbClr val="00B050"/>
                </a:solidFill>
              </a:rPr>
              <a:t> idéaux pour l’historique cavalier.</a:t>
            </a: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7C4A85A7-05C0-D580-AC9B-41EBCF24B3C3}"/>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5" name="TextBox 4"/>
          <p:cNvSpPr txBox="1"/>
          <p:nvPr/>
        </p:nvSpPr>
        <p:spPr>
          <a:xfrm>
            <a:off x="324612" y="210312"/>
            <a:ext cx="12188952" cy="707886"/>
          </a:xfrm>
          <a:prstGeom prst="rect">
            <a:avLst/>
          </a:prstGeom>
          <a:noFill/>
        </p:spPr>
        <p:txBody>
          <a:bodyPr wrap="square">
            <a:spAutoFit/>
          </a:bodyPr>
          <a:lstStyle/>
          <a:p>
            <a:pPr algn="l"/>
            <a:r>
              <a:rPr lang="fr-FR" sz="4000" b="1" i="0" noProof="0" dirty="0">
                <a:solidFill>
                  <a:srgbClr val="FFFFFF"/>
                </a:solidFill>
              </a:rPr>
              <a:t>Vision, génération d'images et chaines multimodales</a:t>
            </a:r>
          </a:p>
        </p:txBody>
      </p:sp>
      <p:sp>
        <p:nvSpPr>
          <p:cNvPr id="12" name="TextBox 11"/>
          <p:cNvSpPr txBox="1"/>
          <p:nvPr/>
        </p:nvSpPr>
        <p:spPr>
          <a:xfrm>
            <a:off x="325826" y="967403"/>
            <a:ext cx="5760720" cy="477054"/>
          </a:xfrm>
          <a:prstGeom prst="rect">
            <a:avLst/>
          </a:prstGeom>
          <a:noFill/>
        </p:spPr>
        <p:txBody>
          <a:bodyPr wrap="square">
            <a:spAutoFit/>
          </a:bodyPr>
          <a:lstStyle/>
          <a:p>
            <a:pPr algn="l"/>
            <a:r>
              <a:rPr lang="fr-FR" sz="2500" b="1" i="0" noProof="0" dirty="0">
                <a:solidFill>
                  <a:srgbClr val="38D4FF"/>
                </a:solidFill>
              </a:rPr>
              <a:t>Lecture / analyse visuelle</a:t>
            </a:r>
          </a:p>
        </p:txBody>
      </p:sp>
      <p:graphicFrame>
        <p:nvGraphicFramePr>
          <p:cNvPr id="13" name="Table 12"/>
          <p:cNvGraphicFramePr>
            <a:graphicFrameLocks noGrp="1"/>
          </p:cNvGraphicFramePr>
          <p:nvPr>
            <p:extLst>
              <p:ext uri="{D42A27DB-BD31-4B8C-83A1-F6EECF244321}">
                <p14:modId xmlns:p14="http://schemas.microsoft.com/office/powerpoint/2010/main" val="1116850828"/>
              </p:ext>
            </p:extLst>
          </p:nvPr>
        </p:nvGraphicFramePr>
        <p:xfrm>
          <a:off x="365760" y="1508760"/>
          <a:ext cx="5760720" cy="237744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475488">
                <a:tc>
                  <a:txBody>
                    <a:bodyPr/>
                    <a:lstStyle/>
                    <a:p>
                      <a:pPr algn="ctr"/>
                      <a:r>
                        <a:rPr lang="fr-FR" sz="1500" b="1" noProof="0" dirty="0">
                          <a:solidFill>
                            <a:srgbClr val="38D4FF"/>
                          </a:solidFill>
                        </a:rPr>
                        <a:t>Modèle</a:t>
                      </a:r>
                    </a:p>
                  </a:txBody>
                  <a:tcPr marT="63500" marB="63500">
                    <a:solidFill>
                      <a:srgbClr val="051A42"/>
                    </a:solidFill>
                  </a:tcPr>
                </a:tc>
                <a:tc>
                  <a:txBody>
                    <a:bodyPr/>
                    <a:lstStyle/>
                    <a:p>
                      <a:pPr algn="ctr"/>
                      <a:r>
                        <a:rPr lang="fr-FR" sz="1500" b="1" noProof="0" dirty="0">
                          <a:solidFill>
                            <a:srgbClr val="38D4FF"/>
                          </a:solidFill>
                        </a:rPr>
                        <a:t>Images</a:t>
                      </a:r>
                    </a:p>
                  </a:txBody>
                  <a:tcPr marT="63500" marB="63500">
                    <a:solidFill>
                      <a:srgbClr val="051A42"/>
                    </a:solidFill>
                  </a:tcPr>
                </a:tc>
                <a:tc>
                  <a:txBody>
                    <a:bodyPr/>
                    <a:lstStyle/>
                    <a:p>
                      <a:pPr algn="ctr"/>
                      <a:r>
                        <a:rPr lang="fr-FR" sz="1500" b="1" noProof="0" dirty="0">
                          <a:solidFill>
                            <a:srgbClr val="38D4FF"/>
                          </a:solidFill>
                        </a:rPr>
                        <a:t>OCR</a:t>
                      </a:r>
                    </a:p>
                  </a:txBody>
                  <a:tcPr marT="63500" marB="63500">
                    <a:solidFill>
                      <a:srgbClr val="051A42"/>
                    </a:solidFill>
                  </a:tcPr>
                </a:tc>
                <a:tc>
                  <a:txBody>
                    <a:bodyPr/>
                    <a:lstStyle/>
                    <a:p>
                      <a:pPr algn="ctr"/>
                      <a:r>
                        <a:rPr lang="fr-FR" sz="1500" b="1" noProof="0" dirty="0">
                          <a:solidFill>
                            <a:srgbClr val="38D4FF"/>
                          </a:solidFill>
                        </a:rPr>
                        <a:t>Prix / </a:t>
                      </a:r>
                      <a:r>
                        <a:rPr lang="fr-FR" sz="1500" b="1" noProof="0" dirty="0" err="1">
                          <a:solidFill>
                            <a:srgbClr val="38D4FF"/>
                          </a:solidFill>
                        </a:rPr>
                        <a:t>img</a:t>
                      </a:r>
                      <a:endParaRPr lang="fr-FR" sz="1500" b="1" noProof="0" dirty="0">
                        <a:solidFill>
                          <a:srgbClr val="38D4FF"/>
                        </a:solidFill>
                      </a:endParaRPr>
                    </a:p>
                  </a:txBody>
                  <a:tcPr marT="63500" marB="63500">
                    <a:solidFill>
                      <a:srgbClr val="051A42"/>
                    </a:solidFill>
                  </a:tcPr>
                </a:tc>
                <a:extLst>
                  <a:ext uri="{0D108BD9-81ED-4DB2-BD59-A6C34878D82A}">
                    <a16:rowId xmlns:a16="http://schemas.microsoft.com/office/drawing/2014/main" val="10000"/>
                  </a:ext>
                </a:extLst>
              </a:tr>
              <a:tr h="475488">
                <a:tc>
                  <a:txBody>
                    <a:bodyPr/>
                    <a:lstStyle/>
                    <a:p>
                      <a:pPr algn="l"/>
                      <a:r>
                        <a:rPr lang="fr-FR" sz="1500" noProof="0" dirty="0">
                          <a:solidFill>
                            <a:srgbClr val="E8EFF8"/>
                          </a:solidFill>
                        </a:rPr>
                        <a:t>GPT-4o Vision</a:t>
                      </a:r>
                    </a:p>
                  </a:txBody>
                  <a:tcPr marT="50800" marB="50800">
                    <a:solidFill>
                      <a:srgbClr val="061430"/>
                    </a:solidFill>
                  </a:tcPr>
                </a:tc>
                <a:tc>
                  <a:txBody>
                    <a:bodyPr/>
                    <a:lstStyle/>
                    <a:p>
                      <a:pPr algn="ctr"/>
                      <a:r>
                        <a:rPr lang="fr-FR" sz="1500" noProof="0" dirty="0">
                          <a:solidFill>
                            <a:srgbClr val="E8EFF8"/>
                          </a:solidFill>
                        </a:rPr>
                        <a:t>Oui</a:t>
                      </a:r>
                    </a:p>
                  </a:txBody>
                  <a:tcPr marT="50800" marB="50800">
                    <a:solidFill>
                      <a:srgbClr val="061430"/>
                    </a:solidFill>
                  </a:tcPr>
                </a:tc>
                <a:tc>
                  <a:txBody>
                    <a:bodyPr/>
                    <a:lstStyle/>
                    <a:p>
                      <a:pPr algn="ctr"/>
                      <a:r>
                        <a:rPr lang="fr-FR" sz="1500" noProof="0" dirty="0">
                          <a:solidFill>
                            <a:srgbClr val="E8EFF8"/>
                          </a:solidFill>
                        </a:rPr>
                        <a:t>Oui</a:t>
                      </a:r>
                    </a:p>
                  </a:txBody>
                  <a:tcPr marT="50800" marB="50800">
                    <a:solidFill>
                      <a:srgbClr val="061430"/>
                    </a:solidFill>
                  </a:tcPr>
                </a:tc>
                <a:tc>
                  <a:txBody>
                    <a:bodyPr/>
                    <a:lstStyle/>
                    <a:p>
                      <a:pPr algn="ctr"/>
                      <a:r>
                        <a:rPr lang="fr-FR" sz="1500" noProof="0" dirty="0">
                          <a:solidFill>
                            <a:srgbClr val="E8EFF8"/>
                          </a:solidFill>
                        </a:rPr>
                        <a:t>~0.010 $</a:t>
                      </a:r>
                    </a:p>
                  </a:txBody>
                  <a:tcPr marT="50800" marB="50800">
                    <a:solidFill>
                      <a:srgbClr val="061430"/>
                    </a:solidFill>
                  </a:tcPr>
                </a:tc>
                <a:extLst>
                  <a:ext uri="{0D108BD9-81ED-4DB2-BD59-A6C34878D82A}">
                    <a16:rowId xmlns:a16="http://schemas.microsoft.com/office/drawing/2014/main" val="10001"/>
                  </a:ext>
                </a:extLst>
              </a:tr>
              <a:tr h="475488">
                <a:tc>
                  <a:txBody>
                    <a:bodyPr/>
                    <a:lstStyle/>
                    <a:p>
                      <a:pPr algn="l"/>
                      <a:r>
                        <a:rPr lang="fr-FR" sz="1500" noProof="0" dirty="0">
                          <a:solidFill>
                            <a:srgbClr val="E8EFF8"/>
                          </a:solidFill>
                        </a:rPr>
                        <a:t>Claude 3.5 Sonnet</a:t>
                      </a:r>
                    </a:p>
                  </a:txBody>
                  <a:tcPr marT="50800" marB="50800">
                    <a:solidFill>
                      <a:srgbClr val="041028"/>
                    </a:solidFill>
                  </a:tcPr>
                </a:tc>
                <a:tc>
                  <a:txBody>
                    <a:bodyPr/>
                    <a:lstStyle/>
                    <a:p>
                      <a:pPr algn="ctr"/>
                      <a:r>
                        <a:rPr lang="fr-FR" sz="1500" noProof="0" dirty="0">
                          <a:solidFill>
                            <a:srgbClr val="E8EFF8"/>
                          </a:solidFill>
                        </a:rPr>
                        <a:t>Oui</a:t>
                      </a:r>
                    </a:p>
                  </a:txBody>
                  <a:tcPr marT="50800" marB="50800">
                    <a:solidFill>
                      <a:srgbClr val="041028"/>
                    </a:solidFill>
                  </a:tcPr>
                </a:tc>
                <a:tc>
                  <a:txBody>
                    <a:bodyPr/>
                    <a:lstStyle/>
                    <a:p>
                      <a:pPr algn="ctr"/>
                      <a:r>
                        <a:rPr lang="fr-FR" sz="1500" noProof="0" dirty="0">
                          <a:solidFill>
                            <a:srgbClr val="E8EFF8"/>
                          </a:solidFill>
                        </a:rPr>
                        <a:t>Oui</a:t>
                      </a:r>
                    </a:p>
                  </a:txBody>
                  <a:tcPr marT="50800" marB="50800">
                    <a:solidFill>
                      <a:srgbClr val="041028"/>
                    </a:solidFill>
                  </a:tcPr>
                </a:tc>
                <a:tc>
                  <a:txBody>
                    <a:bodyPr/>
                    <a:lstStyle/>
                    <a:p>
                      <a:pPr algn="ctr"/>
                      <a:r>
                        <a:rPr lang="fr-FR" sz="1500" noProof="0" dirty="0">
                          <a:solidFill>
                            <a:srgbClr val="E8EFF8"/>
                          </a:solidFill>
                        </a:rPr>
                        <a:t>~0.009 $</a:t>
                      </a:r>
                    </a:p>
                  </a:txBody>
                  <a:tcPr marT="50800" marB="50800">
                    <a:solidFill>
                      <a:srgbClr val="041028"/>
                    </a:solidFill>
                  </a:tcPr>
                </a:tc>
                <a:extLst>
                  <a:ext uri="{0D108BD9-81ED-4DB2-BD59-A6C34878D82A}">
                    <a16:rowId xmlns:a16="http://schemas.microsoft.com/office/drawing/2014/main" val="10002"/>
                  </a:ext>
                </a:extLst>
              </a:tr>
              <a:tr h="475488">
                <a:tc>
                  <a:txBody>
                    <a:bodyPr/>
                    <a:lstStyle/>
                    <a:p>
                      <a:pPr algn="l"/>
                      <a:r>
                        <a:rPr lang="fr-FR" sz="1500" noProof="0" dirty="0">
                          <a:solidFill>
                            <a:srgbClr val="E8EFF8"/>
                          </a:solidFill>
                        </a:rPr>
                        <a:t>Gemini 1.5 Pro</a:t>
                      </a:r>
                    </a:p>
                  </a:txBody>
                  <a:tcPr marT="50800" marB="50800">
                    <a:solidFill>
                      <a:srgbClr val="061430"/>
                    </a:solidFill>
                  </a:tcPr>
                </a:tc>
                <a:tc>
                  <a:txBody>
                    <a:bodyPr/>
                    <a:lstStyle/>
                    <a:p>
                      <a:pPr algn="ctr"/>
                      <a:r>
                        <a:rPr lang="fr-FR" sz="1500" noProof="0" dirty="0">
                          <a:solidFill>
                            <a:srgbClr val="E8EFF8"/>
                          </a:solidFill>
                        </a:rPr>
                        <a:t>Oui </a:t>
                      </a:r>
                    </a:p>
                  </a:txBody>
                  <a:tcPr marT="50800" marB="50800">
                    <a:solidFill>
                      <a:srgbClr val="061430"/>
                    </a:solidFill>
                  </a:tcPr>
                </a:tc>
                <a:tc>
                  <a:txBody>
                    <a:bodyPr/>
                    <a:lstStyle/>
                    <a:p>
                      <a:pPr algn="ctr"/>
                      <a:r>
                        <a:rPr lang="fr-FR" sz="1500" noProof="0" dirty="0">
                          <a:solidFill>
                            <a:srgbClr val="E8EFF8"/>
                          </a:solidFill>
                        </a:rPr>
                        <a:t>Oui</a:t>
                      </a:r>
                    </a:p>
                  </a:txBody>
                  <a:tcPr marT="50800" marB="50800">
                    <a:solidFill>
                      <a:srgbClr val="061430"/>
                    </a:solidFill>
                  </a:tcPr>
                </a:tc>
                <a:tc>
                  <a:txBody>
                    <a:bodyPr/>
                    <a:lstStyle/>
                    <a:p>
                      <a:pPr algn="ctr"/>
                      <a:r>
                        <a:rPr lang="fr-FR" sz="1500" noProof="0" dirty="0">
                          <a:solidFill>
                            <a:srgbClr val="E8EFF8"/>
                          </a:solidFill>
                        </a:rPr>
                        <a:t>~0.008 $</a:t>
                      </a:r>
                    </a:p>
                  </a:txBody>
                  <a:tcPr marT="50800" marB="50800">
                    <a:solidFill>
                      <a:srgbClr val="061430"/>
                    </a:solidFill>
                  </a:tcPr>
                </a:tc>
                <a:extLst>
                  <a:ext uri="{0D108BD9-81ED-4DB2-BD59-A6C34878D82A}">
                    <a16:rowId xmlns:a16="http://schemas.microsoft.com/office/drawing/2014/main" val="10003"/>
                  </a:ext>
                </a:extLst>
              </a:tr>
              <a:tr h="475488">
                <a:tc>
                  <a:txBody>
                    <a:bodyPr/>
                    <a:lstStyle/>
                    <a:p>
                      <a:pPr algn="l"/>
                      <a:r>
                        <a:rPr lang="fr-FR" sz="1500" noProof="0" dirty="0" err="1">
                          <a:solidFill>
                            <a:srgbClr val="E8EFF8"/>
                          </a:solidFill>
                        </a:rPr>
                        <a:t>LLaVA</a:t>
                      </a:r>
                      <a:r>
                        <a:rPr lang="fr-FR" sz="1500" noProof="0" dirty="0">
                          <a:solidFill>
                            <a:srgbClr val="E8EFF8"/>
                          </a:solidFill>
                        </a:rPr>
                        <a:t> 1.6 (open)</a:t>
                      </a:r>
                    </a:p>
                  </a:txBody>
                  <a:tcPr marT="50800" marB="50800">
                    <a:solidFill>
                      <a:srgbClr val="041028"/>
                    </a:solidFill>
                  </a:tcPr>
                </a:tc>
                <a:tc>
                  <a:txBody>
                    <a:bodyPr/>
                    <a:lstStyle/>
                    <a:p>
                      <a:pPr algn="ctr"/>
                      <a:r>
                        <a:rPr lang="fr-FR" sz="1500" noProof="0" dirty="0">
                          <a:solidFill>
                            <a:srgbClr val="E8EFF8"/>
                          </a:solidFill>
                        </a:rPr>
                        <a:t>Oui</a:t>
                      </a:r>
                    </a:p>
                  </a:txBody>
                  <a:tcPr marT="50800" marB="50800">
                    <a:solidFill>
                      <a:srgbClr val="041028"/>
                    </a:solidFill>
                  </a:tcPr>
                </a:tc>
                <a:tc>
                  <a:txBody>
                    <a:bodyPr/>
                    <a:lstStyle/>
                    <a:p>
                      <a:pPr algn="ctr"/>
                      <a:r>
                        <a:rPr lang="fr-FR" sz="1500" noProof="0" dirty="0">
                          <a:solidFill>
                            <a:srgbClr val="E8EFF8"/>
                          </a:solidFill>
                        </a:rPr>
                        <a:t>Partiel</a:t>
                      </a:r>
                    </a:p>
                  </a:txBody>
                  <a:tcPr marT="50800" marB="50800">
                    <a:solidFill>
                      <a:srgbClr val="041028"/>
                    </a:solidFill>
                  </a:tcPr>
                </a:tc>
                <a:tc>
                  <a:txBody>
                    <a:bodyPr/>
                    <a:lstStyle/>
                    <a:p>
                      <a:pPr algn="ctr"/>
                      <a:r>
                        <a:rPr lang="fr-FR" sz="1500" noProof="0" dirty="0">
                          <a:solidFill>
                            <a:srgbClr val="E8EFF8"/>
                          </a:solidFill>
                        </a:rPr>
                        <a:t>Gratuit*</a:t>
                      </a:r>
                    </a:p>
                  </a:txBody>
                  <a:tcPr marT="50800" marB="50800">
                    <a:solidFill>
                      <a:srgbClr val="041028"/>
                    </a:solidFill>
                  </a:tcPr>
                </a:tc>
                <a:extLst>
                  <a:ext uri="{0D108BD9-81ED-4DB2-BD59-A6C34878D82A}">
                    <a16:rowId xmlns:a16="http://schemas.microsoft.com/office/drawing/2014/main" val="10004"/>
                  </a:ext>
                </a:extLst>
              </a:tr>
            </a:tbl>
          </a:graphicData>
        </a:graphic>
      </p:graphicFrame>
      <p:sp>
        <p:nvSpPr>
          <p:cNvPr id="14" name="TextBox 13"/>
          <p:cNvSpPr txBox="1"/>
          <p:nvPr/>
        </p:nvSpPr>
        <p:spPr>
          <a:xfrm>
            <a:off x="6385055" y="976261"/>
            <a:ext cx="5486400" cy="477054"/>
          </a:xfrm>
          <a:prstGeom prst="rect">
            <a:avLst/>
          </a:prstGeom>
          <a:noFill/>
        </p:spPr>
        <p:txBody>
          <a:bodyPr wrap="square">
            <a:spAutoFit/>
          </a:bodyPr>
          <a:lstStyle/>
          <a:p>
            <a:pPr algn="l"/>
            <a:r>
              <a:rPr lang="fr-FR" sz="2500" b="1" i="0" noProof="0" dirty="0">
                <a:solidFill>
                  <a:srgbClr val="38D4FF"/>
                </a:solidFill>
              </a:rPr>
              <a:t>Génération de schémas carrière</a:t>
            </a:r>
          </a:p>
        </p:txBody>
      </p:sp>
      <p:graphicFrame>
        <p:nvGraphicFramePr>
          <p:cNvPr id="15" name="Table 14"/>
          <p:cNvGraphicFramePr>
            <a:graphicFrameLocks noGrp="1"/>
          </p:cNvGraphicFramePr>
          <p:nvPr>
            <p:extLst>
              <p:ext uri="{D42A27DB-BD31-4B8C-83A1-F6EECF244321}">
                <p14:modId xmlns:p14="http://schemas.microsoft.com/office/powerpoint/2010/main" val="2475406732"/>
              </p:ext>
            </p:extLst>
          </p:nvPr>
        </p:nvGraphicFramePr>
        <p:xfrm>
          <a:off x="6455664" y="1518819"/>
          <a:ext cx="5486400" cy="2379407"/>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527609">
                <a:tc>
                  <a:txBody>
                    <a:bodyPr/>
                    <a:lstStyle/>
                    <a:p>
                      <a:pPr algn="ctr"/>
                      <a:r>
                        <a:rPr lang="fr-FR" sz="1500" b="1" noProof="0" dirty="0">
                          <a:solidFill>
                            <a:srgbClr val="38D4FF"/>
                          </a:solidFill>
                        </a:rPr>
                        <a:t>Modèle</a:t>
                      </a:r>
                    </a:p>
                  </a:txBody>
                  <a:tcPr marT="63500" marB="63500">
                    <a:solidFill>
                      <a:srgbClr val="051A42"/>
                    </a:solidFill>
                  </a:tcPr>
                </a:tc>
                <a:tc>
                  <a:txBody>
                    <a:bodyPr/>
                    <a:lstStyle/>
                    <a:p>
                      <a:pPr algn="ctr"/>
                      <a:r>
                        <a:rPr lang="fr-FR" sz="1500" b="1" noProof="0" dirty="0">
                          <a:solidFill>
                            <a:srgbClr val="38D4FF"/>
                          </a:solidFill>
                        </a:rPr>
                        <a:t>Qualité</a:t>
                      </a:r>
                    </a:p>
                  </a:txBody>
                  <a:tcPr marT="63500" marB="63500">
                    <a:solidFill>
                      <a:srgbClr val="051A42"/>
                    </a:solidFill>
                  </a:tcPr>
                </a:tc>
                <a:tc>
                  <a:txBody>
                    <a:bodyPr/>
                    <a:lstStyle/>
                    <a:p>
                      <a:pPr algn="ctr"/>
                      <a:r>
                        <a:rPr lang="fr-FR" sz="1500" b="1" noProof="0" dirty="0">
                          <a:solidFill>
                            <a:srgbClr val="38D4FF"/>
                          </a:solidFill>
                        </a:rPr>
                        <a:t>Prix / image</a:t>
                      </a:r>
                    </a:p>
                  </a:txBody>
                  <a:tcPr marT="63500" marB="63500">
                    <a:solidFill>
                      <a:srgbClr val="051A42"/>
                    </a:solidFill>
                  </a:tcPr>
                </a:tc>
                <a:extLst>
                  <a:ext uri="{0D108BD9-81ED-4DB2-BD59-A6C34878D82A}">
                    <a16:rowId xmlns:a16="http://schemas.microsoft.com/office/drawing/2014/main" val="10000"/>
                  </a:ext>
                </a:extLst>
              </a:tr>
              <a:tr h="624853">
                <a:tc>
                  <a:txBody>
                    <a:bodyPr/>
                    <a:lstStyle/>
                    <a:p>
                      <a:pPr algn="l"/>
                      <a:r>
                        <a:rPr lang="fr-FR" sz="1500" noProof="0" dirty="0">
                          <a:solidFill>
                            <a:srgbClr val="E8EFF8"/>
                          </a:solidFill>
                        </a:rPr>
                        <a:t>DALL-E 3</a:t>
                      </a:r>
                    </a:p>
                  </a:txBody>
                  <a:tcPr marT="50800" marB="50800">
                    <a:solidFill>
                      <a:srgbClr val="061430"/>
                    </a:solidFill>
                  </a:tcPr>
                </a:tc>
                <a:tc>
                  <a:txBody>
                    <a:bodyPr/>
                    <a:lstStyle/>
                    <a:p>
                      <a:pPr algn="ctr"/>
                      <a:r>
                        <a:rPr lang="fr-FR" sz="1500" noProof="0" dirty="0">
                          <a:solidFill>
                            <a:srgbClr val="E8EFF8"/>
                          </a:solidFill>
                        </a:rPr>
                        <a:t>Très élevée</a:t>
                      </a:r>
                    </a:p>
                  </a:txBody>
                  <a:tcPr marT="50800" marB="50800">
                    <a:solidFill>
                      <a:srgbClr val="061430"/>
                    </a:solidFill>
                  </a:tcPr>
                </a:tc>
                <a:tc>
                  <a:txBody>
                    <a:bodyPr/>
                    <a:lstStyle/>
                    <a:p>
                      <a:pPr algn="ctr"/>
                      <a:r>
                        <a:rPr lang="fr-FR" sz="1500" noProof="0" dirty="0">
                          <a:solidFill>
                            <a:srgbClr val="E8EFF8"/>
                          </a:solidFill>
                        </a:rPr>
                        <a:t>~0.04 $</a:t>
                      </a:r>
                    </a:p>
                  </a:txBody>
                  <a:tcPr marT="50800" marB="50800">
                    <a:solidFill>
                      <a:srgbClr val="061430"/>
                    </a:solidFill>
                  </a:tcPr>
                </a:tc>
                <a:extLst>
                  <a:ext uri="{0D108BD9-81ED-4DB2-BD59-A6C34878D82A}">
                    <a16:rowId xmlns:a16="http://schemas.microsoft.com/office/drawing/2014/main" val="10001"/>
                  </a:ext>
                </a:extLst>
              </a:tr>
              <a:tr h="619432">
                <a:tc>
                  <a:txBody>
                    <a:bodyPr/>
                    <a:lstStyle/>
                    <a:p>
                      <a:pPr algn="l"/>
                      <a:r>
                        <a:rPr lang="fr-FR" sz="1500" noProof="0" dirty="0">
                          <a:solidFill>
                            <a:srgbClr val="E8EFF8"/>
                          </a:solidFill>
                        </a:rPr>
                        <a:t>Nano Banana</a:t>
                      </a:r>
                    </a:p>
                  </a:txBody>
                  <a:tcPr marT="50800" marB="50800">
                    <a:solidFill>
                      <a:srgbClr val="041028"/>
                    </a:solidFill>
                  </a:tcPr>
                </a:tc>
                <a:tc>
                  <a:txBody>
                    <a:bodyPr/>
                    <a:lstStyle/>
                    <a:p>
                      <a:pPr algn="ctr"/>
                      <a:r>
                        <a:rPr lang="fr-FR" sz="1500" noProof="0" dirty="0">
                          <a:solidFill>
                            <a:srgbClr val="E8EFF8"/>
                          </a:solidFill>
                        </a:rPr>
                        <a:t>Meilleure</a:t>
                      </a:r>
                    </a:p>
                  </a:txBody>
                  <a:tcPr marT="50800" marB="50800">
                    <a:solidFill>
                      <a:srgbClr val="041028"/>
                    </a:solidFill>
                  </a:tcPr>
                </a:tc>
                <a:tc>
                  <a:txBody>
                    <a:bodyPr/>
                    <a:lstStyle/>
                    <a:p>
                      <a:pPr algn="ctr"/>
                      <a:r>
                        <a:rPr lang="fr-FR" sz="1500" noProof="0" dirty="0">
                          <a:solidFill>
                            <a:srgbClr val="E8EFF8"/>
                          </a:solidFill>
                        </a:rPr>
                        <a:t>~0.05 $</a:t>
                      </a:r>
                    </a:p>
                  </a:txBody>
                  <a:tcPr marT="50800" marB="50800">
                    <a:solidFill>
                      <a:srgbClr val="041028"/>
                    </a:solidFill>
                  </a:tcPr>
                </a:tc>
                <a:extLst>
                  <a:ext uri="{0D108BD9-81ED-4DB2-BD59-A6C34878D82A}">
                    <a16:rowId xmlns:a16="http://schemas.microsoft.com/office/drawing/2014/main" val="10002"/>
                  </a:ext>
                </a:extLst>
              </a:tr>
              <a:tr h="607513">
                <a:tc>
                  <a:txBody>
                    <a:bodyPr/>
                    <a:lstStyle/>
                    <a:p>
                      <a:pPr algn="l"/>
                      <a:r>
                        <a:rPr lang="fr-FR" sz="1500" noProof="0" dirty="0" err="1">
                          <a:solidFill>
                            <a:srgbClr val="E8EFF8"/>
                          </a:solidFill>
                        </a:rPr>
                        <a:t>Midjouney</a:t>
                      </a:r>
                      <a:endParaRPr lang="fr-FR" sz="1500" noProof="0" dirty="0">
                        <a:solidFill>
                          <a:srgbClr val="E8EFF8"/>
                        </a:solidFill>
                      </a:endParaRPr>
                    </a:p>
                  </a:txBody>
                  <a:tcPr marT="50800" marB="50800">
                    <a:solidFill>
                      <a:srgbClr val="061430"/>
                    </a:solidFill>
                  </a:tcPr>
                </a:tc>
                <a:tc>
                  <a:txBody>
                    <a:bodyPr/>
                    <a:lstStyle/>
                    <a:p>
                      <a:pPr algn="ctr"/>
                      <a:r>
                        <a:rPr lang="fr-FR" sz="1500" noProof="0" dirty="0">
                          <a:solidFill>
                            <a:srgbClr val="E8EFF8"/>
                          </a:solidFill>
                        </a:rPr>
                        <a:t>Elevée</a:t>
                      </a:r>
                    </a:p>
                  </a:txBody>
                  <a:tcPr marT="50800" marB="50800">
                    <a:solidFill>
                      <a:srgbClr val="061430"/>
                    </a:solidFill>
                  </a:tcPr>
                </a:tc>
                <a:tc>
                  <a:txBody>
                    <a:bodyPr/>
                    <a:lstStyle/>
                    <a:p>
                      <a:pPr algn="ctr"/>
                      <a:r>
                        <a:rPr lang="fr-FR" sz="1500" noProof="0" dirty="0">
                          <a:solidFill>
                            <a:srgbClr val="E8EFF8"/>
                          </a:solidFill>
                        </a:rPr>
                        <a:t>~0.05 $</a:t>
                      </a:r>
                    </a:p>
                  </a:txBody>
                  <a:tcPr marT="50800" marB="50800">
                    <a:solidFill>
                      <a:srgbClr val="061430"/>
                    </a:solidFill>
                  </a:tcPr>
                </a:tc>
                <a:extLst>
                  <a:ext uri="{0D108BD9-81ED-4DB2-BD59-A6C34878D82A}">
                    <a16:rowId xmlns:a16="http://schemas.microsoft.com/office/drawing/2014/main" val="10003"/>
                  </a:ext>
                </a:extLst>
              </a:tr>
            </a:tbl>
          </a:graphicData>
        </a:graphic>
      </p:graphicFrame>
      <p:sp>
        <p:nvSpPr>
          <p:cNvPr id="16" name="TextBox 15"/>
          <p:cNvSpPr txBox="1"/>
          <p:nvPr/>
        </p:nvSpPr>
        <p:spPr>
          <a:xfrm>
            <a:off x="354846" y="3963806"/>
            <a:ext cx="5563092" cy="477054"/>
          </a:xfrm>
          <a:prstGeom prst="rect">
            <a:avLst/>
          </a:prstGeom>
          <a:noFill/>
        </p:spPr>
        <p:txBody>
          <a:bodyPr wrap="square">
            <a:spAutoFit/>
          </a:bodyPr>
          <a:lstStyle/>
          <a:p>
            <a:pPr algn="l"/>
            <a:r>
              <a:rPr lang="fr-FR" sz="2500" b="1" i="0" noProof="0" dirty="0">
                <a:solidFill>
                  <a:srgbClr val="38D4FF"/>
                </a:solidFill>
              </a:rPr>
              <a:t>Chaines multimodales applicables</a:t>
            </a:r>
          </a:p>
        </p:txBody>
      </p:sp>
      <p:sp>
        <p:nvSpPr>
          <p:cNvPr id="17" name="Rectangle 16"/>
          <p:cNvSpPr/>
          <p:nvPr/>
        </p:nvSpPr>
        <p:spPr>
          <a:xfrm>
            <a:off x="365760" y="4498848"/>
            <a:ext cx="2834640" cy="147910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500" noProof="0" dirty="0"/>
          </a:p>
        </p:txBody>
      </p:sp>
      <p:sp>
        <p:nvSpPr>
          <p:cNvPr id="19" name="TextBox 18"/>
          <p:cNvSpPr txBox="1"/>
          <p:nvPr/>
        </p:nvSpPr>
        <p:spPr>
          <a:xfrm>
            <a:off x="530352" y="4617720"/>
            <a:ext cx="2606040" cy="477054"/>
          </a:xfrm>
          <a:prstGeom prst="rect">
            <a:avLst/>
          </a:prstGeom>
          <a:noFill/>
        </p:spPr>
        <p:txBody>
          <a:bodyPr wrap="square">
            <a:spAutoFit/>
          </a:bodyPr>
          <a:lstStyle/>
          <a:p>
            <a:pPr algn="l"/>
            <a:r>
              <a:rPr lang="fr-FR" sz="2500" b="1" i="0" noProof="0" dirty="0">
                <a:solidFill>
                  <a:srgbClr val="38D4FF"/>
                </a:solidFill>
              </a:rPr>
              <a:t>Texte  &gt;  Texte</a:t>
            </a:r>
          </a:p>
        </p:txBody>
      </p:sp>
      <p:sp>
        <p:nvSpPr>
          <p:cNvPr id="20" name="TextBox 19"/>
          <p:cNvSpPr txBox="1"/>
          <p:nvPr/>
        </p:nvSpPr>
        <p:spPr>
          <a:xfrm>
            <a:off x="530352" y="5120640"/>
            <a:ext cx="2606040" cy="707886"/>
          </a:xfrm>
          <a:prstGeom prst="rect">
            <a:avLst/>
          </a:prstGeom>
          <a:noFill/>
        </p:spPr>
        <p:txBody>
          <a:bodyPr wrap="square">
            <a:spAutoFit/>
          </a:bodyPr>
          <a:lstStyle/>
          <a:p>
            <a:pPr algn="l"/>
            <a:r>
              <a:rPr lang="fr-FR" sz="2000" b="0" i="0" noProof="0" dirty="0">
                <a:solidFill>
                  <a:srgbClr val="E8EFF8"/>
                </a:solidFill>
              </a:rPr>
              <a:t>Génération séance
depuis profil cavalier</a:t>
            </a:r>
          </a:p>
        </p:txBody>
      </p:sp>
      <p:sp>
        <p:nvSpPr>
          <p:cNvPr id="21" name="Rectangle 20"/>
          <p:cNvSpPr/>
          <p:nvPr/>
        </p:nvSpPr>
        <p:spPr>
          <a:xfrm>
            <a:off x="3310128" y="4498848"/>
            <a:ext cx="2834640" cy="147910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3" name="TextBox 22"/>
          <p:cNvSpPr txBox="1"/>
          <p:nvPr/>
        </p:nvSpPr>
        <p:spPr>
          <a:xfrm>
            <a:off x="3474720" y="4617720"/>
            <a:ext cx="2606040" cy="477054"/>
          </a:xfrm>
          <a:prstGeom prst="rect">
            <a:avLst/>
          </a:prstGeom>
          <a:noFill/>
        </p:spPr>
        <p:txBody>
          <a:bodyPr wrap="square">
            <a:spAutoFit/>
          </a:bodyPr>
          <a:lstStyle/>
          <a:p>
            <a:pPr algn="l"/>
            <a:r>
              <a:rPr lang="fr-FR" sz="2500" b="1" i="0" noProof="0" dirty="0">
                <a:solidFill>
                  <a:srgbClr val="38D4FF"/>
                </a:solidFill>
              </a:rPr>
              <a:t>Image  &gt;  Texte</a:t>
            </a:r>
          </a:p>
        </p:txBody>
      </p:sp>
      <p:sp>
        <p:nvSpPr>
          <p:cNvPr id="24" name="TextBox 23"/>
          <p:cNvSpPr txBox="1"/>
          <p:nvPr/>
        </p:nvSpPr>
        <p:spPr>
          <a:xfrm>
            <a:off x="3474720" y="5120640"/>
            <a:ext cx="2606040" cy="707886"/>
          </a:xfrm>
          <a:prstGeom prst="rect">
            <a:avLst/>
          </a:prstGeom>
          <a:noFill/>
        </p:spPr>
        <p:txBody>
          <a:bodyPr wrap="square">
            <a:spAutoFit/>
          </a:bodyPr>
          <a:lstStyle/>
          <a:p>
            <a:pPr algn="l"/>
            <a:r>
              <a:rPr lang="fr-FR" sz="2000" b="0" i="0" noProof="0" dirty="0">
                <a:solidFill>
                  <a:srgbClr val="E8EFF8"/>
                </a:solidFill>
              </a:rPr>
              <a:t>Lire schéma Pinterest
analyser posture</a:t>
            </a:r>
          </a:p>
        </p:txBody>
      </p:sp>
      <p:sp>
        <p:nvSpPr>
          <p:cNvPr id="25" name="Rectangle 24"/>
          <p:cNvSpPr/>
          <p:nvPr/>
        </p:nvSpPr>
        <p:spPr>
          <a:xfrm>
            <a:off x="6254496" y="4498848"/>
            <a:ext cx="2834640" cy="147910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7" name="TextBox 26"/>
          <p:cNvSpPr txBox="1"/>
          <p:nvPr/>
        </p:nvSpPr>
        <p:spPr>
          <a:xfrm>
            <a:off x="6419088" y="4617720"/>
            <a:ext cx="2606040" cy="477054"/>
          </a:xfrm>
          <a:prstGeom prst="rect">
            <a:avLst/>
          </a:prstGeom>
          <a:noFill/>
        </p:spPr>
        <p:txBody>
          <a:bodyPr wrap="square">
            <a:spAutoFit/>
          </a:bodyPr>
          <a:lstStyle/>
          <a:p>
            <a:pPr algn="l"/>
            <a:r>
              <a:rPr lang="fr-FR" sz="2500" b="1" i="0" noProof="0" dirty="0">
                <a:solidFill>
                  <a:srgbClr val="38D4FF"/>
                </a:solidFill>
              </a:rPr>
              <a:t>Texte  &gt;  Image</a:t>
            </a:r>
          </a:p>
        </p:txBody>
      </p:sp>
      <p:sp>
        <p:nvSpPr>
          <p:cNvPr id="28" name="TextBox 27"/>
          <p:cNvSpPr txBox="1"/>
          <p:nvPr/>
        </p:nvSpPr>
        <p:spPr>
          <a:xfrm>
            <a:off x="6309360" y="5120640"/>
            <a:ext cx="2779776" cy="707886"/>
          </a:xfrm>
          <a:prstGeom prst="rect">
            <a:avLst/>
          </a:prstGeom>
          <a:noFill/>
        </p:spPr>
        <p:txBody>
          <a:bodyPr wrap="square">
            <a:spAutoFit/>
          </a:bodyPr>
          <a:lstStyle/>
          <a:p>
            <a:pPr algn="l"/>
            <a:r>
              <a:rPr lang="fr-FR" sz="2000" b="0" i="0" noProof="0" dirty="0">
                <a:solidFill>
                  <a:srgbClr val="E8EFF8"/>
                </a:solidFill>
              </a:rPr>
              <a:t>Générer des schémas carrière</a:t>
            </a:r>
            <a:r>
              <a:rPr lang="fr-FR" sz="2000" dirty="0">
                <a:solidFill>
                  <a:srgbClr val="E8EFF8"/>
                </a:solidFill>
              </a:rPr>
              <a:t> </a:t>
            </a:r>
            <a:r>
              <a:rPr lang="fr-FR" sz="2000" b="0" i="0" noProof="0" dirty="0">
                <a:solidFill>
                  <a:srgbClr val="E8EFF8"/>
                </a:solidFill>
              </a:rPr>
              <a:t>via Nano Banana</a:t>
            </a:r>
          </a:p>
        </p:txBody>
      </p:sp>
      <p:sp>
        <p:nvSpPr>
          <p:cNvPr id="29" name="Rectangle 28"/>
          <p:cNvSpPr/>
          <p:nvPr/>
        </p:nvSpPr>
        <p:spPr>
          <a:xfrm>
            <a:off x="9198864" y="4498848"/>
            <a:ext cx="2834640" cy="147910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1" name="TextBox 30"/>
          <p:cNvSpPr txBox="1"/>
          <p:nvPr/>
        </p:nvSpPr>
        <p:spPr>
          <a:xfrm>
            <a:off x="9363456" y="4617720"/>
            <a:ext cx="2606040" cy="477054"/>
          </a:xfrm>
          <a:prstGeom prst="rect">
            <a:avLst/>
          </a:prstGeom>
          <a:noFill/>
        </p:spPr>
        <p:txBody>
          <a:bodyPr wrap="square">
            <a:spAutoFit/>
          </a:bodyPr>
          <a:lstStyle/>
          <a:p>
            <a:pPr algn="l"/>
            <a:r>
              <a:rPr lang="fr-FR" sz="2500" b="1" i="0" noProof="0" dirty="0">
                <a:solidFill>
                  <a:srgbClr val="38D4FF"/>
                </a:solidFill>
              </a:rPr>
              <a:t>Vidéo  &gt;  Texte</a:t>
            </a:r>
          </a:p>
        </p:txBody>
      </p:sp>
      <p:sp>
        <p:nvSpPr>
          <p:cNvPr id="32" name="TextBox 31"/>
          <p:cNvSpPr txBox="1"/>
          <p:nvPr/>
        </p:nvSpPr>
        <p:spPr>
          <a:xfrm>
            <a:off x="9363456" y="5120640"/>
            <a:ext cx="2606040" cy="707886"/>
          </a:xfrm>
          <a:prstGeom prst="rect">
            <a:avLst/>
          </a:prstGeom>
          <a:noFill/>
        </p:spPr>
        <p:txBody>
          <a:bodyPr wrap="square">
            <a:spAutoFit/>
          </a:bodyPr>
          <a:lstStyle/>
          <a:p>
            <a:pPr algn="l"/>
            <a:r>
              <a:rPr lang="fr-FR" sz="2000" b="0" i="0" noProof="0" dirty="0">
                <a:solidFill>
                  <a:srgbClr val="E8EFF8"/>
                </a:solidFill>
              </a:rPr>
              <a:t>Analyser les séances
filmée pour les écrire</a:t>
            </a:r>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97AA003E-8DB7-AC0E-12FE-3C97AB7C4B6E}"/>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5" name="TextBox 4"/>
          <p:cNvSpPr txBox="1"/>
          <p:nvPr/>
        </p:nvSpPr>
        <p:spPr>
          <a:xfrm>
            <a:off x="365760" y="179082"/>
            <a:ext cx="10695530" cy="707886"/>
          </a:xfrm>
          <a:prstGeom prst="rect">
            <a:avLst/>
          </a:prstGeom>
          <a:noFill/>
        </p:spPr>
        <p:txBody>
          <a:bodyPr wrap="square">
            <a:spAutoFit/>
          </a:bodyPr>
          <a:lstStyle/>
          <a:p>
            <a:pPr algn="l"/>
            <a:r>
              <a:rPr lang="fr-FR" sz="4000" b="1" noProof="0" dirty="0">
                <a:solidFill>
                  <a:srgbClr val="FFFFFF"/>
                </a:solidFill>
              </a:rPr>
              <a:t>Les différentes s</a:t>
            </a:r>
            <a:r>
              <a:rPr lang="fr-FR" sz="4000" b="1" i="0" noProof="0" dirty="0">
                <a:solidFill>
                  <a:srgbClr val="FFFFFF"/>
                </a:solidFill>
              </a:rPr>
              <a:t>tratégies de personnalisation</a:t>
            </a:r>
          </a:p>
        </p:txBody>
      </p:sp>
      <p:graphicFrame>
        <p:nvGraphicFramePr>
          <p:cNvPr id="12" name="Table 11"/>
          <p:cNvGraphicFramePr>
            <a:graphicFrameLocks noGrp="1"/>
          </p:cNvGraphicFramePr>
          <p:nvPr>
            <p:extLst>
              <p:ext uri="{D42A27DB-BD31-4B8C-83A1-F6EECF244321}">
                <p14:modId xmlns:p14="http://schemas.microsoft.com/office/powerpoint/2010/main" val="2722738165"/>
              </p:ext>
            </p:extLst>
          </p:nvPr>
        </p:nvGraphicFramePr>
        <p:xfrm>
          <a:off x="365760" y="1134328"/>
          <a:ext cx="10990498" cy="4717761"/>
        </p:xfrm>
        <a:graphic>
          <a:graphicData uri="http://schemas.openxmlformats.org/drawingml/2006/table">
            <a:tbl>
              <a:tblPr firstRow="1" bandRow="1">
                <a:tableStyleId>{5C22544A-7EE6-4342-B048-85BDC9FD1C3A}</a:tableStyleId>
              </a:tblPr>
              <a:tblGrid>
                <a:gridCol w="2002506">
                  <a:extLst>
                    <a:ext uri="{9D8B030D-6E8A-4147-A177-3AD203B41FA5}">
                      <a16:colId xmlns:a16="http://schemas.microsoft.com/office/drawing/2014/main" val="20000"/>
                    </a:ext>
                  </a:extLst>
                </a:gridCol>
                <a:gridCol w="1024538">
                  <a:extLst>
                    <a:ext uri="{9D8B030D-6E8A-4147-A177-3AD203B41FA5}">
                      <a16:colId xmlns:a16="http://schemas.microsoft.com/office/drawing/2014/main" val="20001"/>
                    </a:ext>
                  </a:extLst>
                </a:gridCol>
                <a:gridCol w="1629947">
                  <a:extLst>
                    <a:ext uri="{9D8B030D-6E8A-4147-A177-3AD203B41FA5}">
                      <a16:colId xmlns:a16="http://schemas.microsoft.com/office/drawing/2014/main" val="20002"/>
                    </a:ext>
                  </a:extLst>
                </a:gridCol>
                <a:gridCol w="1117678">
                  <a:extLst>
                    <a:ext uri="{9D8B030D-6E8A-4147-A177-3AD203B41FA5}">
                      <a16:colId xmlns:a16="http://schemas.microsoft.com/office/drawing/2014/main" val="20003"/>
                    </a:ext>
                  </a:extLst>
                </a:gridCol>
                <a:gridCol w="1909365">
                  <a:extLst>
                    <a:ext uri="{9D8B030D-6E8A-4147-A177-3AD203B41FA5}">
                      <a16:colId xmlns:a16="http://schemas.microsoft.com/office/drawing/2014/main" val="20004"/>
                    </a:ext>
                  </a:extLst>
                </a:gridCol>
                <a:gridCol w="1769657">
                  <a:extLst>
                    <a:ext uri="{9D8B030D-6E8A-4147-A177-3AD203B41FA5}">
                      <a16:colId xmlns:a16="http://schemas.microsoft.com/office/drawing/2014/main" val="20005"/>
                    </a:ext>
                  </a:extLst>
                </a:gridCol>
                <a:gridCol w="1536807">
                  <a:extLst>
                    <a:ext uri="{9D8B030D-6E8A-4147-A177-3AD203B41FA5}">
                      <a16:colId xmlns:a16="http://schemas.microsoft.com/office/drawing/2014/main" val="20006"/>
                    </a:ext>
                  </a:extLst>
                </a:gridCol>
              </a:tblGrid>
              <a:tr h="723900">
                <a:tc>
                  <a:txBody>
                    <a:bodyPr/>
                    <a:lstStyle/>
                    <a:p>
                      <a:pPr algn="ctr"/>
                      <a:r>
                        <a:rPr lang="fr-FR" sz="2000" b="1" noProof="0" dirty="0">
                          <a:solidFill>
                            <a:srgbClr val="38D4FF"/>
                          </a:solidFill>
                        </a:rPr>
                        <a:t>Stratégie</a:t>
                      </a:r>
                    </a:p>
                  </a:txBody>
                  <a:tcPr marT="63500" marB="63500">
                    <a:solidFill>
                      <a:srgbClr val="051A42"/>
                    </a:solidFill>
                  </a:tcPr>
                </a:tc>
                <a:tc>
                  <a:txBody>
                    <a:bodyPr/>
                    <a:lstStyle/>
                    <a:p>
                      <a:pPr algn="ctr"/>
                      <a:r>
                        <a:rPr lang="fr-FR" sz="2000" b="1" noProof="0" dirty="0">
                          <a:solidFill>
                            <a:srgbClr val="38D4FF"/>
                          </a:solidFill>
                        </a:rPr>
                        <a:t>Cout </a:t>
                      </a:r>
                      <a:r>
                        <a:rPr lang="fr-FR" sz="2000" b="1" noProof="0" dirty="0" err="1">
                          <a:solidFill>
                            <a:srgbClr val="38D4FF"/>
                          </a:solidFill>
                        </a:rPr>
                        <a:t>impl</a:t>
                      </a:r>
                      <a:r>
                        <a:rPr lang="fr-FR" sz="2000" b="1" noProof="0" dirty="0">
                          <a:solidFill>
                            <a:srgbClr val="38D4FF"/>
                          </a:solidFill>
                        </a:rPr>
                        <a:t>.</a:t>
                      </a:r>
                    </a:p>
                  </a:txBody>
                  <a:tcPr marT="63500" marB="63500">
                    <a:solidFill>
                      <a:srgbClr val="051A42"/>
                    </a:solidFill>
                  </a:tcPr>
                </a:tc>
                <a:tc>
                  <a:txBody>
                    <a:bodyPr/>
                    <a:lstStyle/>
                    <a:p>
                      <a:pPr algn="ctr"/>
                      <a:r>
                        <a:rPr lang="fr-FR" sz="2000" b="1" noProof="0" dirty="0">
                          <a:solidFill>
                            <a:srgbClr val="38D4FF"/>
                          </a:solidFill>
                        </a:rPr>
                        <a:t>Données requises</a:t>
                      </a:r>
                    </a:p>
                  </a:txBody>
                  <a:tcPr marT="63500" marB="63500">
                    <a:solidFill>
                      <a:srgbClr val="051A42"/>
                    </a:solidFill>
                  </a:tcPr>
                </a:tc>
                <a:tc>
                  <a:txBody>
                    <a:bodyPr/>
                    <a:lstStyle/>
                    <a:p>
                      <a:pPr algn="ctr"/>
                      <a:r>
                        <a:rPr lang="fr-FR" sz="2000" b="1" noProof="0" dirty="0">
                          <a:solidFill>
                            <a:srgbClr val="38D4FF"/>
                          </a:solidFill>
                        </a:rPr>
                        <a:t>Niveau perso.</a:t>
                      </a:r>
                    </a:p>
                  </a:txBody>
                  <a:tcPr marT="63500" marB="63500">
                    <a:solidFill>
                      <a:srgbClr val="051A42"/>
                    </a:solidFill>
                  </a:tcPr>
                </a:tc>
                <a:tc>
                  <a:txBody>
                    <a:bodyPr/>
                    <a:lstStyle/>
                    <a:p>
                      <a:pPr algn="ctr"/>
                      <a:r>
                        <a:rPr lang="fr-FR" sz="2000" b="1" noProof="0" dirty="0">
                          <a:solidFill>
                            <a:srgbClr val="38D4FF"/>
                          </a:solidFill>
                        </a:rPr>
                        <a:t>Avantages</a:t>
                      </a:r>
                    </a:p>
                  </a:txBody>
                  <a:tcPr marT="63500" marB="63500">
                    <a:solidFill>
                      <a:srgbClr val="051A42"/>
                    </a:solidFill>
                  </a:tcPr>
                </a:tc>
                <a:tc>
                  <a:txBody>
                    <a:bodyPr/>
                    <a:lstStyle/>
                    <a:p>
                      <a:pPr algn="ctr"/>
                      <a:r>
                        <a:rPr lang="fr-FR" sz="2000" b="1" noProof="0" dirty="0">
                          <a:solidFill>
                            <a:srgbClr val="38D4FF"/>
                          </a:solidFill>
                        </a:rPr>
                        <a:t>Limites</a:t>
                      </a:r>
                    </a:p>
                  </a:txBody>
                  <a:tcPr marT="63500" marB="63500">
                    <a:solidFill>
                      <a:srgbClr val="051A42"/>
                    </a:solidFill>
                  </a:tcPr>
                </a:tc>
                <a:tc>
                  <a:txBody>
                    <a:bodyPr/>
                    <a:lstStyle/>
                    <a:p>
                      <a:pPr algn="ctr"/>
                      <a:r>
                        <a:rPr lang="fr-FR" sz="2000" b="1" noProof="0" dirty="0">
                          <a:solidFill>
                            <a:srgbClr val="38D4FF"/>
                          </a:solidFill>
                        </a:rPr>
                        <a:t>Usage cible</a:t>
                      </a:r>
                    </a:p>
                  </a:txBody>
                  <a:tcPr marT="63500" marB="63500">
                    <a:solidFill>
                      <a:srgbClr val="051A42"/>
                    </a:solidFill>
                  </a:tcPr>
                </a:tc>
                <a:extLst>
                  <a:ext uri="{0D108BD9-81ED-4DB2-BD59-A6C34878D82A}">
                    <a16:rowId xmlns:a16="http://schemas.microsoft.com/office/drawing/2014/main" val="10000"/>
                  </a:ext>
                </a:extLst>
              </a:tr>
              <a:tr h="714956">
                <a:tc>
                  <a:txBody>
                    <a:bodyPr/>
                    <a:lstStyle/>
                    <a:p>
                      <a:pPr algn="l"/>
                      <a:r>
                        <a:rPr lang="fr-FR" sz="1500" noProof="0" dirty="0">
                          <a:solidFill>
                            <a:srgbClr val="E8EFF8"/>
                          </a:solidFill>
                        </a:rPr>
                        <a:t>Prompt engineering</a:t>
                      </a:r>
                    </a:p>
                  </a:txBody>
                  <a:tcPr marT="50800" marB="50800">
                    <a:solidFill>
                      <a:srgbClr val="061430"/>
                    </a:solidFill>
                  </a:tcPr>
                </a:tc>
                <a:tc>
                  <a:txBody>
                    <a:bodyPr/>
                    <a:lstStyle/>
                    <a:p>
                      <a:pPr algn="ctr"/>
                      <a:r>
                        <a:rPr lang="fr-FR" sz="1500" noProof="0" dirty="0">
                          <a:solidFill>
                            <a:srgbClr val="E8EFF8"/>
                          </a:solidFill>
                        </a:rPr>
                        <a:t>Faible</a:t>
                      </a:r>
                    </a:p>
                  </a:txBody>
                  <a:tcPr marT="50800" marB="50800">
                    <a:solidFill>
                      <a:srgbClr val="061430"/>
                    </a:solidFill>
                  </a:tcPr>
                </a:tc>
                <a:tc>
                  <a:txBody>
                    <a:bodyPr/>
                    <a:lstStyle/>
                    <a:p>
                      <a:pPr algn="ctr"/>
                      <a:r>
                        <a:rPr lang="fr-FR" sz="1500" noProof="0" dirty="0">
                          <a:solidFill>
                            <a:srgbClr val="E8EFF8"/>
                          </a:solidFill>
                        </a:rPr>
                        <a:t>Aucune</a:t>
                      </a:r>
                    </a:p>
                  </a:txBody>
                  <a:tcPr marT="50800" marB="50800">
                    <a:solidFill>
                      <a:srgbClr val="061430"/>
                    </a:solidFill>
                  </a:tcPr>
                </a:tc>
                <a:tc>
                  <a:txBody>
                    <a:bodyPr/>
                    <a:lstStyle/>
                    <a:p>
                      <a:pPr algn="ctr"/>
                      <a:r>
                        <a:rPr lang="fr-FR" sz="1500" noProof="0" dirty="0">
                          <a:solidFill>
                            <a:srgbClr val="E8EFF8"/>
                          </a:solidFill>
                        </a:rPr>
                        <a:t>Faible</a:t>
                      </a:r>
                    </a:p>
                  </a:txBody>
                  <a:tcPr marT="50800" marB="50800">
                    <a:solidFill>
                      <a:srgbClr val="061430"/>
                    </a:solidFill>
                  </a:tcPr>
                </a:tc>
                <a:tc>
                  <a:txBody>
                    <a:bodyPr/>
                    <a:lstStyle/>
                    <a:p>
                      <a:pPr algn="ctr"/>
                      <a:r>
                        <a:rPr lang="fr-FR" sz="1500" noProof="0" dirty="0">
                          <a:solidFill>
                            <a:srgbClr val="E8EFF8"/>
                          </a:solidFill>
                        </a:rPr>
                        <a:t>Simple, sans infra</a:t>
                      </a:r>
                    </a:p>
                  </a:txBody>
                  <a:tcPr marT="50800" marB="50800">
                    <a:solidFill>
                      <a:srgbClr val="061430"/>
                    </a:solidFill>
                  </a:tcPr>
                </a:tc>
                <a:tc>
                  <a:txBody>
                    <a:bodyPr/>
                    <a:lstStyle/>
                    <a:p>
                      <a:pPr algn="ctr"/>
                      <a:r>
                        <a:rPr lang="fr-FR" sz="1500" noProof="0" dirty="0">
                          <a:solidFill>
                            <a:srgbClr val="E8EFF8"/>
                          </a:solidFill>
                        </a:rPr>
                        <a:t>Limite au contexte</a:t>
                      </a:r>
                    </a:p>
                  </a:txBody>
                  <a:tcPr marT="50800" marB="50800">
                    <a:solidFill>
                      <a:srgbClr val="061430"/>
                    </a:solidFill>
                  </a:tcPr>
                </a:tc>
                <a:tc>
                  <a:txBody>
                    <a:bodyPr/>
                    <a:lstStyle/>
                    <a:p>
                      <a:pPr algn="ctr"/>
                      <a:r>
                        <a:rPr lang="fr-FR" sz="1500" noProof="0" dirty="0">
                          <a:solidFill>
                            <a:srgbClr val="E8EFF8"/>
                          </a:solidFill>
                        </a:rPr>
                        <a:t>Prototype</a:t>
                      </a:r>
                    </a:p>
                  </a:txBody>
                  <a:tcPr marT="50800" marB="50800">
                    <a:solidFill>
                      <a:srgbClr val="061430"/>
                    </a:solidFill>
                  </a:tcPr>
                </a:tc>
                <a:extLst>
                  <a:ext uri="{0D108BD9-81ED-4DB2-BD59-A6C34878D82A}">
                    <a16:rowId xmlns:a16="http://schemas.microsoft.com/office/drawing/2014/main" val="10001"/>
                  </a:ext>
                </a:extLst>
              </a:tr>
              <a:tr h="723900">
                <a:tc>
                  <a:txBody>
                    <a:bodyPr/>
                    <a:lstStyle/>
                    <a:p>
                      <a:pPr algn="l"/>
                      <a:r>
                        <a:rPr lang="fr-FR" sz="1500" noProof="0" dirty="0">
                          <a:solidFill>
                            <a:srgbClr val="E8EFF8"/>
                          </a:solidFill>
                        </a:rPr>
                        <a:t>RAG</a:t>
                      </a:r>
                    </a:p>
                  </a:txBody>
                  <a:tcPr marT="50800" marB="50800">
                    <a:solidFill>
                      <a:srgbClr val="041028"/>
                    </a:solidFill>
                  </a:tcPr>
                </a:tc>
                <a:tc>
                  <a:txBody>
                    <a:bodyPr/>
                    <a:lstStyle/>
                    <a:p>
                      <a:pPr algn="ctr"/>
                      <a:r>
                        <a:rPr lang="fr-FR" sz="1500" noProof="0" dirty="0">
                          <a:solidFill>
                            <a:srgbClr val="E8EFF8"/>
                          </a:solidFill>
                        </a:rPr>
                        <a:t>Moyen</a:t>
                      </a:r>
                    </a:p>
                  </a:txBody>
                  <a:tcPr marT="50800" marB="50800">
                    <a:solidFill>
                      <a:srgbClr val="041028"/>
                    </a:solidFill>
                  </a:tcPr>
                </a:tc>
                <a:tc>
                  <a:txBody>
                    <a:bodyPr/>
                    <a:lstStyle/>
                    <a:p>
                      <a:pPr algn="ctr"/>
                      <a:r>
                        <a:rPr lang="fr-FR" sz="1500" noProof="0" dirty="0">
                          <a:solidFill>
                            <a:srgbClr val="E8EFF8"/>
                          </a:solidFill>
                        </a:rPr>
                        <a:t>Base vectorielle</a:t>
                      </a:r>
                    </a:p>
                  </a:txBody>
                  <a:tcPr marT="50800" marB="50800">
                    <a:solidFill>
                      <a:srgbClr val="041028"/>
                    </a:solidFill>
                  </a:tcPr>
                </a:tc>
                <a:tc>
                  <a:txBody>
                    <a:bodyPr/>
                    <a:lstStyle/>
                    <a:p>
                      <a:pPr algn="ctr"/>
                      <a:r>
                        <a:rPr lang="fr-FR" sz="1500" noProof="0" dirty="0">
                          <a:solidFill>
                            <a:srgbClr val="E8EFF8"/>
                          </a:solidFill>
                        </a:rPr>
                        <a:t>Elevé</a:t>
                      </a:r>
                    </a:p>
                  </a:txBody>
                  <a:tcPr marT="50800" marB="50800">
                    <a:solidFill>
                      <a:srgbClr val="041028"/>
                    </a:solidFill>
                  </a:tcPr>
                </a:tc>
                <a:tc>
                  <a:txBody>
                    <a:bodyPr/>
                    <a:lstStyle/>
                    <a:p>
                      <a:pPr algn="ctr"/>
                      <a:r>
                        <a:rPr lang="fr-FR" sz="1500" noProof="0" dirty="0">
                          <a:solidFill>
                            <a:srgbClr val="E8EFF8"/>
                          </a:solidFill>
                        </a:rPr>
                        <a:t>Mémoire externe illimitée</a:t>
                      </a:r>
                    </a:p>
                  </a:txBody>
                  <a:tcPr marT="50800" marB="50800">
                    <a:solidFill>
                      <a:srgbClr val="041028"/>
                    </a:solidFill>
                  </a:tcPr>
                </a:tc>
                <a:tc>
                  <a:txBody>
                    <a:bodyPr/>
                    <a:lstStyle/>
                    <a:p>
                      <a:pPr algn="ctr"/>
                      <a:r>
                        <a:rPr lang="fr-FR" sz="1500" noProof="0" dirty="0">
                          <a:solidFill>
                            <a:srgbClr val="E8EFF8"/>
                          </a:solidFill>
                        </a:rPr>
                        <a:t>Latence +50-200 ms</a:t>
                      </a:r>
                    </a:p>
                  </a:txBody>
                  <a:tcPr marT="50800" marB="50800">
                    <a:solidFill>
                      <a:srgbClr val="041028"/>
                    </a:solidFill>
                  </a:tcPr>
                </a:tc>
                <a:tc>
                  <a:txBody>
                    <a:bodyPr/>
                    <a:lstStyle/>
                    <a:p>
                      <a:pPr algn="ctr"/>
                      <a:r>
                        <a:rPr lang="fr-FR" sz="1500" noProof="0" dirty="0">
                          <a:solidFill>
                            <a:srgbClr val="E8EFF8"/>
                          </a:solidFill>
                        </a:rPr>
                        <a:t>V1 Production</a:t>
                      </a:r>
                    </a:p>
                  </a:txBody>
                  <a:tcPr marT="50800" marB="50800">
                    <a:solidFill>
                      <a:srgbClr val="041028"/>
                    </a:solidFill>
                  </a:tcPr>
                </a:tc>
                <a:extLst>
                  <a:ext uri="{0D108BD9-81ED-4DB2-BD59-A6C34878D82A}">
                    <a16:rowId xmlns:a16="http://schemas.microsoft.com/office/drawing/2014/main" val="10002"/>
                  </a:ext>
                </a:extLst>
              </a:tr>
              <a:tr h="899311">
                <a:tc>
                  <a:txBody>
                    <a:bodyPr/>
                    <a:lstStyle/>
                    <a:p>
                      <a:pPr algn="l"/>
                      <a:r>
                        <a:rPr lang="fr-FR" sz="1500" noProof="0" dirty="0">
                          <a:solidFill>
                            <a:srgbClr val="E8EFF8"/>
                          </a:solidFill>
                        </a:rPr>
                        <a:t>Fine-tuning</a:t>
                      </a:r>
                    </a:p>
                  </a:txBody>
                  <a:tcPr marT="50800" marB="50800">
                    <a:solidFill>
                      <a:srgbClr val="061430"/>
                    </a:solidFill>
                  </a:tcPr>
                </a:tc>
                <a:tc>
                  <a:txBody>
                    <a:bodyPr/>
                    <a:lstStyle/>
                    <a:p>
                      <a:pPr algn="ctr"/>
                      <a:r>
                        <a:rPr lang="fr-FR" sz="1500" noProof="0" dirty="0">
                          <a:solidFill>
                            <a:srgbClr val="E8EFF8"/>
                          </a:solidFill>
                        </a:rPr>
                        <a:t>Elevé</a:t>
                      </a:r>
                    </a:p>
                  </a:txBody>
                  <a:tcPr marT="50800" marB="50800">
                    <a:solidFill>
                      <a:srgbClr val="061430"/>
                    </a:solidFill>
                  </a:tcPr>
                </a:tc>
                <a:tc>
                  <a:txBody>
                    <a:bodyPr/>
                    <a:lstStyle/>
                    <a:p>
                      <a:pPr algn="ctr"/>
                      <a:r>
                        <a:rPr lang="fr-FR" sz="1500" noProof="0" dirty="0">
                          <a:solidFill>
                            <a:srgbClr val="E8EFF8"/>
                          </a:solidFill>
                        </a:rPr>
                        <a:t>1 000 – 10 000 ex.</a:t>
                      </a:r>
                    </a:p>
                  </a:txBody>
                  <a:tcPr marT="50800" marB="50800">
                    <a:solidFill>
                      <a:srgbClr val="061430"/>
                    </a:solidFill>
                  </a:tcPr>
                </a:tc>
                <a:tc>
                  <a:txBody>
                    <a:bodyPr/>
                    <a:lstStyle/>
                    <a:p>
                      <a:pPr algn="ctr"/>
                      <a:r>
                        <a:rPr lang="fr-FR" sz="1500" noProof="0" dirty="0">
                          <a:solidFill>
                            <a:srgbClr val="E8EFF8"/>
                          </a:solidFill>
                        </a:rPr>
                        <a:t>Très élevé</a:t>
                      </a:r>
                    </a:p>
                  </a:txBody>
                  <a:tcPr marT="50800" marB="50800">
                    <a:solidFill>
                      <a:srgbClr val="061430"/>
                    </a:solidFill>
                  </a:tcPr>
                </a:tc>
                <a:tc>
                  <a:txBody>
                    <a:bodyPr/>
                    <a:lstStyle/>
                    <a:p>
                      <a:pPr algn="ctr"/>
                      <a:r>
                        <a:rPr lang="fr-FR" sz="1500" noProof="0" dirty="0">
                          <a:solidFill>
                            <a:srgbClr val="E8EFF8"/>
                          </a:solidFill>
                        </a:rPr>
                        <a:t>Modèle spécialisé</a:t>
                      </a:r>
                    </a:p>
                  </a:txBody>
                  <a:tcPr marT="50800" marB="50800">
                    <a:solidFill>
                      <a:srgbClr val="061430"/>
                    </a:solidFill>
                  </a:tcPr>
                </a:tc>
                <a:tc>
                  <a:txBody>
                    <a:bodyPr/>
                    <a:lstStyle/>
                    <a:p>
                      <a:pPr algn="ctr"/>
                      <a:r>
                        <a:rPr lang="fr-FR" sz="1500" noProof="0" dirty="0">
                          <a:solidFill>
                            <a:srgbClr val="E8EFF8"/>
                          </a:solidFill>
                        </a:rPr>
                        <a:t>Couteux a maintenir</a:t>
                      </a:r>
                    </a:p>
                  </a:txBody>
                  <a:tcPr marT="50800" marB="50800">
                    <a:solidFill>
                      <a:srgbClr val="061430"/>
                    </a:solidFill>
                  </a:tcPr>
                </a:tc>
                <a:tc>
                  <a:txBody>
                    <a:bodyPr/>
                    <a:lstStyle/>
                    <a:p>
                      <a:pPr algn="ctr"/>
                      <a:r>
                        <a:rPr lang="fr-FR" sz="1500" noProof="0" dirty="0">
                          <a:solidFill>
                            <a:srgbClr val="E8EFF8"/>
                          </a:solidFill>
                        </a:rPr>
                        <a:t>V2 si budget</a:t>
                      </a:r>
                    </a:p>
                  </a:txBody>
                  <a:tcPr marT="50800" marB="50800">
                    <a:solidFill>
                      <a:srgbClr val="061430"/>
                    </a:solidFill>
                  </a:tcPr>
                </a:tc>
                <a:extLst>
                  <a:ext uri="{0D108BD9-81ED-4DB2-BD59-A6C34878D82A}">
                    <a16:rowId xmlns:a16="http://schemas.microsoft.com/office/drawing/2014/main" val="10003"/>
                  </a:ext>
                </a:extLst>
              </a:tr>
              <a:tr h="776748">
                <a:tc>
                  <a:txBody>
                    <a:bodyPr/>
                    <a:lstStyle/>
                    <a:p>
                      <a:pPr algn="l"/>
                      <a:r>
                        <a:rPr lang="fr-FR" sz="1500" noProof="0" dirty="0">
                          <a:solidFill>
                            <a:srgbClr val="E8EFF8"/>
                          </a:solidFill>
                        </a:rPr>
                        <a:t>Mémoire persistante</a:t>
                      </a:r>
                    </a:p>
                  </a:txBody>
                  <a:tcPr marT="50800" marB="50800">
                    <a:solidFill>
                      <a:srgbClr val="041028"/>
                    </a:solidFill>
                  </a:tcPr>
                </a:tc>
                <a:tc>
                  <a:txBody>
                    <a:bodyPr/>
                    <a:lstStyle/>
                    <a:p>
                      <a:pPr algn="ctr"/>
                      <a:r>
                        <a:rPr lang="fr-FR" sz="1500" noProof="0" dirty="0">
                          <a:solidFill>
                            <a:srgbClr val="E8EFF8"/>
                          </a:solidFill>
                        </a:rPr>
                        <a:t>Moyen</a:t>
                      </a:r>
                    </a:p>
                  </a:txBody>
                  <a:tcPr marT="50800" marB="50800">
                    <a:solidFill>
                      <a:srgbClr val="041028"/>
                    </a:solidFill>
                  </a:tcPr>
                </a:tc>
                <a:tc>
                  <a:txBody>
                    <a:bodyPr/>
                    <a:lstStyle/>
                    <a:p>
                      <a:pPr algn="ctr"/>
                      <a:r>
                        <a:rPr lang="fr-FR" sz="1500" noProof="0" dirty="0">
                          <a:solidFill>
                            <a:srgbClr val="E8EFF8"/>
                          </a:solidFill>
                        </a:rPr>
                        <a:t>BDD utilisateur</a:t>
                      </a:r>
                    </a:p>
                  </a:txBody>
                  <a:tcPr marT="50800" marB="50800">
                    <a:solidFill>
                      <a:srgbClr val="041028"/>
                    </a:solidFill>
                  </a:tcPr>
                </a:tc>
                <a:tc>
                  <a:txBody>
                    <a:bodyPr/>
                    <a:lstStyle/>
                    <a:p>
                      <a:pPr algn="ctr"/>
                      <a:r>
                        <a:rPr lang="fr-FR" sz="1500" noProof="0" dirty="0">
                          <a:solidFill>
                            <a:srgbClr val="E8EFF8"/>
                          </a:solidFill>
                        </a:rPr>
                        <a:t>Elevé</a:t>
                      </a:r>
                    </a:p>
                  </a:txBody>
                  <a:tcPr marT="50800" marB="50800">
                    <a:solidFill>
                      <a:srgbClr val="041028"/>
                    </a:solidFill>
                  </a:tcPr>
                </a:tc>
                <a:tc>
                  <a:txBody>
                    <a:bodyPr/>
                    <a:lstStyle/>
                    <a:p>
                      <a:pPr algn="ctr"/>
                      <a:r>
                        <a:rPr lang="fr-FR" sz="1500" noProof="0" dirty="0">
                          <a:solidFill>
                            <a:srgbClr val="E8EFF8"/>
                          </a:solidFill>
                        </a:rPr>
                        <a:t>Contexte long terme</a:t>
                      </a:r>
                    </a:p>
                  </a:txBody>
                  <a:tcPr marT="50800" marB="50800">
                    <a:solidFill>
                      <a:srgbClr val="041028"/>
                    </a:solidFill>
                  </a:tcPr>
                </a:tc>
                <a:tc>
                  <a:txBody>
                    <a:bodyPr/>
                    <a:lstStyle/>
                    <a:p>
                      <a:pPr algn="ctr"/>
                      <a:r>
                        <a:rPr lang="fr-FR" sz="1500" noProof="0" dirty="0">
                          <a:solidFill>
                            <a:srgbClr val="E8EFF8"/>
                          </a:solidFill>
                        </a:rPr>
                        <a:t>RGPD a gérer</a:t>
                      </a:r>
                    </a:p>
                  </a:txBody>
                  <a:tcPr marT="50800" marB="50800">
                    <a:solidFill>
                      <a:srgbClr val="041028"/>
                    </a:solidFill>
                  </a:tcPr>
                </a:tc>
                <a:tc>
                  <a:txBody>
                    <a:bodyPr/>
                    <a:lstStyle/>
                    <a:p>
                      <a:pPr algn="ctr"/>
                      <a:r>
                        <a:rPr lang="fr-FR" sz="1500" noProof="0" dirty="0">
                          <a:solidFill>
                            <a:srgbClr val="E8EFF8"/>
                          </a:solidFill>
                        </a:rPr>
                        <a:t>V1 Production</a:t>
                      </a:r>
                    </a:p>
                  </a:txBody>
                  <a:tcPr marT="50800" marB="50800">
                    <a:solidFill>
                      <a:srgbClr val="041028"/>
                    </a:solidFill>
                  </a:tcPr>
                </a:tc>
                <a:extLst>
                  <a:ext uri="{0D108BD9-81ED-4DB2-BD59-A6C34878D82A}">
                    <a16:rowId xmlns:a16="http://schemas.microsoft.com/office/drawing/2014/main" val="10004"/>
                  </a:ext>
                </a:extLst>
              </a:tr>
              <a:tr h="866246">
                <a:tc>
                  <a:txBody>
                    <a:bodyPr/>
                    <a:lstStyle/>
                    <a:p>
                      <a:pPr algn="l"/>
                      <a:r>
                        <a:rPr lang="fr-FR" sz="1500" noProof="0" dirty="0">
                          <a:solidFill>
                            <a:srgbClr val="E8EFF8"/>
                          </a:solidFill>
                        </a:rPr>
                        <a:t>Historique SQL</a:t>
                      </a:r>
                    </a:p>
                  </a:txBody>
                  <a:tcPr marT="50800" marB="50800">
                    <a:solidFill>
                      <a:srgbClr val="061430"/>
                    </a:solidFill>
                  </a:tcPr>
                </a:tc>
                <a:tc>
                  <a:txBody>
                    <a:bodyPr/>
                    <a:lstStyle/>
                    <a:p>
                      <a:pPr algn="ctr"/>
                      <a:r>
                        <a:rPr lang="fr-FR" sz="1500" noProof="0" dirty="0">
                          <a:solidFill>
                            <a:srgbClr val="E8EFF8"/>
                          </a:solidFill>
                        </a:rPr>
                        <a:t>Faible</a:t>
                      </a:r>
                    </a:p>
                  </a:txBody>
                  <a:tcPr marT="50800" marB="50800">
                    <a:solidFill>
                      <a:srgbClr val="061430"/>
                    </a:solidFill>
                  </a:tcPr>
                </a:tc>
                <a:tc>
                  <a:txBody>
                    <a:bodyPr/>
                    <a:lstStyle/>
                    <a:p>
                      <a:pPr algn="ctr"/>
                      <a:r>
                        <a:rPr lang="fr-FR" sz="1500" noProof="0" dirty="0">
                          <a:solidFill>
                            <a:srgbClr val="E8EFF8"/>
                          </a:solidFill>
                        </a:rPr>
                        <a:t>Séances enregistrées</a:t>
                      </a:r>
                    </a:p>
                  </a:txBody>
                  <a:tcPr marT="50800" marB="50800">
                    <a:solidFill>
                      <a:srgbClr val="061430"/>
                    </a:solidFill>
                  </a:tcPr>
                </a:tc>
                <a:tc>
                  <a:txBody>
                    <a:bodyPr/>
                    <a:lstStyle/>
                    <a:p>
                      <a:pPr algn="ctr"/>
                      <a:r>
                        <a:rPr lang="fr-FR" sz="1500" noProof="0" dirty="0">
                          <a:solidFill>
                            <a:srgbClr val="E8EFF8"/>
                          </a:solidFill>
                        </a:rPr>
                        <a:t>Moyen</a:t>
                      </a:r>
                    </a:p>
                  </a:txBody>
                  <a:tcPr marT="50800" marB="50800">
                    <a:solidFill>
                      <a:srgbClr val="061430"/>
                    </a:solidFill>
                  </a:tcPr>
                </a:tc>
                <a:tc>
                  <a:txBody>
                    <a:bodyPr/>
                    <a:lstStyle/>
                    <a:p>
                      <a:pPr algn="ctr"/>
                      <a:r>
                        <a:rPr lang="fr-FR" sz="1500" noProof="0" dirty="0">
                          <a:solidFill>
                            <a:srgbClr val="E8EFF8"/>
                          </a:solidFill>
                        </a:rPr>
                        <a:t>Facile et rapide</a:t>
                      </a:r>
                    </a:p>
                  </a:txBody>
                  <a:tcPr marT="50800" marB="50800">
                    <a:solidFill>
                      <a:srgbClr val="061430"/>
                    </a:solidFill>
                  </a:tcPr>
                </a:tc>
                <a:tc>
                  <a:txBody>
                    <a:bodyPr/>
                    <a:lstStyle/>
                    <a:p>
                      <a:pPr algn="ctr"/>
                      <a:r>
                        <a:rPr lang="fr-FR" sz="1500" noProof="0" dirty="0">
                          <a:solidFill>
                            <a:srgbClr val="E8EFF8"/>
                          </a:solidFill>
                        </a:rPr>
                        <a:t>Contexte limite</a:t>
                      </a:r>
                    </a:p>
                  </a:txBody>
                  <a:tcPr marT="50800" marB="50800">
                    <a:solidFill>
                      <a:srgbClr val="061430"/>
                    </a:solidFill>
                  </a:tcPr>
                </a:tc>
                <a:tc>
                  <a:txBody>
                    <a:bodyPr/>
                    <a:lstStyle/>
                    <a:p>
                      <a:pPr algn="ctr"/>
                      <a:r>
                        <a:rPr lang="fr-FR" sz="1500" noProof="0" dirty="0">
                          <a:solidFill>
                            <a:srgbClr val="E8EFF8"/>
                          </a:solidFill>
                        </a:rPr>
                        <a:t>Full RAG</a:t>
                      </a:r>
                    </a:p>
                  </a:txBody>
                  <a:tcPr marT="50800" marB="50800">
                    <a:solidFill>
                      <a:srgbClr val="061430"/>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332331" y="6127153"/>
            <a:ext cx="11430000" cy="384721"/>
          </a:xfrm>
          <a:prstGeom prst="rect">
            <a:avLst/>
          </a:prstGeom>
          <a:noFill/>
        </p:spPr>
        <p:txBody>
          <a:bodyPr wrap="square">
            <a:spAutoFit/>
          </a:bodyPr>
          <a:lstStyle/>
          <a:p>
            <a:pPr algn="l"/>
            <a:r>
              <a:rPr lang="fr-FR" sz="1900" b="1" i="0" noProof="0" dirty="0">
                <a:solidFill>
                  <a:srgbClr val="00B050"/>
                </a:solidFill>
              </a:rPr>
              <a:t>Architecture V1 recommandée : RAG (</a:t>
            </a:r>
            <a:r>
              <a:rPr lang="fr-FR" sz="1900" b="1" i="0" noProof="0" dirty="0" err="1">
                <a:solidFill>
                  <a:srgbClr val="00B050"/>
                </a:solidFill>
              </a:rPr>
              <a:t>pgvector</a:t>
            </a:r>
            <a:r>
              <a:rPr lang="fr-FR" sz="1900" b="1" i="0" noProof="0" dirty="0">
                <a:solidFill>
                  <a:srgbClr val="00B050"/>
                </a:solidFill>
              </a:rPr>
              <a:t>) + injection historique SQL + mémoire persistante (Mem0 API).</a:t>
            </a:r>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CB1F8AC7-7BEB-B7E0-CEB9-03EEF8A54FBC}"/>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5" name="TextBox 4"/>
          <p:cNvSpPr txBox="1"/>
          <p:nvPr/>
        </p:nvSpPr>
        <p:spPr>
          <a:xfrm>
            <a:off x="320167" y="126117"/>
            <a:ext cx="11475593" cy="707886"/>
          </a:xfrm>
          <a:prstGeom prst="rect">
            <a:avLst/>
          </a:prstGeom>
          <a:noFill/>
        </p:spPr>
        <p:txBody>
          <a:bodyPr wrap="square">
            <a:spAutoFit/>
          </a:bodyPr>
          <a:lstStyle/>
          <a:p>
            <a:pPr algn="l"/>
            <a:r>
              <a:rPr lang="fr-FR" sz="4000" b="1" i="0" noProof="0" dirty="0">
                <a:solidFill>
                  <a:srgbClr val="FFFFFF"/>
                </a:solidFill>
              </a:rPr>
              <a:t>Bases de données — SQL vs vectorielle vs hybride</a:t>
            </a:r>
          </a:p>
        </p:txBody>
      </p:sp>
      <p:graphicFrame>
        <p:nvGraphicFramePr>
          <p:cNvPr id="12" name="Table 11"/>
          <p:cNvGraphicFramePr>
            <a:graphicFrameLocks noGrp="1"/>
          </p:cNvGraphicFramePr>
          <p:nvPr>
            <p:extLst>
              <p:ext uri="{D42A27DB-BD31-4B8C-83A1-F6EECF244321}">
                <p14:modId xmlns:p14="http://schemas.microsoft.com/office/powerpoint/2010/main" val="2458041480"/>
              </p:ext>
            </p:extLst>
          </p:nvPr>
        </p:nvGraphicFramePr>
        <p:xfrm>
          <a:off x="365760" y="1115568"/>
          <a:ext cx="11155680" cy="4206240"/>
        </p:xfrm>
        <a:graphic>
          <a:graphicData uri="http://schemas.openxmlformats.org/drawingml/2006/table">
            <a:tbl>
              <a:tblPr firstRow="1" bandRow="1">
                <a:tableStyleId>{5C22544A-7EE6-4342-B048-85BDC9FD1C3A}</a:tableStyleId>
              </a:tblPr>
              <a:tblGrid>
                <a:gridCol w="15087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701040">
                <a:tc>
                  <a:txBody>
                    <a:bodyPr/>
                    <a:lstStyle/>
                    <a:p>
                      <a:pPr algn="ctr"/>
                      <a:r>
                        <a:rPr lang="fr-FR" sz="2000" b="1" noProof="0" dirty="0">
                          <a:solidFill>
                            <a:srgbClr val="38D4FF"/>
                          </a:solidFill>
                        </a:rPr>
                        <a:t>Type</a:t>
                      </a:r>
                    </a:p>
                  </a:txBody>
                  <a:tcPr marT="63500" marB="63500">
                    <a:solidFill>
                      <a:srgbClr val="051A42"/>
                    </a:solidFill>
                  </a:tcPr>
                </a:tc>
                <a:tc>
                  <a:txBody>
                    <a:bodyPr/>
                    <a:lstStyle/>
                    <a:p>
                      <a:pPr algn="ctr"/>
                      <a:r>
                        <a:rPr lang="fr-FR" sz="2000" b="1" noProof="0" dirty="0">
                          <a:solidFill>
                            <a:srgbClr val="38D4FF"/>
                          </a:solidFill>
                        </a:rPr>
                        <a:t>Technologie</a:t>
                      </a:r>
                    </a:p>
                  </a:txBody>
                  <a:tcPr marT="63500" marB="63500">
                    <a:solidFill>
                      <a:srgbClr val="051A42"/>
                    </a:solidFill>
                  </a:tcPr>
                </a:tc>
                <a:tc>
                  <a:txBody>
                    <a:bodyPr/>
                    <a:lstStyle/>
                    <a:p>
                      <a:pPr algn="ctr"/>
                      <a:r>
                        <a:rPr lang="fr-FR" sz="2000" b="1" noProof="0" dirty="0">
                          <a:solidFill>
                            <a:srgbClr val="38D4FF"/>
                          </a:solidFill>
                        </a:rPr>
                        <a:t>Usage</a:t>
                      </a:r>
                    </a:p>
                  </a:txBody>
                  <a:tcPr marT="63500" marB="63500">
                    <a:solidFill>
                      <a:srgbClr val="051A42"/>
                    </a:solidFill>
                  </a:tcPr>
                </a:tc>
                <a:tc>
                  <a:txBody>
                    <a:bodyPr/>
                    <a:lstStyle/>
                    <a:p>
                      <a:pPr algn="ctr"/>
                      <a:r>
                        <a:rPr lang="fr-FR" sz="2000" b="1" noProof="0" dirty="0">
                          <a:solidFill>
                            <a:srgbClr val="38D4FF"/>
                          </a:solidFill>
                        </a:rPr>
                        <a:t>Avantage </a:t>
                      </a:r>
                      <a:r>
                        <a:rPr lang="fr-FR" sz="2000" b="1" noProof="0" dirty="0" err="1">
                          <a:solidFill>
                            <a:srgbClr val="38D4FF"/>
                          </a:solidFill>
                        </a:rPr>
                        <a:t>cle</a:t>
                      </a:r>
                      <a:endParaRPr lang="fr-FR" sz="2000" b="1" noProof="0" dirty="0">
                        <a:solidFill>
                          <a:srgbClr val="38D4FF"/>
                        </a:solidFill>
                      </a:endParaRPr>
                    </a:p>
                  </a:txBody>
                  <a:tcPr marT="63500" marB="63500">
                    <a:solidFill>
                      <a:srgbClr val="051A42"/>
                    </a:solidFill>
                  </a:tcPr>
                </a:tc>
                <a:tc>
                  <a:txBody>
                    <a:bodyPr/>
                    <a:lstStyle/>
                    <a:p>
                      <a:pPr algn="ctr"/>
                      <a:r>
                        <a:rPr lang="fr-FR" sz="2000" b="1" noProof="0" dirty="0">
                          <a:solidFill>
                            <a:srgbClr val="38D4FF"/>
                          </a:solidFill>
                        </a:rPr>
                        <a:t>Limite</a:t>
                      </a:r>
                    </a:p>
                  </a:txBody>
                  <a:tcPr marT="63500" marB="63500">
                    <a:solidFill>
                      <a:srgbClr val="051A42"/>
                    </a:solidFill>
                  </a:tcPr>
                </a:tc>
                <a:tc>
                  <a:txBody>
                    <a:bodyPr/>
                    <a:lstStyle/>
                    <a:p>
                      <a:pPr algn="ctr"/>
                      <a:r>
                        <a:rPr lang="fr-FR" sz="2000" b="1" noProof="0" dirty="0">
                          <a:solidFill>
                            <a:srgbClr val="38D4FF"/>
                          </a:solidFill>
                        </a:rPr>
                        <a:t>Cout estime</a:t>
                      </a:r>
                    </a:p>
                  </a:txBody>
                  <a:tcPr marT="63500" marB="63500">
                    <a:solidFill>
                      <a:srgbClr val="051A42"/>
                    </a:solidFill>
                  </a:tcPr>
                </a:tc>
                <a:extLst>
                  <a:ext uri="{0D108BD9-81ED-4DB2-BD59-A6C34878D82A}">
                    <a16:rowId xmlns:a16="http://schemas.microsoft.com/office/drawing/2014/main" val="10000"/>
                  </a:ext>
                </a:extLst>
              </a:tr>
              <a:tr h="701040">
                <a:tc>
                  <a:txBody>
                    <a:bodyPr/>
                    <a:lstStyle/>
                    <a:p>
                      <a:pPr algn="l"/>
                      <a:r>
                        <a:rPr lang="fr-FR" sz="1500" noProof="0" dirty="0">
                          <a:solidFill>
                            <a:srgbClr val="E8EFF8"/>
                          </a:solidFill>
                        </a:rPr>
                        <a:t>SQL relationnel</a:t>
                      </a:r>
                    </a:p>
                  </a:txBody>
                  <a:tcPr marT="50800" marB="50800">
                    <a:solidFill>
                      <a:srgbClr val="061430"/>
                    </a:solidFill>
                  </a:tcPr>
                </a:tc>
                <a:tc>
                  <a:txBody>
                    <a:bodyPr/>
                    <a:lstStyle/>
                    <a:p>
                      <a:pPr algn="ctr"/>
                      <a:r>
                        <a:rPr lang="fr-FR" sz="1500" noProof="0" dirty="0">
                          <a:solidFill>
                            <a:srgbClr val="E8EFF8"/>
                          </a:solidFill>
                        </a:rPr>
                        <a:t>PostgreSQL</a:t>
                      </a:r>
                    </a:p>
                  </a:txBody>
                  <a:tcPr marT="50800" marB="50800">
                    <a:solidFill>
                      <a:srgbClr val="061430"/>
                    </a:solidFill>
                  </a:tcPr>
                </a:tc>
                <a:tc>
                  <a:txBody>
                    <a:bodyPr/>
                    <a:lstStyle/>
                    <a:p>
                      <a:pPr algn="ctr"/>
                      <a:r>
                        <a:rPr lang="fr-FR" sz="1500" noProof="0" dirty="0">
                          <a:solidFill>
                            <a:srgbClr val="E8EFF8"/>
                          </a:solidFill>
                        </a:rPr>
                        <a:t>Profils, historiques, </a:t>
                      </a:r>
                      <a:r>
                        <a:rPr lang="fr-FR" sz="1500" noProof="0" dirty="0" err="1">
                          <a:solidFill>
                            <a:srgbClr val="E8EFF8"/>
                          </a:solidFill>
                        </a:rPr>
                        <a:t>meta</a:t>
                      </a:r>
                      <a:endParaRPr lang="fr-FR" sz="1500" noProof="0" dirty="0">
                        <a:solidFill>
                          <a:srgbClr val="E8EFF8"/>
                        </a:solidFill>
                      </a:endParaRPr>
                    </a:p>
                  </a:txBody>
                  <a:tcPr marT="50800" marB="50800">
                    <a:solidFill>
                      <a:srgbClr val="061430"/>
                    </a:solidFill>
                  </a:tcPr>
                </a:tc>
                <a:tc>
                  <a:txBody>
                    <a:bodyPr/>
                    <a:lstStyle/>
                    <a:p>
                      <a:pPr algn="ctr"/>
                      <a:r>
                        <a:rPr lang="fr-FR" sz="1500" noProof="0" dirty="0">
                          <a:solidFill>
                            <a:srgbClr val="E8EFF8"/>
                          </a:solidFill>
                        </a:rPr>
                        <a:t>ACID, requêtes complexes</a:t>
                      </a:r>
                    </a:p>
                  </a:txBody>
                  <a:tcPr marT="50800" marB="50800">
                    <a:solidFill>
                      <a:srgbClr val="061430"/>
                    </a:solidFill>
                  </a:tcPr>
                </a:tc>
                <a:tc>
                  <a:txBody>
                    <a:bodyPr/>
                    <a:lstStyle/>
                    <a:p>
                      <a:pPr algn="ctr"/>
                      <a:r>
                        <a:rPr lang="fr-FR" sz="1500" noProof="0" dirty="0">
                          <a:solidFill>
                            <a:srgbClr val="E8EFF8"/>
                          </a:solidFill>
                        </a:rPr>
                        <a:t>Pas de sémantique</a:t>
                      </a:r>
                    </a:p>
                  </a:txBody>
                  <a:tcPr marT="50800" marB="50800">
                    <a:solidFill>
                      <a:srgbClr val="061430"/>
                    </a:solidFill>
                  </a:tcPr>
                </a:tc>
                <a:tc>
                  <a:txBody>
                    <a:bodyPr/>
                    <a:lstStyle/>
                    <a:p>
                      <a:pPr algn="ctr"/>
                      <a:r>
                        <a:rPr lang="fr-FR" sz="1500" noProof="0" dirty="0">
                          <a:solidFill>
                            <a:srgbClr val="E8EFF8"/>
                          </a:solidFill>
                        </a:rPr>
                        <a:t>Gratuit / ~20 $ cloud</a:t>
                      </a:r>
                    </a:p>
                  </a:txBody>
                  <a:tcPr marT="50800" marB="50800">
                    <a:solidFill>
                      <a:srgbClr val="061430"/>
                    </a:solidFill>
                  </a:tcPr>
                </a:tc>
                <a:extLst>
                  <a:ext uri="{0D108BD9-81ED-4DB2-BD59-A6C34878D82A}">
                    <a16:rowId xmlns:a16="http://schemas.microsoft.com/office/drawing/2014/main" val="10001"/>
                  </a:ext>
                </a:extLst>
              </a:tr>
              <a:tr h="701040">
                <a:tc>
                  <a:txBody>
                    <a:bodyPr/>
                    <a:lstStyle/>
                    <a:p>
                      <a:pPr algn="l"/>
                      <a:r>
                        <a:rPr lang="fr-FR" sz="1500" noProof="0" dirty="0">
                          <a:solidFill>
                            <a:srgbClr val="E8EFF8"/>
                          </a:solidFill>
                        </a:rPr>
                        <a:t>Vectorielle</a:t>
                      </a:r>
                    </a:p>
                  </a:txBody>
                  <a:tcPr marT="50800" marB="50800">
                    <a:solidFill>
                      <a:srgbClr val="041028"/>
                    </a:solidFill>
                  </a:tcPr>
                </a:tc>
                <a:tc>
                  <a:txBody>
                    <a:bodyPr/>
                    <a:lstStyle/>
                    <a:p>
                      <a:pPr algn="ctr"/>
                      <a:r>
                        <a:rPr lang="fr-FR" sz="1500" noProof="0" dirty="0" err="1">
                          <a:solidFill>
                            <a:srgbClr val="E8EFF8"/>
                          </a:solidFill>
                        </a:rPr>
                        <a:t>Pinecone</a:t>
                      </a:r>
                      <a:endParaRPr lang="fr-FR" sz="1500" noProof="0" dirty="0">
                        <a:solidFill>
                          <a:srgbClr val="E8EFF8"/>
                        </a:solidFill>
                      </a:endParaRPr>
                    </a:p>
                  </a:txBody>
                  <a:tcPr marT="50800" marB="50800">
                    <a:solidFill>
                      <a:srgbClr val="041028"/>
                    </a:solidFill>
                  </a:tcPr>
                </a:tc>
                <a:tc>
                  <a:txBody>
                    <a:bodyPr/>
                    <a:lstStyle/>
                    <a:p>
                      <a:pPr algn="ctr"/>
                      <a:r>
                        <a:rPr lang="fr-FR" sz="1500" noProof="0" dirty="0">
                          <a:solidFill>
                            <a:srgbClr val="E8EFF8"/>
                          </a:solidFill>
                        </a:rPr>
                        <a:t>Similarité, RAG</a:t>
                      </a:r>
                    </a:p>
                  </a:txBody>
                  <a:tcPr marT="50800" marB="50800">
                    <a:solidFill>
                      <a:srgbClr val="041028"/>
                    </a:solidFill>
                  </a:tcPr>
                </a:tc>
                <a:tc>
                  <a:txBody>
                    <a:bodyPr/>
                    <a:lstStyle/>
                    <a:p>
                      <a:pPr algn="ctr"/>
                      <a:r>
                        <a:rPr lang="fr-FR" sz="1500" noProof="0" dirty="0">
                          <a:solidFill>
                            <a:srgbClr val="E8EFF8"/>
                          </a:solidFill>
                        </a:rPr>
                        <a:t>Recherche sémantique rapide</a:t>
                      </a:r>
                    </a:p>
                  </a:txBody>
                  <a:tcPr marT="50800" marB="50800">
                    <a:solidFill>
                      <a:srgbClr val="041028"/>
                    </a:solidFill>
                  </a:tcPr>
                </a:tc>
                <a:tc>
                  <a:txBody>
                    <a:bodyPr/>
                    <a:lstStyle/>
                    <a:p>
                      <a:pPr algn="ctr"/>
                      <a:r>
                        <a:rPr lang="fr-FR" sz="1500" noProof="0" dirty="0">
                          <a:solidFill>
                            <a:srgbClr val="E8EFF8"/>
                          </a:solidFill>
                        </a:rPr>
                        <a:t>Pas de jointures</a:t>
                      </a:r>
                    </a:p>
                  </a:txBody>
                  <a:tcPr marT="50800" marB="50800">
                    <a:solidFill>
                      <a:srgbClr val="041028"/>
                    </a:solidFill>
                  </a:tcPr>
                </a:tc>
                <a:tc>
                  <a:txBody>
                    <a:bodyPr/>
                    <a:lstStyle/>
                    <a:p>
                      <a:pPr algn="ctr"/>
                      <a:r>
                        <a:rPr lang="fr-FR" sz="1500" noProof="0" dirty="0">
                          <a:solidFill>
                            <a:srgbClr val="E8EFF8"/>
                          </a:solidFill>
                        </a:rPr>
                        <a:t>~25-70 $ / mois</a:t>
                      </a:r>
                    </a:p>
                  </a:txBody>
                  <a:tcPr marT="50800" marB="50800">
                    <a:solidFill>
                      <a:srgbClr val="041028"/>
                    </a:solidFill>
                  </a:tcPr>
                </a:tc>
                <a:extLst>
                  <a:ext uri="{0D108BD9-81ED-4DB2-BD59-A6C34878D82A}">
                    <a16:rowId xmlns:a16="http://schemas.microsoft.com/office/drawing/2014/main" val="10002"/>
                  </a:ext>
                </a:extLst>
              </a:tr>
              <a:tr h="701040">
                <a:tc>
                  <a:txBody>
                    <a:bodyPr/>
                    <a:lstStyle/>
                    <a:p>
                      <a:pPr algn="l"/>
                      <a:r>
                        <a:rPr lang="fr-FR" sz="1500" noProof="0" dirty="0">
                          <a:solidFill>
                            <a:srgbClr val="E8EFF8"/>
                          </a:solidFill>
                        </a:rPr>
                        <a:t>SQL + vecteur</a:t>
                      </a:r>
                    </a:p>
                  </a:txBody>
                  <a:tcPr marT="50800" marB="50800">
                    <a:solidFill>
                      <a:srgbClr val="061430"/>
                    </a:solidFill>
                  </a:tcPr>
                </a:tc>
                <a:tc>
                  <a:txBody>
                    <a:bodyPr/>
                    <a:lstStyle/>
                    <a:p>
                      <a:pPr algn="ctr"/>
                      <a:r>
                        <a:rPr lang="fr-FR" sz="1500" noProof="0" dirty="0">
                          <a:solidFill>
                            <a:srgbClr val="E8EFF8"/>
                          </a:solidFill>
                        </a:rPr>
                        <a:t>PostgreSQL + </a:t>
                      </a:r>
                      <a:r>
                        <a:rPr lang="fr-FR" sz="1500" noProof="0" dirty="0" err="1">
                          <a:solidFill>
                            <a:srgbClr val="E8EFF8"/>
                          </a:solidFill>
                        </a:rPr>
                        <a:t>pgvector</a:t>
                      </a:r>
                      <a:endParaRPr lang="fr-FR" sz="1500" noProof="0" dirty="0">
                        <a:solidFill>
                          <a:srgbClr val="E8EFF8"/>
                        </a:solidFill>
                      </a:endParaRPr>
                    </a:p>
                  </a:txBody>
                  <a:tcPr marT="50800" marB="50800">
                    <a:solidFill>
                      <a:srgbClr val="061430"/>
                    </a:solidFill>
                  </a:tcPr>
                </a:tc>
                <a:tc>
                  <a:txBody>
                    <a:bodyPr/>
                    <a:lstStyle/>
                    <a:p>
                      <a:pPr algn="ctr"/>
                      <a:r>
                        <a:rPr lang="fr-FR" sz="1500" noProof="0" dirty="0">
                          <a:solidFill>
                            <a:srgbClr val="E8EFF8"/>
                          </a:solidFill>
                        </a:rPr>
                        <a:t>Profil + RAG unifie</a:t>
                      </a:r>
                    </a:p>
                  </a:txBody>
                  <a:tcPr marT="50800" marB="50800">
                    <a:solidFill>
                      <a:srgbClr val="061430"/>
                    </a:solidFill>
                  </a:tcPr>
                </a:tc>
                <a:tc>
                  <a:txBody>
                    <a:bodyPr/>
                    <a:lstStyle/>
                    <a:p>
                      <a:pPr algn="ctr"/>
                      <a:r>
                        <a:rPr lang="fr-FR" sz="1500" noProof="0" dirty="0">
                          <a:solidFill>
                            <a:srgbClr val="E8EFF8"/>
                          </a:solidFill>
                        </a:rPr>
                        <a:t>Un seul service</a:t>
                      </a:r>
                    </a:p>
                  </a:txBody>
                  <a:tcPr marT="50800" marB="50800">
                    <a:solidFill>
                      <a:srgbClr val="061430"/>
                    </a:solidFill>
                  </a:tcPr>
                </a:tc>
                <a:tc>
                  <a:txBody>
                    <a:bodyPr/>
                    <a:lstStyle/>
                    <a:p>
                      <a:pPr algn="ctr"/>
                      <a:r>
                        <a:rPr lang="fr-FR" sz="1500" noProof="0" dirty="0">
                          <a:solidFill>
                            <a:srgbClr val="E8EFF8"/>
                          </a:solidFill>
                        </a:rPr>
                        <a:t>Perf. &lt; </a:t>
                      </a:r>
                      <a:r>
                        <a:rPr lang="fr-FR" sz="1500" noProof="0" dirty="0" err="1">
                          <a:solidFill>
                            <a:srgbClr val="E8EFF8"/>
                          </a:solidFill>
                        </a:rPr>
                        <a:t>Pinecone</a:t>
                      </a:r>
                      <a:r>
                        <a:rPr lang="fr-FR" sz="1500" noProof="0" dirty="0">
                          <a:solidFill>
                            <a:srgbClr val="E8EFF8"/>
                          </a:solidFill>
                        </a:rPr>
                        <a:t> @ </a:t>
                      </a:r>
                      <a:r>
                        <a:rPr lang="fr-FR" sz="1500" noProof="0" dirty="0" err="1">
                          <a:solidFill>
                            <a:srgbClr val="E8EFF8"/>
                          </a:solidFill>
                        </a:rPr>
                        <a:t>scale</a:t>
                      </a:r>
                      <a:endParaRPr lang="fr-FR" sz="1500" noProof="0" dirty="0">
                        <a:solidFill>
                          <a:srgbClr val="E8EFF8"/>
                        </a:solidFill>
                      </a:endParaRPr>
                    </a:p>
                  </a:txBody>
                  <a:tcPr marT="50800" marB="50800">
                    <a:solidFill>
                      <a:srgbClr val="061430"/>
                    </a:solidFill>
                  </a:tcPr>
                </a:tc>
                <a:tc>
                  <a:txBody>
                    <a:bodyPr/>
                    <a:lstStyle/>
                    <a:p>
                      <a:pPr algn="ctr"/>
                      <a:r>
                        <a:rPr lang="fr-FR" sz="1500" noProof="0" dirty="0">
                          <a:solidFill>
                            <a:srgbClr val="E8EFF8"/>
                          </a:solidFill>
                        </a:rPr>
                        <a:t>~20-30 $ (Supabase)</a:t>
                      </a:r>
                    </a:p>
                  </a:txBody>
                  <a:tcPr marT="50800" marB="50800">
                    <a:solidFill>
                      <a:srgbClr val="061430"/>
                    </a:solidFill>
                  </a:tcPr>
                </a:tc>
                <a:extLst>
                  <a:ext uri="{0D108BD9-81ED-4DB2-BD59-A6C34878D82A}">
                    <a16:rowId xmlns:a16="http://schemas.microsoft.com/office/drawing/2014/main" val="10003"/>
                  </a:ext>
                </a:extLst>
              </a:tr>
              <a:tr h="701040">
                <a:tc>
                  <a:txBody>
                    <a:bodyPr/>
                    <a:lstStyle/>
                    <a:p>
                      <a:pPr algn="l"/>
                      <a:r>
                        <a:rPr lang="fr-FR" sz="1500" noProof="0" dirty="0">
                          <a:solidFill>
                            <a:srgbClr val="E8EFF8"/>
                          </a:solidFill>
                        </a:rPr>
                        <a:t>Document</a:t>
                      </a:r>
                    </a:p>
                  </a:txBody>
                  <a:tcPr marT="50800" marB="50800">
                    <a:solidFill>
                      <a:srgbClr val="041028"/>
                    </a:solidFill>
                  </a:tcPr>
                </a:tc>
                <a:tc>
                  <a:txBody>
                    <a:bodyPr/>
                    <a:lstStyle/>
                    <a:p>
                      <a:pPr algn="ctr"/>
                      <a:r>
                        <a:rPr lang="fr-FR" sz="1500" noProof="0" dirty="0">
                          <a:solidFill>
                            <a:srgbClr val="E8EFF8"/>
                          </a:solidFill>
                        </a:rPr>
                        <a:t>MongoDB Atlas</a:t>
                      </a:r>
                    </a:p>
                  </a:txBody>
                  <a:tcPr marT="50800" marB="50800">
                    <a:solidFill>
                      <a:srgbClr val="041028"/>
                    </a:solidFill>
                  </a:tcPr>
                </a:tc>
                <a:tc>
                  <a:txBody>
                    <a:bodyPr/>
                    <a:lstStyle/>
                    <a:p>
                      <a:pPr algn="ctr"/>
                      <a:r>
                        <a:rPr lang="fr-FR" sz="1500" noProof="0" dirty="0">
                          <a:solidFill>
                            <a:srgbClr val="E8EFF8"/>
                          </a:solidFill>
                        </a:rPr>
                        <a:t>Exercices semi-structures</a:t>
                      </a:r>
                    </a:p>
                  </a:txBody>
                  <a:tcPr marT="50800" marB="50800">
                    <a:solidFill>
                      <a:srgbClr val="041028"/>
                    </a:solidFill>
                  </a:tcPr>
                </a:tc>
                <a:tc>
                  <a:txBody>
                    <a:bodyPr/>
                    <a:lstStyle/>
                    <a:p>
                      <a:pPr algn="ctr"/>
                      <a:r>
                        <a:rPr lang="fr-FR" sz="1500" noProof="0" dirty="0">
                          <a:solidFill>
                            <a:srgbClr val="E8EFF8"/>
                          </a:solidFill>
                        </a:rPr>
                        <a:t>Schéma flexible JSON</a:t>
                      </a:r>
                    </a:p>
                  </a:txBody>
                  <a:tcPr marT="50800" marB="50800">
                    <a:solidFill>
                      <a:srgbClr val="041028"/>
                    </a:solidFill>
                  </a:tcPr>
                </a:tc>
                <a:tc>
                  <a:txBody>
                    <a:bodyPr/>
                    <a:lstStyle/>
                    <a:p>
                      <a:pPr algn="ctr"/>
                      <a:r>
                        <a:rPr lang="fr-FR" sz="1500" noProof="0" dirty="0">
                          <a:solidFill>
                            <a:srgbClr val="E8EFF8"/>
                          </a:solidFill>
                        </a:rPr>
                        <a:t>Pas vectoriel natif</a:t>
                      </a:r>
                    </a:p>
                  </a:txBody>
                  <a:tcPr marT="50800" marB="50800">
                    <a:solidFill>
                      <a:srgbClr val="041028"/>
                    </a:solidFill>
                  </a:tcPr>
                </a:tc>
                <a:tc>
                  <a:txBody>
                    <a:bodyPr/>
                    <a:lstStyle/>
                    <a:p>
                      <a:pPr algn="ctr"/>
                      <a:r>
                        <a:rPr lang="fr-FR" sz="1500" noProof="0" dirty="0">
                          <a:solidFill>
                            <a:srgbClr val="E8EFF8"/>
                          </a:solidFill>
                        </a:rPr>
                        <a:t>~57 $ / mois</a:t>
                      </a:r>
                    </a:p>
                  </a:txBody>
                  <a:tcPr marT="50800" marB="50800">
                    <a:solidFill>
                      <a:srgbClr val="041028"/>
                    </a:solidFill>
                  </a:tcPr>
                </a:tc>
                <a:extLst>
                  <a:ext uri="{0D108BD9-81ED-4DB2-BD59-A6C34878D82A}">
                    <a16:rowId xmlns:a16="http://schemas.microsoft.com/office/drawing/2014/main" val="10004"/>
                  </a:ext>
                </a:extLst>
              </a:tr>
              <a:tr h="701040">
                <a:tc>
                  <a:txBody>
                    <a:bodyPr/>
                    <a:lstStyle/>
                    <a:p>
                      <a:pPr algn="l"/>
                      <a:r>
                        <a:rPr lang="fr-FR" sz="1500" noProof="0" dirty="0">
                          <a:solidFill>
                            <a:srgbClr val="E8EFF8"/>
                          </a:solidFill>
                        </a:rPr>
                        <a:t>Graphe</a:t>
                      </a:r>
                    </a:p>
                  </a:txBody>
                  <a:tcPr marT="50800" marB="50800">
                    <a:solidFill>
                      <a:srgbClr val="061430"/>
                    </a:solidFill>
                  </a:tcPr>
                </a:tc>
                <a:tc>
                  <a:txBody>
                    <a:bodyPr/>
                    <a:lstStyle/>
                    <a:p>
                      <a:pPr algn="ctr"/>
                      <a:r>
                        <a:rPr lang="fr-FR" sz="1500" noProof="0" dirty="0">
                          <a:solidFill>
                            <a:srgbClr val="E8EFF8"/>
                          </a:solidFill>
                        </a:rPr>
                        <a:t>Neo4j</a:t>
                      </a:r>
                    </a:p>
                  </a:txBody>
                  <a:tcPr marT="50800" marB="50800">
                    <a:solidFill>
                      <a:srgbClr val="061430"/>
                    </a:solidFill>
                  </a:tcPr>
                </a:tc>
                <a:tc>
                  <a:txBody>
                    <a:bodyPr/>
                    <a:lstStyle/>
                    <a:p>
                      <a:pPr algn="ctr"/>
                      <a:r>
                        <a:rPr lang="fr-FR" sz="1500" noProof="0" dirty="0">
                          <a:solidFill>
                            <a:srgbClr val="E8EFF8"/>
                          </a:solidFill>
                        </a:rPr>
                        <a:t>Relations exercices / niveaux</a:t>
                      </a:r>
                    </a:p>
                  </a:txBody>
                  <a:tcPr marT="50800" marB="50800">
                    <a:solidFill>
                      <a:srgbClr val="061430"/>
                    </a:solidFill>
                  </a:tcPr>
                </a:tc>
                <a:tc>
                  <a:txBody>
                    <a:bodyPr/>
                    <a:lstStyle/>
                    <a:p>
                      <a:pPr algn="ctr"/>
                      <a:r>
                        <a:rPr lang="fr-FR" sz="1500" noProof="0" dirty="0">
                          <a:solidFill>
                            <a:srgbClr val="E8EFF8"/>
                          </a:solidFill>
                        </a:rPr>
                        <a:t>Chemins pédagogiques</a:t>
                      </a:r>
                    </a:p>
                  </a:txBody>
                  <a:tcPr marT="50800" marB="50800">
                    <a:solidFill>
                      <a:srgbClr val="061430"/>
                    </a:solidFill>
                  </a:tcPr>
                </a:tc>
                <a:tc>
                  <a:txBody>
                    <a:bodyPr/>
                    <a:lstStyle/>
                    <a:p>
                      <a:pPr algn="ctr"/>
                      <a:r>
                        <a:rPr lang="fr-FR" sz="1500" noProof="0" dirty="0">
                          <a:solidFill>
                            <a:srgbClr val="E8EFF8"/>
                          </a:solidFill>
                        </a:rPr>
                        <a:t>Requêtes </a:t>
                      </a:r>
                      <a:r>
                        <a:rPr lang="fr-FR" sz="1500" noProof="0" dirty="0" err="1">
                          <a:solidFill>
                            <a:srgbClr val="E8EFF8"/>
                          </a:solidFill>
                        </a:rPr>
                        <a:t>Cypher</a:t>
                      </a:r>
                      <a:endParaRPr lang="fr-FR" sz="1500" noProof="0" dirty="0">
                        <a:solidFill>
                          <a:srgbClr val="E8EFF8"/>
                        </a:solidFill>
                      </a:endParaRPr>
                    </a:p>
                  </a:txBody>
                  <a:tcPr marT="50800" marB="50800">
                    <a:solidFill>
                      <a:srgbClr val="061430"/>
                    </a:solidFill>
                  </a:tcPr>
                </a:tc>
                <a:tc>
                  <a:txBody>
                    <a:bodyPr/>
                    <a:lstStyle/>
                    <a:p>
                      <a:pPr algn="ctr"/>
                      <a:r>
                        <a:rPr lang="fr-FR" sz="1500" noProof="0" dirty="0">
                          <a:solidFill>
                            <a:srgbClr val="E8EFF8"/>
                          </a:solidFill>
                        </a:rPr>
                        <a:t>~65 $ / mois</a:t>
                      </a:r>
                    </a:p>
                  </a:txBody>
                  <a:tcPr marT="50800" marB="50800">
                    <a:solidFill>
                      <a:srgbClr val="061430"/>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379412" y="5497324"/>
            <a:ext cx="11430000" cy="892552"/>
          </a:xfrm>
          <a:prstGeom prst="rect">
            <a:avLst/>
          </a:prstGeom>
          <a:noFill/>
        </p:spPr>
        <p:txBody>
          <a:bodyPr wrap="square">
            <a:spAutoFit/>
          </a:bodyPr>
          <a:lstStyle/>
          <a:p>
            <a:pPr algn="l"/>
            <a:r>
              <a:rPr lang="fr-FR" sz="2600" b="1" i="0" noProof="0" dirty="0">
                <a:solidFill>
                  <a:srgbClr val="00B050"/>
                </a:solidFill>
              </a:rPr>
              <a:t>Choix retenu : PostgreSQL + </a:t>
            </a:r>
            <a:r>
              <a:rPr lang="fr-FR" sz="2600" b="1" i="0" noProof="0" dirty="0" err="1">
                <a:solidFill>
                  <a:srgbClr val="00B050"/>
                </a:solidFill>
              </a:rPr>
              <a:t>pgvector</a:t>
            </a:r>
            <a:r>
              <a:rPr lang="fr-FR" sz="2600" b="1" i="0" noProof="0" dirty="0">
                <a:solidFill>
                  <a:srgbClr val="00B050"/>
                </a:solidFill>
              </a:rPr>
              <a:t> via Supabase — un seul service, RGPD-compatible, suffisant jusqu'a plusieurs millions de vecteurs</a:t>
            </a:r>
            <a:r>
              <a:rPr lang="fr-FR" sz="2600" b="1" noProof="0" dirty="0">
                <a:solidFill>
                  <a:srgbClr val="00B050"/>
                </a:solidFill>
              </a:rPr>
              <a:t> en même temps.</a:t>
            </a:r>
            <a:endParaRPr lang="fr-FR" sz="2600" b="1" i="0" noProof="0" dirty="0">
              <a:solidFill>
                <a:srgbClr val="00B050"/>
              </a:solidFill>
            </a:endParaRPr>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7C046851-ECE8-05DF-4B36-8122822F8E59}"/>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6" name="TextBox 5"/>
          <p:cNvSpPr txBox="1"/>
          <p:nvPr/>
        </p:nvSpPr>
        <p:spPr>
          <a:xfrm>
            <a:off x="648929" y="403124"/>
            <a:ext cx="11421151" cy="1015663"/>
          </a:xfrm>
          <a:prstGeom prst="rect">
            <a:avLst/>
          </a:prstGeom>
          <a:noFill/>
        </p:spPr>
        <p:txBody>
          <a:bodyPr wrap="square">
            <a:spAutoFit/>
          </a:bodyPr>
          <a:lstStyle/>
          <a:p>
            <a:pPr algn="l"/>
            <a:r>
              <a:rPr lang="fr-FR" sz="6000" b="1" i="0" noProof="0" dirty="0">
                <a:solidFill>
                  <a:srgbClr val="FFFFFF"/>
                </a:solidFill>
              </a:rPr>
              <a:t>Sources et données</a:t>
            </a:r>
            <a:r>
              <a:rPr lang="fr-FR" sz="6000" b="1" dirty="0">
                <a:solidFill>
                  <a:srgbClr val="FFFFFF"/>
                </a:solidFill>
              </a:rPr>
              <a:t> </a:t>
            </a:r>
            <a:r>
              <a:rPr lang="fr-FR" sz="6000" b="1" i="0" noProof="0" dirty="0">
                <a:solidFill>
                  <a:srgbClr val="FFFFFF"/>
                </a:solidFill>
              </a:rPr>
              <a:t>des exercices</a:t>
            </a:r>
          </a:p>
        </p:txBody>
      </p:sp>
      <p:pic>
        <p:nvPicPr>
          <p:cNvPr id="3076" name="Picture 4" descr="Exercices pour le travail à pied">
            <a:extLst>
              <a:ext uri="{FF2B5EF4-FFF2-40B4-BE49-F238E27FC236}">
                <a16:creationId xmlns:a16="http://schemas.microsoft.com/office/drawing/2014/main" id="{A169378C-7637-17CF-7577-AB534AEB99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630"/>
          <a:stretch>
            <a:fillRect/>
          </a:stretch>
        </p:blipFill>
        <p:spPr bwMode="auto">
          <a:xfrm>
            <a:off x="4768645" y="1821912"/>
            <a:ext cx="5974837" cy="41472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A89BEF53-FCF4-427D-D9F5-2EA4430882F5}"/>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5" name="TextBox 4"/>
          <p:cNvSpPr txBox="1"/>
          <p:nvPr/>
        </p:nvSpPr>
        <p:spPr>
          <a:xfrm>
            <a:off x="380754" y="169938"/>
            <a:ext cx="10684322" cy="707886"/>
          </a:xfrm>
          <a:prstGeom prst="rect">
            <a:avLst/>
          </a:prstGeom>
          <a:noFill/>
        </p:spPr>
        <p:txBody>
          <a:bodyPr wrap="square">
            <a:spAutoFit/>
          </a:bodyPr>
          <a:lstStyle/>
          <a:p>
            <a:pPr algn="l"/>
            <a:r>
              <a:rPr lang="fr-FR" sz="4000" b="1" i="0" noProof="0" dirty="0">
                <a:solidFill>
                  <a:srgbClr val="FFFFFF"/>
                </a:solidFill>
              </a:rPr>
              <a:t>Sources d'exercices et contraintes juridiques</a:t>
            </a:r>
          </a:p>
        </p:txBody>
      </p:sp>
      <p:sp>
        <p:nvSpPr>
          <p:cNvPr id="12" name="Rectangle 11"/>
          <p:cNvSpPr/>
          <p:nvPr/>
        </p:nvSpPr>
        <p:spPr>
          <a:xfrm>
            <a:off x="365760" y="1115568"/>
            <a:ext cx="5669280" cy="1737360"/>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3" name="Rectangle 12"/>
          <p:cNvSpPr/>
          <p:nvPr/>
        </p:nvSpPr>
        <p:spPr>
          <a:xfrm>
            <a:off x="365760" y="1115568"/>
            <a:ext cx="45720" cy="1737360"/>
          </a:xfrm>
          <a:prstGeom prst="rect">
            <a:avLst/>
          </a:prstGeom>
          <a:solidFill>
            <a:srgbClr val="FF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4" name="TextBox 13"/>
          <p:cNvSpPr txBox="1"/>
          <p:nvPr/>
        </p:nvSpPr>
        <p:spPr>
          <a:xfrm>
            <a:off x="548639" y="1207008"/>
            <a:ext cx="4446147" cy="630942"/>
          </a:xfrm>
          <a:prstGeom prst="rect">
            <a:avLst/>
          </a:prstGeom>
          <a:noFill/>
        </p:spPr>
        <p:txBody>
          <a:bodyPr wrap="square">
            <a:spAutoFit/>
          </a:bodyPr>
          <a:lstStyle/>
          <a:p>
            <a:pPr algn="l"/>
            <a:r>
              <a:rPr lang="fr-FR" sz="3500" b="1" i="0" noProof="0" dirty="0">
                <a:solidFill>
                  <a:srgbClr val="FFFFFF"/>
                </a:solidFill>
              </a:rPr>
              <a:t>Pinterest / Web</a:t>
            </a:r>
          </a:p>
        </p:txBody>
      </p:sp>
      <p:sp>
        <p:nvSpPr>
          <p:cNvPr id="15" name="Rectangle 14"/>
          <p:cNvSpPr/>
          <p:nvPr/>
        </p:nvSpPr>
        <p:spPr>
          <a:xfrm>
            <a:off x="4994786" y="1280159"/>
            <a:ext cx="899160" cy="347472"/>
          </a:xfrm>
          <a:prstGeom prst="rect">
            <a:avLst/>
          </a:prstGeom>
          <a:solidFill>
            <a:srgbClr val="FF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7" name="TextBox 16"/>
          <p:cNvSpPr txBox="1"/>
          <p:nvPr/>
        </p:nvSpPr>
        <p:spPr>
          <a:xfrm>
            <a:off x="756494" y="2021930"/>
            <a:ext cx="2286000" cy="553998"/>
          </a:xfrm>
          <a:prstGeom prst="rect">
            <a:avLst/>
          </a:prstGeom>
          <a:noFill/>
        </p:spPr>
        <p:txBody>
          <a:bodyPr wrap="square">
            <a:spAutoFit/>
          </a:bodyPr>
          <a:lstStyle/>
          <a:p>
            <a:pPr algn="l"/>
            <a:r>
              <a:rPr lang="fr-FR" sz="1500" b="0" i="0" noProof="0" dirty="0">
                <a:solidFill>
                  <a:schemeClr val="bg1"/>
                </a:solidFill>
              </a:rPr>
              <a:t>~50 000 schémas disponibles</a:t>
            </a:r>
          </a:p>
        </p:txBody>
      </p:sp>
      <p:sp>
        <p:nvSpPr>
          <p:cNvPr id="18" name="TextBox 17"/>
          <p:cNvSpPr txBox="1"/>
          <p:nvPr/>
        </p:nvSpPr>
        <p:spPr>
          <a:xfrm>
            <a:off x="2737523" y="2018358"/>
            <a:ext cx="3691520" cy="553998"/>
          </a:xfrm>
          <a:prstGeom prst="rect">
            <a:avLst/>
          </a:prstGeom>
          <a:noFill/>
        </p:spPr>
        <p:txBody>
          <a:bodyPr wrap="square">
            <a:spAutoFit/>
          </a:bodyPr>
          <a:lstStyle/>
          <a:p>
            <a:pPr algn="l"/>
            <a:r>
              <a:rPr lang="fr-FR" sz="1500" b="0" i="0" noProof="0" dirty="0">
                <a:solidFill>
                  <a:srgbClr val="E8EFF8"/>
                </a:solidFill>
              </a:rPr>
              <a:t>- Copyright auteurs, </a:t>
            </a:r>
            <a:r>
              <a:rPr lang="fr-FR" sz="1500" b="0" i="0" noProof="0" dirty="0" err="1">
                <a:solidFill>
                  <a:srgbClr val="E8EFF8"/>
                </a:solidFill>
              </a:rPr>
              <a:t>scraping</a:t>
            </a:r>
            <a:r>
              <a:rPr lang="fr-FR" sz="1500" b="0" i="0" noProof="0" dirty="0">
                <a:solidFill>
                  <a:srgbClr val="E8EFF8"/>
                </a:solidFill>
              </a:rPr>
              <a:t> interdit
- Solution : génération IA uniquement</a:t>
            </a:r>
          </a:p>
        </p:txBody>
      </p:sp>
      <p:sp>
        <p:nvSpPr>
          <p:cNvPr id="19" name="Rectangle 18"/>
          <p:cNvSpPr/>
          <p:nvPr/>
        </p:nvSpPr>
        <p:spPr>
          <a:xfrm>
            <a:off x="6291072" y="1115568"/>
            <a:ext cx="5669280" cy="1737360"/>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0" name="Rectangle 19"/>
          <p:cNvSpPr/>
          <p:nvPr/>
        </p:nvSpPr>
        <p:spPr>
          <a:xfrm>
            <a:off x="6291072" y="1115568"/>
            <a:ext cx="45720" cy="1737360"/>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1" name="TextBox 20"/>
          <p:cNvSpPr txBox="1"/>
          <p:nvPr/>
        </p:nvSpPr>
        <p:spPr>
          <a:xfrm>
            <a:off x="6473951" y="1207008"/>
            <a:ext cx="4165389" cy="630942"/>
          </a:xfrm>
          <a:prstGeom prst="rect">
            <a:avLst/>
          </a:prstGeom>
          <a:noFill/>
        </p:spPr>
        <p:txBody>
          <a:bodyPr wrap="square">
            <a:spAutoFit/>
          </a:bodyPr>
          <a:lstStyle/>
          <a:p>
            <a:pPr algn="l"/>
            <a:r>
              <a:rPr lang="fr-FR" sz="3500" b="1" i="0" noProof="0" dirty="0">
                <a:solidFill>
                  <a:srgbClr val="FFFFFF"/>
                </a:solidFill>
              </a:rPr>
              <a:t>FFE / FEI Officiels</a:t>
            </a:r>
          </a:p>
        </p:txBody>
      </p:sp>
      <p:sp>
        <p:nvSpPr>
          <p:cNvPr id="22" name="Rectangle 21"/>
          <p:cNvSpPr/>
          <p:nvPr/>
        </p:nvSpPr>
        <p:spPr>
          <a:xfrm>
            <a:off x="10131552" y="1225296"/>
            <a:ext cx="1691640" cy="310895"/>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3" name="TextBox 22"/>
          <p:cNvSpPr txBox="1"/>
          <p:nvPr/>
        </p:nvSpPr>
        <p:spPr>
          <a:xfrm>
            <a:off x="10142024" y="1195290"/>
            <a:ext cx="1691640" cy="369332"/>
          </a:xfrm>
          <a:prstGeom prst="rect">
            <a:avLst/>
          </a:prstGeom>
          <a:noFill/>
        </p:spPr>
        <p:txBody>
          <a:bodyPr wrap="square">
            <a:spAutoFit/>
          </a:bodyPr>
          <a:lstStyle/>
          <a:p>
            <a:pPr algn="ctr"/>
            <a:r>
              <a:rPr lang="fr-FR" i="0" noProof="0" dirty="0"/>
              <a:t>Sous conditions</a:t>
            </a:r>
          </a:p>
        </p:txBody>
      </p:sp>
      <p:sp>
        <p:nvSpPr>
          <p:cNvPr id="24" name="TextBox 23"/>
          <p:cNvSpPr txBox="1"/>
          <p:nvPr/>
        </p:nvSpPr>
        <p:spPr>
          <a:xfrm>
            <a:off x="6665385" y="2011188"/>
            <a:ext cx="2286000" cy="553998"/>
          </a:xfrm>
          <a:prstGeom prst="rect">
            <a:avLst/>
          </a:prstGeom>
          <a:noFill/>
        </p:spPr>
        <p:txBody>
          <a:bodyPr wrap="square">
            <a:spAutoFit/>
          </a:bodyPr>
          <a:lstStyle/>
          <a:p>
            <a:pPr algn="l"/>
            <a:r>
              <a:rPr lang="fr-FR" sz="1500" b="0" i="0" noProof="0" dirty="0">
                <a:solidFill>
                  <a:schemeClr val="bg1"/>
                </a:solidFill>
              </a:rPr>
              <a:t>Programmes de compétition</a:t>
            </a:r>
          </a:p>
        </p:txBody>
      </p:sp>
      <p:sp>
        <p:nvSpPr>
          <p:cNvPr id="25" name="TextBox 24"/>
          <p:cNvSpPr txBox="1"/>
          <p:nvPr/>
        </p:nvSpPr>
        <p:spPr>
          <a:xfrm>
            <a:off x="8661558" y="1996560"/>
            <a:ext cx="3560603" cy="784830"/>
          </a:xfrm>
          <a:prstGeom prst="rect">
            <a:avLst/>
          </a:prstGeom>
          <a:noFill/>
        </p:spPr>
        <p:txBody>
          <a:bodyPr wrap="square">
            <a:spAutoFit/>
          </a:bodyPr>
          <a:lstStyle/>
          <a:p>
            <a:pPr algn="l"/>
            <a:r>
              <a:rPr lang="fr-FR" sz="1500" dirty="0">
                <a:solidFill>
                  <a:srgbClr val="E8EFF8"/>
                </a:solidFill>
              </a:rPr>
              <a:t>- </a:t>
            </a:r>
            <a:r>
              <a:rPr lang="fr-FR" sz="1500" b="0" i="0" noProof="0" dirty="0">
                <a:solidFill>
                  <a:srgbClr val="E8EFF8"/>
                </a:solidFill>
              </a:rPr>
              <a:t>Usage pédagogique toléré
- Reproduction commerciale : accord
</a:t>
            </a:r>
          </a:p>
        </p:txBody>
      </p:sp>
      <p:sp>
        <p:nvSpPr>
          <p:cNvPr id="26" name="Rectangle 25"/>
          <p:cNvSpPr/>
          <p:nvPr/>
        </p:nvSpPr>
        <p:spPr>
          <a:xfrm>
            <a:off x="365760" y="2990087"/>
            <a:ext cx="5669280" cy="1737360"/>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7" name="Rectangle 26"/>
          <p:cNvSpPr/>
          <p:nvPr/>
        </p:nvSpPr>
        <p:spPr>
          <a:xfrm>
            <a:off x="365760" y="2990087"/>
            <a:ext cx="45720" cy="1737360"/>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8" name="TextBox 27"/>
          <p:cNvSpPr txBox="1"/>
          <p:nvPr/>
        </p:nvSpPr>
        <p:spPr>
          <a:xfrm>
            <a:off x="548639" y="3081527"/>
            <a:ext cx="4134659" cy="630942"/>
          </a:xfrm>
          <a:prstGeom prst="rect">
            <a:avLst/>
          </a:prstGeom>
          <a:noFill/>
        </p:spPr>
        <p:txBody>
          <a:bodyPr wrap="square">
            <a:spAutoFit/>
          </a:bodyPr>
          <a:lstStyle/>
          <a:p>
            <a:pPr algn="l"/>
            <a:r>
              <a:rPr lang="fr-FR" sz="3500" b="1" i="0" noProof="0" dirty="0">
                <a:solidFill>
                  <a:srgbClr val="FFFFFF"/>
                </a:solidFill>
              </a:rPr>
              <a:t>Livres pédagogiques</a:t>
            </a:r>
          </a:p>
        </p:txBody>
      </p:sp>
      <p:sp>
        <p:nvSpPr>
          <p:cNvPr id="29" name="Rectangle 28"/>
          <p:cNvSpPr/>
          <p:nvPr/>
        </p:nvSpPr>
        <p:spPr>
          <a:xfrm>
            <a:off x="4994786" y="3099814"/>
            <a:ext cx="903094" cy="347473"/>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0" name="TextBox 29"/>
          <p:cNvSpPr txBox="1"/>
          <p:nvPr/>
        </p:nvSpPr>
        <p:spPr>
          <a:xfrm>
            <a:off x="4898724" y="3088884"/>
            <a:ext cx="1091284" cy="369332"/>
          </a:xfrm>
          <a:prstGeom prst="rect">
            <a:avLst/>
          </a:prstGeom>
          <a:noFill/>
        </p:spPr>
        <p:txBody>
          <a:bodyPr wrap="square">
            <a:spAutoFit/>
          </a:bodyPr>
          <a:lstStyle/>
          <a:p>
            <a:pPr algn="ctr"/>
            <a:r>
              <a:rPr lang="fr-FR" i="0" noProof="0" dirty="0"/>
              <a:t>Protégé</a:t>
            </a:r>
          </a:p>
        </p:txBody>
      </p:sp>
      <p:sp>
        <p:nvSpPr>
          <p:cNvPr id="31" name="TextBox 30"/>
          <p:cNvSpPr txBox="1"/>
          <p:nvPr/>
        </p:nvSpPr>
        <p:spPr>
          <a:xfrm>
            <a:off x="614366" y="3934275"/>
            <a:ext cx="2608893" cy="323165"/>
          </a:xfrm>
          <a:prstGeom prst="rect">
            <a:avLst/>
          </a:prstGeom>
          <a:noFill/>
        </p:spPr>
        <p:txBody>
          <a:bodyPr wrap="square">
            <a:spAutoFit/>
          </a:bodyPr>
          <a:lstStyle/>
          <a:p>
            <a:pPr algn="l"/>
            <a:r>
              <a:rPr lang="fr-FR" sz="1500" b="0" i="0" noProof="0" dirty="0">
                <a:solidFill>
                  <a:schemeClr val="bg1"/>
                </a:solidFill>
              </a:rPr>
              <a:t>Manuels instructeurs certifiés</a:t>
            </a:r>
          </a:p>
        </p:txBody>
      </p:sp>
      <p:sp>
        <p:nvSpPr>
          <p:cNvPr id="32" name="TextBox 31"/>
          <p:cNvSpPr txBox="1"/>
          <p:nvPr/>
        </p:nvSpPr>
        <p:spPr>
          <a:xfrm>
            <a:off x="3153928" y="3768435"/>
            <a:ext cx="2608892" cy="784830"/>
          </a:xfrm>
          <a:prstGeom prst="rect">
            <a:avLst/>
          </a:prstGeom>
          <a:noFill/>
        </p:spPr>
        <p:txBody>
          <a:bodyPr wrap="square">
            <a:spAutoFit/>
          </a:bodyPr>
          <a:lstStyle/>
          <a:p>
            <a:pPr algn="l"/>
            <a:r>
              <a:rPr lang="fr-FR" sz="1500" b="0" i="0" noProof="0" dirty="0">
                <a:solidFill>
                  <a:srgbClr val="E8EFF8"/>
                </a:solidFill>
              </a:rPr>
              <a:t>- 70 ans post-mortem
- Citation courte acceptable
- Inspiration sans reproduction</a:t>
            </a:r>
          </a:p>
        </p:txBody>
      </p:sp>
      <p:sp>
        <p:nvSpPr>
          <p:cNvPr id="33" name="Rectangle 32"/>
          <p:cNvSpPr/>
          <p:nvPr/>
        </p:nvSpPr>
        <p:spPr>
          <a:xfrm>
            <a:off x="6291072" y="2990087"/>
            <a:ext cx="5669280" cy="1737360"/>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4" name="Rectangle 33"/>
          <p:cNvSpPr/>
          <p:nvPr/>
        </p:nvSpPr>
        <p:spPr>
          <a:xfrm>
            <a:off x="6291072" y="2990087"/>
            <a:ext cx="45720" cy="1737360"/>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5" name="TextBox 34"/>
          <p:cNvSpPr txBox="1"/>
          <p:nvPr/>
        </p:nvSpPr>
        <p:spPr>
          <a:xfrm>
            <a:off x="6473951" y="3081527"/>
            <a:ext cx="4007235" cy="630942"/>
          </a:xfrm>
          <a:prstGeom prst="rect">
            <a:avLst/>
          </a:prstGeom>
          <a:noFill/>
        </p:spPr>
        <p:txBody>
          <a:bodyPr wrap="square">
            <a:spAutoFit/>
          </a:bodyPr>
          <a:lstStyle/>
          <a:p>
            <a:pPr algn="l"/>
            <a:r>
              <a:rPr lang="fr-FR" sz="3500" b="1" i="0" noProof="0" dirty="0">
                <a:solidFill>
                  <a:srgbClr val="FFFFFF"/>
                </a:solidFill>
              </a:rPr>
              <a:t>YouTube / vidéos</a:t>
            </a:r>
          </a:p>
        </p:txBody>
      </p:sp>
      <p:sp>
        <p:nvSpPr>
          <p:cNvPr id="36" name="Rectangle 35"/>
          <p:cNvSpPr/>
          <p:nvPr/>
        </p:nvSpPr>
        <p:spPr>
          <a:xfrm>
            <a:off x="10737218" y="3099814"/>
            <a:ext cx="1085974" cy="329185"/>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7" name="TextBox 36"/>
          <p:cNvSpPr txBox="1"/>
          <p:nvPr/>
        </p:nvSpPr>
        <p:spPr>
          <a:xfrm>
            <a:off x="10585457" y="3069132"/>
            <a:ext cx="1342006" cy="369332"/>
          </a:xfrm>
          <a:prstGeom prst="rect">
            <a:avLst/>
          </a:prstGeom>
          <a:noFill/>
        </p:spPr>
        <p:txBody>
          <a:bodyPr wrap="square">
            <a:spAutoFit/>
          </a:bodyPr>
          <a:lstStyle/>
          <a:p>
            <a:pPr algn="ctr"/>
            <a:r>
              <a:rPr lang="fr-FR" i="0" noProof="0" dirty="0"/>
              <a:t>Risque</a:t>
            </a:r>
          </a:p>
        </p:txBody>
      </p:sp>
      <p:sp>
        <p:nvSpPr>
          <p:cNvPr id="38" name="TextBox 37"/>
          <p:cNvSpPr txBox="1"/>
          <p:nvPr/>
        </p:nvSpPr>
        <p:spPr>
          <a:xfrm>
            <a:off x="6641687" y="3928673"/>
            <a:ext cx="2286000" cy="323165"/>
          </a:xfrm>
          <a:prstGeom prst="rect">
            <a:avLst/>
          </a:prstGeom>
          <a:noFill/>
        </p:spPr>
        <p:txBody>
          <a:bodyPr wrap="square">
            <a:spAutoFit/>
          </a:bodyPr>
          <a:lstStyle/>
          <a:p>
            <a:pPr algn="l"/>
            <a:r>
              <a:rPr lang="fr-FR" sz="1500" b="0" i="0" noProof="0" dirty="0">
                <a:solidFill>
                  <a:schemeClr val="bg1"/>
                </a:solidFill>
              </a:rPr>
              <a:t>Cours films en ligne</a:t>
            </a:r>
          </a:p>
        </p:txBody>
      </p:sp>
      <p:sp>
        <p:nvSpPr>
          <p:cNvPr id="39" name="TextBox 38"/>
          <p:cNvSpPr txBox="1"/>
          <p:nvPr/>
        </p:nvSpPr>
        <p:spPr>
          <a:xfrm>
            <a:off x="8707278" y="3858793"/>
            <a:ext cx="3035653" cy="553998"/>
          </a:xfrm>
          <a:prstGeom prst="rect">
            <a:avLst/>
          </a:prstGeom>
          <a:noFill/>
        </p:spPr>
        <p:txBody>
          <a:bodyPr wrap="square">
            <a:spAutoFit/>
          </a:bodyPr>
          <a:lstStyle/>
          <a:p>
            <a:pPr algn="l"/>
            <a:r>
              <a:rPr lang="fr-FR" sz="1500" b="0" i="0" noProof="0" dirty="0">
                <a:solidFill>
                  <a:srgbClr val="E8EFF8"/>
                </a:solidFill>
              </a:rPr>
              <a:t>- Contenu protégé mais idées libres
- Validation manuelle indispensable</a:t>
            </a:r>
          </a:p>
        </p:txBody>
      </p:sp>
      <p:sp>
        <p:nvSpPr>
          <p:cNvPr id="40" name="Rectangle 39"/>
          <p:cNvSpPr/>
          <p:nvPr/>
        </p:nvSpPr>
        <p:spPr>
          <a:xfrm>
            <a:off x="397256" y="4864607"/>
            <a:ext cx="5669280" cy="1737360"/>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1" name="Rectangle 40"/>
          <p:cNvSpPr/>
          <p:nvPr/>
        </p:nvSpPr>
        <p:spPr>
          <a:xfrm>
            <a:off x="365760" y="4864607"/>
            <a:ext cx="45720" cy="1737360"/>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2" name="TextBox 41"/>
          <p:cNvSpPr txBox="1"/>
          <p:nvPr/>
        </p:nvSpPr>
        <p:spPr>
          <a:xfrm>
            <a:off x="548640" y="4956047"/>
            <a:ext cx="3200400" cy="630942"/>
          </a:xfrm>
          <a:prstGeom prst="rect">
            <a:avLst/>
          </a:prstGeom>
          <a:noFill/>
        </p:spPr>
        <p:txBody>
          <a:bodyPr wrap="square">
            <a:spAutoFit/>
          </a:bodyPr>
          <a:lstStyle/>
          <a:p>
            <a:pPr algn="l"/>
            <a:r>
              <a:rPr lang="fr-FR" sz="3500" b="1" i="0" noProof="0" dirty="0">
                <a:solidFill>
                  <a:srgbClr val="FFFFFF"/>
                </a:solidFill>
              </a:rPr>
              <a:t>Génération IA</a:t>
            </a:r>
          </a:p>
        </p:txBody>
      </p:sp>
      <p:sp>
        <p:nvSpPr>
          <p:cNvPr id="43" name="Rectangle 42"/>
          <p:cNvSpPr/>
          <p:nvPr/>
        </p:nvSpPr>
        <p:spPr>
          <a:xfrm>
            <a:off x="4992920" y="4974335"/>
            <a:ext cx="901026" cy="347472"/>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4" name="TextBox 43"/>
          <p:cNvSpPr txBox="1"/>
          <p:nvPr/>
        </p:nvSpPr>
        <p:spPr>
          <a:xfrm>
            <a:off x="4537586" y="4956047"/>
            <a:ext cx="1828800" cy="369332"/>
          </a:xfrm>
          <a:prstGeom prst="rect">
            <a:avLst/>
          </a:prstGeom>
          <a:noFill/>
        </p:spPr>
        <p:txBody>
          <a:bodyPr wrap="square">
            <a:spAutoFit/>
          </a:bodyPr>
          <a:lstStyle/>
          <a:p>
            <a:pPr algn="ctr"/>
            <a:r>
              <a:rPr lang="fr-FR" i="0" noProof="0" dirty="0"/>
              <a:t>Libre</a:t>
            </a:r>
          </a:p>
        </p:txBody>
      </p:sp>
      <p:sp>
        <p:nvSpPr>
          <p:cNvPr id="45" name="TextBox 44"/>
          <p:cNvSpPr txBox="1"/>
          <p:nvPr/>
        </p:nvSpPr>
        <p:spPr>
          <a:xfrm>
            <a:off x="614366" y="5828305"/>
            <a:ext cx="2723964" cy="323165"/>
          </a:xfrm>
          <a:prstGeom prst="rect">
            <a:avLst/>
          </a:prstGeom>
          <a:noFill/>
        </p:spPr>
        <p:txBody>
          <a:bodyPr wrap="square">
            <a:spAutoFit/>
          </a:bodyPr>
          <a:lstStyle/>
          <a:p>
            <a:pPr algn="l"/>
            <a:r>
              <a:rPr lang="fr-FR" sz="1500" b="0" i="0" noProof="0" dirty="0">
                <a:solidFill>
                  <a:schemeClr val="bg1"/>
                </a:solidFill>
              </a:rPr>
              <a:t>Claude / GPT-4o depuis règles</a:t>
            </a:r>
          </a:p>
        </p:txBody>
      </p:sp>
      <p:sp>
        <p:nvSpPr>
          <p:cNvPr id="46" name="TextBox 45"/>
          <p:cNvSpPr txBox="1"/>
          <p:nvPr/>
        </p:nvSpPr>
        <p:spPr>
          <a:xfrm>
            <a:off x="3283446" y="5733287"/>
            <a:ext cx="2723964" cy="553998"/>
          </a:xfrm>
          <a:prstGeom prst="rect">
            <a:avLst/>
          </a:prstGeom>
          <a:noFill/>
        </p:spPr>
        <p:txBody>
          <a:bodyPr wrap="square">
            <a:spAutoFit/>
          </a:bodyPr>
          <a:lstStyle/>
          <a:p>
            <a:pPr algn="l"/>
            <a:r>
              <a:rPr lang="fr-FR" sz="1500" b="0" i="0" noProof="0" dirty="0">
                <a:solidFill>
                  <a:srgbClr val="E8EFF8"/>
                </a:solidFill>
              </a:rPr>
              <a:t>- Droit français : pas d'auteur IA
- Solution principale du projet</a:t>
            </a:r>
          </a:p>
        </p:txBody>
      </p:sp>
      <p:sp>
        <p:nvSpPr>
          <p:cNvPr id="47" name="Rectangle 46"/>
          <p:cNvSpPr/>
          <p:nvPr/>
        </p:nvSpPr>
        <p:spPr>
          <a:xfrm>
            <a:off x="6291072" y="4864607"/>
            <a:ext cx="5669280" cy="1737360"/>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8" name="Rectangle 47"/>
          <p:cNvSpPr/>
          <p:nvPr/>
        </p:nvSpPr>
        <p:spPr>
          <a:xfrm>
            <a:off x="6291072" y="4864607"/>
            <a:ext cx="45720" cy="1737360"/>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9" name="TextBox 48"/>
          <p:cNvSpPr txBox="1"/>
          <p:nvPr/>
        </p:nvSpPr>
        <p:spPr>
          <a:xfrm>
            <a:off x="6473952" y="4956047"/>
            <a:ext cx="3200400" cy="630942"/>
          </a:xfrm>
          <a:prstGeom prst="rect">
            <a:avLst/>
          </a:prstGeom>
          <a:noFill/>
        </p:spPr>
        <p:txBody>
          <a:bodyPr wrap="square">
            <a:spAutoFit/>
          </a:bodyPr>
          <a:lstStyle/>
          <a:p>
            <a:pPr algn="l"/>
            <a:r>
              <a:rPr lang="fr-FR" sz="3500" b="1" i="0" noProof="0" dirty="0">
                <a:solidFill>
                  <a:srgbClr val="FFFFFF"/>
                </a:solidFill>
              </a:rPr>
              <a:t>Communauté</a:t>
            </a:r>
          </a:p>
        </p:txBody>
      </p:sp>
      <p:sp>
        <p:nvSpPr>
          <p:cNvPr id="50" name="Rectangle 49"/>
          <p:cNvSpPr/>
          <p:nvPr/>
        </p:nvSpPr>
        <p:spPr>
          <a:xfrm>
            <a:off x="9857232" y="4974335"/>
            <a:ext cx="1965960" cy="365760"/>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1" name="TextBox 50"/>
          <p:cNvSpPr txBox="1"/>
          <p:nvPr/>
        </p:nvSpPr>
        <p:spPr>
          <a:xfrm>
            <a:off x="9930384" y="4974335"/>
            <a:ext cx="1812547" cy="369332"/>
          </a:xfrm>
          <a:prstGeom prst="rect">
            <a:avLst/>
          </a:prstGeom>
          <a:noFill/>
        </p:spPr>
        <p:txBody>
          <a:bodyPr wrap="square">
            <a:spAutoFit/>
          </a:bodyPr>
          <a:lstStyle/>
          <a:p>
            <a:pPr algn="ctr"/>
            <a:r>
              <a:rPr lang="fr-FR" i="0" noProof="0" dirty="0"/>
              <a:t>OK (licence CLA)</a:t>
            </a:r>
          </a:p>
        </p:txBody>
      </p:sp>
      <p:sp>
        <p:nvSpPr>
          <p:cNvPr id="52" name="TextBox 51"/>
          <p:cNvSpPr txBox="1"/>
          <p:nvPr/>
        </p:nvSpPr>
        <p:spPr>
          <a:xfrm>
            <a:off x="6561328" y="5886923"/>
            <a:ext cx="3113024" cy="323165"/>
          </a:xfrm>
          <a:prstGeom prst="rect">
            <a:avLst/>
          </a:prstGeom>
          <a:noFill/>
        </p:spPr>
        <p:txBody>
          <a:bodyPr wrap="square">
            <a:spAutoFit/>
          </a:bodyPr>
          <a:lstStyle/>
          <a:p>
            <a:pPr algn="l"/>
            <a:r>
              <a:rPr lang="fr-FR" sz="1500" b="0" i="0" noProof="0" dirty="0">
                <a:solidFill>
                  <a:schemeClr val="bg1"/>
                </a:solidFill>
              </a:rPr>
              <a:t>Instructeurs et cavaliers valides</a:t>
            </a:r>
          </a:p>
        </p:txBody>
      </p:sp>
      <p:sp>
        <p:nvSpPr>
          <p:cNvPr id="53" name="TextBox 52"/>
          <p:cNvSpPr txBox="1"/>
          <p:nvPr/>
        </p:nvSpPr>
        <p:spPr>
          <a:xfrm>
            <a:off x="9487408" y="5623426"/>
            <a:ext cx="2926080" cy="784830"/>
          </a:xfrm>
          <a:prstGeom prst="rect">
            <a:avLst/>
          </a:prstGeom>
          <a:noFill/>
        </p:spPr>
        <p:txBody>
          <a:bodyPr wrap="square">
            <a:spAutoFit/>
          </a:bodyPr>
          <a:lstStyle/>
          <a:p>
            <a:pPr algn="l"/>
            <a:r>
              <a:rPr lang="fr-FR" sz="1500" b="0" i="0" noProof="0" dirty="0">
                <a:solidFill>
                  <a:srgbClr val="E8EFF8"/>
                </a:solidFill>
              </a:rPr>
              <a:t>- Accord contributeur
- Modération par instructeur 
- Enrichissement progressif</a:t>
            </a:r>
          </a:p>
        </p:txBody>
      </p:sp>
      <p:sp>
        <p:nvSpPr>
          <p:cNvPr id="54" name="ZoneTexte 53">
            <a:extLst>
              <a:ext uri="{FF2B5EF4-FFF2-40B4-BE49-F238E27FC236}">
                <a16:creationId xmlns:a16="http://schemas.microsoft.com/office/drawing/2014/main" id="{235005F9-1D28-05AC-014A-FF83E2902428}"/>
              </a:ext>
            </a:extLst>
          </p:cNvPr>
          <p:cNvSpPr txBox="1"/>
          <p:nvPr/>
        </p:nvSpPr>
        <p:spPr>
          <a:xfrm>
            <a:off x="4992920" y="1269229"/>
            <a:ext cx="1202140" cy="369332"/>
          </a:xfrm>
          <a:prstGeom prst="rect">
            <a:avLst/>
          </a:prstGeom>
          <a:noFill/>
        </p:spPr>
        <p:txBody>
          <a:bodyPr wrap="square" rtlCol="0">
            <a:spAutoFit/>
          </a:bodyPr>
          <a:lstStyle/>
          <a:p>
            <a:r>
              <a:rPr lang="fr-FR" dirty="0"/>
              <a:t>Interdit</a:t>
            </a:r>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07C05F35-4774-789C-B7B4-235D43C333CD}"/>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6" name="TextBox 5"/>
          <p:cNvSpPr txBox="1"/>
          <p:nvPr/>
        </p:nvSpPr>
        <p:spPr>
          <a:xfrm>
            <a:off x="703988" y="318565"/>
            <a:ext cx="10209817" cy="1169551"/>
          </a:xfrm>
          <a:prstGeom prst="rect">
            <a:avLst/>
          </a:prstGeom>
          <a:noFill/>
        </p:spPr>
        <p:txBody>
          <a:bodyPr wrap="square">
            <a:spAutoFit/>
          </a:bodyPr>
          <a:lstStyle/>
          <a:p>
            <a:pPr algn="l"/>
            <a:r>
              <a:rPr lang="fr-FR" sz="7000" b="1" i="0" noProof="0" dirty="0">
                <a:solidFill>
                  <a:srgbClr val="FFFFFF"/>
                </a:solidFill>
              </a:rPr>
              <a:t>Architecture technique</a:t>
            </a:r>
          </a:p>
        </p:txBody>
      </p:sp>
      <p:pic>
        <p:nvPicPr>
          <p:cNvPr id="4100" name="Picture 4" descr="How AI agents work – Computerworld">
            <a:extLst>
              <a:ext uri="{FF2B5EF4-FFF2-40B4-BE49-F238E27FC236}">
                <a16:creationId xmlns:a16="http://schemas.microsoft.com/office/drawing/2014/main" id="{33DCB88F-4512-EA64-C869-76FDA48E9A4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488" r="9366"/>
          <a:stretch>
            <a:fillRect/>
          </a:stretch>
        </p:blipFill>
        <p:spPr bwMode="auto">
          <a:xfrm>
            <a:off x="4104810" y="1806682"/>
            <a:ext cx="6151820" cy="40129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97E10592-061A-4BC1-EACF-AFDFCE409F5D}"/>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5" name="TextBox 4"/>
          <p:cNvSpPr txBox="1"/>
          <p:nvPr/>
        </p:nvSpPr>
        <p:spPr>
          <a:xfrm>
            <a:off x="301625" y="176409"/>
            <a:ext cx="9796104" cy="707886"/>
          </a:xfrm>
          <a:prstGeom prst="rect">
            <a:avLst/>
          </a:prstGeom>
          <a:noFill/>
        </p:spPr>
        <p:txBody>
          <a:bodyPr wrap="square">
            <a:spAutoFit/>
          </a:bodyPr>
          <a:lstStyle/>
          <a:p>
            <a:pPr algn="l"/>
            <a:r>
              <a:rPr lang="fr-FR" sz="4000" b="1" i="0" noProof="0" dirty="0">
                <a:solidFill>
                  <a:srgbClr val="FFFFFF"/>
                </a:solidFill>
              </a:rPr>
              <a:t>Vision produit </a:t>
            </a:r>
            <a:r>
              <a:rPr lang="fr-FR" sz="4000" b="1" dirty="0">
                <a:solidFill>
                  <a:srgbClr val="FFFFFF"/>
                </a:solidFill>
              </a:rPr>
              <a:t>(</a:t>
            </a:r>
            <a:r>
              <a:rPr lang="fr-FR" sz="4000" b="1" i="0" noProof="0" dirty="0">
                <a:solidFill>
                  <a:srgbClr val="FFFFFF"/>
                </a:solidFill>
              </a:rPr>
              <a:t>entrées, moteur et sorties)</a:t>
            </a:r>
          </a:p>
        </p:txBody>
      </p:sp>
      <p:sp>
        <p:nvSpPr>
          <p:cNvPr id="12" name="TextBox 11"/>
          <p:cNvSpPr txBox="1"/>
          <p:nvPr/>
        </p:nvSpPr>
        <p:spPr>
          <a:xfrm>
            <a:off x="1004857" y="887916"/>
            <a:ext cx="2880360" cy="553998"/>
          </a:xfrm>
          <a:prstGeom prst="rect">
            <a:avLst/>
          </a:prstGeom>
          <a:noFill/>
        </p:spPr>
        <p:txBody>
          <a:bodyPr wrap="square">
            <a:spAutoFit/>
          </a:bodyPr>
          <a:lstStyle/>
          <a:p>
            <a:pPr algn="ctr"/>
            <a:r>
              <a:rPr lang="fr-FR" sz="3000" b="1" i="0" noProof="0" dirty="0">
                <a:solidFill>
                  <a:schemeClr val="bg1"/>
                </a:solidFill>
              </a:rPr>
              <a:t>Entrées</a:t>
            </a:r>
          </a:p>
        </p:txBody>
      </p:sp>
      <p:sp>
        <p:nvSpPr>
          <p:cNvPr id="13" name="Rectangle 12"/>
          <p:cNvSpPr/>
          <p:nvPr/>
        </p:nvSpPr>
        <p:spPr>
          <a:xfrm>
            <a:off x="365760" y="1481328"/>
            <a:ext cx="2880360" cy="84124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5" name="TextBox 14"/>
          <p:cNvSpPr txBox="1"/>
          <p:nvPr/>
        </p:nvSpPr>
        <p:spPr>
          <a:xfrm>
            <a:off x="530352" y="1545336"/>
            <a:ext cx="2697480" cy="400110"/>
          </a:xfrm>
          <a:prstGeom prst="rect">
            <a:avLst/>
          </a:prstGeom>
          <a:noFill/>
        </p:spPr>
        <p:txBody>
          <a:bodyPr wrap="square">
            <a:spAutoFit/>
          </a:bodyPr>
          <a:lstStyle/>
          <a:p>
            <a:pPr algn="l"/>
            <a:r>
              <a:rPr lang="fr-FR" sz="2000" b="1" i="0" noProof="0" dirty="0">
                <a:solidFill>
                  <a:srgbClr val="FFFFFF"/>
                </a:solidFill>
              </a:rPr>
              <a:t>Profil cavalier</a:t>
            </a:r>
          </a:p>
        </p:txBody>
      </p:sp>
      <p:sp>
        <p:nvSpPr>
          <p:cNvPr id="16" name="TextBox 15"/>
          <p:cNvSpPr txBox="1"/>
          <p:nvPr/>
        </p:nvSpPr>
        <p:spPr>
          <a:xfrm>
            <a:off x="530352" y="1938528"/>
            <a:ext cx="2697480" cy="276999"/>
          </a:xfrm>
          <a:prstGeom prst="rect">
            <a:avLst/>
          </a:prstGeom>
          <a:noFill/>
        </p:spPr>
        <p:txBody>
          <a:bodyPr wrap="square">
            <a:spAutoFit/>
          </a:bodyPr>
          <a:lstStyle/>
          <a:p>
            <a:pPr algn="l"/>
            <a:r>
              <a:rPr lang="fr-FR" sz="1200" b="0" i="1" noProof="0" dirty="0">
                <a:solidFill>
                  <a:schemeClr val="bg1"/>
                </a:solidFill>
              </a:rPr>
              <a:t>Niveau, discipline, fréquence</a:t>
            </a:r>
          </a:p>
        </p:txBody>
      </p:sp>
      <p:sp>
        <p:nvSpPr>
          <p:cNvPr id="18" name="Rectangle 17"/>
          <p:cNvSpPr/>
          <p:nvPr/>
        </p:nvSpPr>
        <p:spPr>
          <a:xfrm>
            <a:off x="365760" y="2414016"/>
            <a:ext cx="2880360" cy="84124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0" name="TextBox 19"/>
          <p:cNvSpPr txBox="1"/>
          <p:nvPr/>
        </p:nvSpPr>
        <p:spPr>
          <a:xfrm>
            <a:off x="530352" y="2478024"/>
            <a:ext cx="2697480" cy="400110"/>
          </a:xfrm>
          <a:prstGeom prst="rect">
            <a:avLst/>
          </a:prstGeom>
          <a:noFill/>
        </p:spPr>
        <p:txBody>
          <a:bodyPr wrap="square">
            <a:spAutoFit/>
          </a:bodyPr>
          <a:lstStyle/>
          <a:p>
            <a:pPr algn="l"/>
            <a:r>
              <a:rPr lang="fr-FR" sz="2000" b="1" i="0" noProof="0" dirty="0">
                <a:solidFill>
                  <a:srgbClr val="FFFFFF"/>
                </a:solidFill>
              </a:rPr>
              <a:t>Profil du cheval</a:t>
            </a:r>
          </a:p>
        </p:txBody>
      </p:sp>
      <p:sp>
        <p:nvSpPr>
          <p:cNvPr id="21" name="TextBox 20"/>
          <p:cNvSpPr txBox="1"/>
          <p:nvPr/>
        </p:nvSpPr>
        <p:spPr>
          <a:xfrm>
            <a:off x="530352" y="2871216"/>
            <a:ext cx="2697480" cy="276999"/>
          </a:xfrm>
          <a:prstGeom prst="rect">
            <a:avLst/>
          </a:prstGeom>
          <a:noFill/>
        </p:spPr>
        <p:txBody>
          <a:bodyPr wrap="square">
            <a:spAutoFit/>
          </a:bodyPr>
          <a:lstStyle/>
          <a:p>
            <a:pPr algn="l"/>
            <a:r>
              <a:rPr lang="fr-FR" sz="1200" b="0" i="1" noProof="0" dirty="0">
                <a:solidFill>
                  <a:schemeClr val="bg1"/>
                </a:solidFill>
              </a:rPr>
              <a:t>Age, race, niveau, points forts</a:t>
            </a:r>
          </a:p>
        </p:txBody>
      </p:sp>
      <p:sp>
        <p:nvSpPr>
          <p:cNvPr id="23" name="Rectangle 22"/>
          <p:cNvSpPr/>
          <p:nvPr/>
        </p:nvSpPr>
        <p:spPr>
          <a:xfrm>
            <a:off x="365760" y="3346704"/>
            <a:ext cx="2880360" cy="84124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5" name="TextBox 24"/>
          <p:cNvSpPr txBox="1"/>
          <p:nvPr/>
        </p:nvSpPr>
        <p:spPr>
          <a:xfrm>
            <a:off x="530352" y="3410712"/>
            <a:ext cx="2697480" cy="400110"/>
          </a:xfrm>
          <a:prstGeom prst="rect">
            <a:avLst/>
          </a:prstGeom>
          <a:noFill/>
        </p:spPr>
        <p:txBody>
          <a:bodyPr wrap="square">
            <a:spAutoFit/>
          </a:bodyPr>
          <a:lstStyle/>
          <a:p>
            <a:pPr algn="l"/>
            <a:r>
              <a:rPr lang="fr-FR" sz="2000" b="1" i="0" noProof="0" dirty="0">
                <a:solidFill>
                  <a:srgbClr val="FFFFFF"/>
                </a:solidFill>
              </a:rPr>
              <a:t>Objectifs</a:t>
            </a:r>
          </a:p>
        </p:txBody>
      </p:sp>
      <p:sp>
        <p:nvSpPr>
          <p:cNvPr id="26" name="TextBox 25"/>
          <p:cNvSpPr txBox="1"/>
          <p:nvPr/>
        </p:nvSpPr>
        <p:spPr>
          <a:xfrm>
            <a:off x="530352" y="3803904"/>
            <a:ext cx="2697480" cy="276999"/>
          </a:xfrm>
          <a:prstGeom prst="rect">
            <a:avLst/>
          </a:prstGeom>
          <a:noFill/>
        </p:spPr>
        <p:txBody>
          <a:bodyPr wrap="square">
            <a:spAutoFit/>
          </a:bodyPr>
          <a:lstStyle/>
          <a:p>
            <a:pPr algn="l"/>
            <a:r>
              <a:rPr lang="fr-FR" sz="1200" b="0" i="1" noProof="0" dirty="0">
                <a:solidFill>
                  <a:schemeClr val="bg1"/>
                </a:solidFill>
              </a:rPr>
              <a:t>Compétition, loisir, correction</a:t>
            </a:r>
          </a:p>
        </p:txBody>
      </p:sp>
      <p:sp>
        <p:nvSpPr>
          <p:cNvPr id="28" name="Rectangle 27"/>
          <p:cNvSpPr/>
          <p:nvPr/>
        </p:nvSpPr>
        <p:spPr>
          <a:xfrm>
            <a:off x="365760" y="4279392"/>
            <a:ext cx="2880360" cy="84124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0" name="TextBox 29"/>
          <p:cNvSpPr txBox="1"/>
          <p:nvPr/>
        </p:nvSpPr>
        <p:spPr>
          <a:xfrm>
            <a:off x="530352" y="4343400"/>
            <a:ext cx="2697480" cy="400110"/>
          </a:xfrm>
          <a:prstGeom prst="rect">
            <a:avLst/>
          </a:prstGeom>
          <a:noFill/>
        </p:spPr>
        <p:txBody>
          <a:bodyPr wrap="square">
            <a:spAutoFit/>
          </a:bodyPr>
          <a:lstStyle/>
          <a:p>
            <a:pPr algn="l"/>
            <a:r>
              <a:rPr lang="fr-FR" sz="2000" b="1" i="0" noProof="0" dirty="0">
                <a:solidFill>
                  <a:srgbClr val="FFFFFF"/>
                </a:solidFill>
              </a:rPr>
              <a:t>Historique séances</a:t>
            </a:r>
          </a:p>
        </p:txBody>
      </p:sp>
      <p:sp>
        <p:nvSpPr>
          <p:cNvPr id="31" name="TextBox 30"/>
          <p:cNvSpPr txBox="1"/>
          <p:nvPr/>
        </p:nvSpPr>
        <p:spPr>
          <a:xfrm>
            <a:off x="530352" y="4736592"/>
            <a:ext cx="2697480" cy="276999"/>
          </a:xfrm>
          <a:prstGeom prst="rect">
            <a:avLst/>
          </a:prstGeom>
          <a:noFill/>
        </p:spPr>
        <p:txBody>
          <a:bodyPr wrap="square">
            <a:spAutoFit/>
          </a:bodyPr>
          <a:lstStyle/>
          <a:p>
            <a:pPr algn="l"/>
            <a:r>
              <a:rPr lang="fr-FR" sz="1200" b="0" i="1" noProof="0" dirty="0">
                <a:solidFill>
                  <a:schemeClr val="bg1"/>
                </a:solidFill>
              </a:rPr>
              <a:t>10 dernières séances réalisées</a:t>
            </a:r>
          </a:p>
        </p:txBody>
      </p:sp>
      <p:sp>
        <p:nvSpPr>
          <p:cNvPr id="33" name="Rectangle 32"/>
          <p:cNvSpPr/>
          <p:nvPr/>
        </p:nvSpPr>
        <p:spPr>
          <a:xfrm>
            <a:off x="365760" y="5212080"/>
            <a:ext cx="2880360" cy="84124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5" name="TextBox 34"/>
          <p:cNvSpPr txBox="1"/>
          <p:nvPr/>
        </p:nvSpPr>
        <p:spPr>
          <a:xfrm>
            <a:off x="530352" y="5276088"/>
            <a:ext cx="2697480" cy="400110"/>
          </a:xfrm>
          <a:prstGeom prst="rect">
            <a:avLst/>
          </a:prstGeom>
          <a:noFill/>
        </p:spPr>
        <p:txBody>
          <a:bodyPr wrap="square">
            <a:spAutoFit/>
          </a:bodyPr>
          <a:lstStyle/>
          <a:p>
            <a:pPr algn="l"/>
            <a:r>
              <a:rPr lang="fr-FR" sz="2000" b="1" i="0" noProof="0" dirty="0">
                <a:solidFill>
                  <a:srgbClr val="FFFFFF"/>
                </a:solidFill>
              </a:rPr>
              <a:t>Contraintes</a:t>
            </a:r>
          </a:p>
        </p:txBody>
      </p:sp>
      <p:sp>
        <p:nvSpPr>
          <p:cNvPr id="36" name="TextBox 35"/>
          <p:cNvSpPr txBox="1"/>
          <p:nvPr/>
        </p:nvSpPr>
        <p:spPr>
          <a:xfrm>
            <a:off x="530352" y="5669280"/>
            <a:ext cx="2697480" cy="276999"/>
          </a:xfrm>
          <a:prstGeom prst="rect">
            <a:avLst/>
          </a:prstGeom>
          <a:noFill/>
        </p:spPr>
        <p:txBody>
          <a:bodyPr wrap="square">
            <a:spAutoFit/>
          </a:bodyPr>
          <a:lstStyle/>
          <a:p>
            <a:pPr algn="l"/>
            <a:r>
              <a:rPr lang="fr-FR" sz="1200" b="0" i="1" noProof="0" dirty="0">
                <a:solidFill>
                  <a:schemeClr val="bg1"/>
                </a:solidFill>
              </a:rPr>
              <a:t>Durée, infrastructure disponible</a:t>
            </a:r>
          </a:p>
        </p:txBody>
      </p:sp>
      <p:sp>
        <p:nvSpPr>
          <p:cNvPr id="38" name="Rectangle 37"/>
          <p:cNvSpPr/>
          <p:nvPr/>
        </p:nvSpPr>
        <p:spPr>
          <a:xfrm>
            <a:off x="3547872" y="2011680"/>
            <a:ext cx="5029200" cy="340589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0" name="TextBox 39"/>
          <p:cNvSpPr txBox="1"/>
          <p:nvPr/>
        </p:nvSpPr>
        <p:spPr>
          <a:xfrm>
            <a:off x="3547872" y="2103120"/>
            <a:ext cx="5029200" cy="553998"/>
          </a:xfrm>
          <a:prstGeom prst="rect">
            <a:avLst/>
          </a:prstGeom>
          <a:noFill/>
        </p:spPr>
        <p:txBody>
          <a:bodyPr wrap="square">
            <a:spAutoFit/>
          </a:bodyPr>
          <a:lstStyle/>
          <a:p>
            <a:pPr algn="ctr"/>
            <a:r>
              <a:rPr lang="fr-FR" sz="3000" b="1" i="0" noProof="0" dirty="0">
                <a:solidFill>
                  <a:schemeClr val="bg1"/>
                </a:solidFill>
              </a:rPr>
              <a:t>Moteur IA</a:t>
            </a:r>
          </a:p>
        </p:txBody>
      </p:sp>
      <p:sp>
        <p:nvSpPr>
          <p:cNvPr id="41" name="TextBox 40"/>
          <p:cNvSpPr txBox="1"/>
          <p:nvPr/>
        </p:nvSpPr>
        <p:spPr>
          <a:xfrm>
            <a:off x="3749039" y="2782455"/>
            <a:ext cx="4663440" cy="369332"/>
          </a:xfrm>
          <a:prstGeom prst="rect">
            <a:avLst/>
          </a:prstGeom>
          <a:noFill/>
        </p:spPr>
        <p:txBody>
          <a:bodyPr wrap="square">
            <a:spAutoFit/>
          </a:bodyPr>
          <a:lstStyle/>
          <a:p>
            <a:pPr algn="l"/>
            <a:r>
              <a:rPr lang="fr-FR" b="0" i="0" noProof="0" dirty="0">
                <a:solidFill>
                  <a:srgbClr val="E8EFF8"/>
                </a:solidFill>
              </a:rPr>
              <a:t>Claude 3.5 Sonnet  —  génération texte</a:t>
            </a:r>
          </a:p>
        </p:txBody>
      </p:sp>
      <p:sp>
        <p:nvSpPr>
          <p:cNvPr id="42" name="TextBox 41"/>
          <p:cNvSpPr txBox="1"/>
          <p:nvPr/>
        </p:nvSpPr>
        <p:spPr>
          <a:xfrm>
            <a:off x="3762691" y="3217314"/>
            <a:ext cx="4663440" cy="369332"/>
          </a:xfrm>
          <a:prstGeom prst="rect">
            <a:avLst/>
          </a:prstGeom>
          <a:noFill/>
        </p:spPr>
        <p:txBody>
          <a:bodyPr wrap="square">
            <a:spAutoFit/>
          </a:bodyPr>
          <a:lstStyle/>
          <a:p>
            <a:pPr algn="l"/>
            <a:r>
              <a:rPr lang="fr-FR" b="0" i="0" noProof="0" dirty="0">
                <a:solidFill>
                  <a:srgbClr val="E8EFF8"/>
                </a:solidFill>
              </a:rPr>
              <a:t>RAG sur base d'exercices (</a:t>
            </a:r>
            <a:r>
              <a:rPr lang="fr-FR" b="0" i="0" noProof="0" dirty="0" err="1">
                <a:solidFill>
                  <a:srgbClr val="E8EFF8"/>
                </a:solidFill>
              </a:rPr>
              <a:t>pgvector</a:t>
            </a:r>
            <a:r>
              <a:rPr lang="fr-FR" b="0" i="0" noProof="0" dirty="0">
                <a:solidFill>
                  <a:srgbClr val="E8EFF8"/>
                </a:solidFill>
              </a:rPr>
              <a:t>)</a:t>
            </a:r>
          </a:p>
        </p:txBody>
      </p:sp>
      <p:sp>
        <p:nvSpPr>
          <p:cNvPr id="43" name="TextBox 42"/>
          <p:cNvSpPr txBox="1"/>
          <p:nvPr/>
        </p:nvSpPr>
        <p:spPr>
          <a:xfrm>
            <a:off x="3762691" y="3619238"/>
            <a:ext cx="4663440" cy="369332"/>
          </a:xfrm>
          <a:prstGeom prst="rect">
            <a:avLst/>
          </a:prstGeom>
          <a:noFill/>
        </p:spPr>
        <p:txBody>
          <a:bodyPr wrap="square">
            <a:spAutoFit/>
          </a:bodyPr>
          <a:lstStyle/>
          <a:p>
            <a:pPr algn="l"/>
            <a:r>
              <a:rPr lang="fr-FR" b="0" i="0" noProof="0" dirty="0" err="1">
                <a:solidFill>
                  <a:srgbClr val="E8EFF8"/>
                </a:solidFill>
              </a:rPr>
              <a:t>LangChain</a:t>
            </a:r>
            <a:r>
              <a:rPr lang="fr-FR" b="0" i="0" noProof="0" dirty="0">
                <a:solidFill>
                  <a:srgbClr val="E8EFF8"/>
                </a:solidFill>
              </a:rPr>
              <a:t>  —  orchestration</a:t>
            </a:r>
          </a:p>
        </p:txBody>
      </p:sp>
      <p:sp>
        <p:nvSpPr>
          <p:cNvPr id="44" name="TextBox 43"/>
          <p:cNvSpPr txBox="1"/>
          <p:nvPr/>
        </p:nvSpPr>
        <p:spPr>
          <a:xfrm>
            <a:off x="3762691" y="4061429"/>
            <a:ext cx="4663440" cy="369332"/>
          </a:xfrm>
          <a:prstGeom prst="rect">
            <a:avLst/>
          </a:prstGeom>
          <a:noFill/>
        </p:spPr>
        <p:txBody>
          <a:bodyPr wrap="square">
            <a:spAutoFit/>
          </a:bodyPr>
          <a:lstStyle/>
          <a:p>
            <a:pPr algn="l"/>
            <a:r>
              <a:rPr lang="fr-FR" b="0" i="0" noProof="0" dirty="0">
                <a:solidFill>
                  <a:srgbClr val="E8EFF8"/>
                </a:solidFill>
              </a:rPr>
              <a:t>Mémoire persistante  —  Mem0</a:t>
            </a:r>
          </a:p>
        </p:txBody>
      </p:sp>
      <p:sp>
        <p:nvSpPr>
          <p:cNvPr id="45" name="TextBox 44"/>
          <p:cNvSpPr txBox="1"/>
          <p:nvPr/>
        </p:nvSpPr>
        <p:spPr>
          <a:xfrm>
            <a:off x="3782370" y="4484607"/>
            <a:ext cx="4663440" cy="369332"/>
          </a:xfrm>
          <a:prstGeom prst="rect">
            <a:avLst/>
          </a:prstGeom>
          <a:noFill/>
        </p:spPr>
        <p:txBody>
          <a:bodyPr wrap="square">
            <a:spAutoFit/>
          </a:bodyPr>
          <a:lstStyle/>
          <a:p>
            <a:pPr algn="l"/>
            <a:r>
              <a:rPr lang="fr-FR" b="0" i="0" noProof="0" dirty="0">
                <a:solidFill>
                  <a:srgbClr val="E8EFF8"/>
                </a:solidFill>
              </a:rPr>
              <a:t>DALL-E 3  —  schémas carrière</a:t>
            </a:r>
          </a:p>
        </p:txBody>
      </p:sp>
      <p:sp>
        <p:nvSpPr>
          <p:cNvPr id="46" name="TextBox 45"/>
          <p:cNvSpPr txBox="1"/>
          <p:nvPr/>
        </p:nvSpPr>
        <p:spPr>
          <a:xfrm>
            <a:off x="3782370" y="4886531"/>
            <a:ext cx="4663440" cy="369332"/>
          </a:xfrm>
          <a:prstGeom prst="rect">
            <a:avLst/>
          </a:prstGeom>
          <a:noFill/>
        </p:spPr>
        <p:txBody>
          <a:bodyPr wrap="square">
            <a:spAutoFit/>
          </a:bodyPr>
          <a:lstStyle/>
          <a:p>
            <a:pPr algn="l"/>
            <a:r>
              <a:rPr lang="fr-FR" b="0" i="0" noProof="0" dirty="0">
                <a:solidFill>
                  <a:srgbClr val="E8EFF8"/>
                </a:solidFill>
              </a:rPr>
              <a:t>Historique SQL  —  contexte</a:t>
            </a:r>
          </a:p>
        </p:txBody>
      </p:sp>
      <p:sp>
        <p:nvSpPr>
          <p:cNvPr id="47" name="TextBox 46"/>
          <p:cNvSpPr txBox="1"/>
          <p:nvPr/>
        </p:nvSpPr>
        <p:spPr>
          <a:xfrm>
            <a:off x="8033245" y="912466"/>
            <a:ext cx="3017520" cy="553998"/>
          </a:xfrm>
          <a:prstGeom prst="rect">
            <a:avLst/>
          </a:prstGeom>
          <a:noFill/>
        </p:spPr>
        <p:txBody>
          <a:bodyPr wrap="square">
            <a:spAutoFit/>
          </a:bodyPr>
          <a:lstStyle/>
          <a:p>
            <a:pPr algn="ctr"/>
            <a:r>
              <a:rPr lang="fr-FR" sz="3000" b="1" i="0" noProof="0" dirty="0">
                <a:solidFill>
                  <a:schemeClr val="bg1"/>
                </a:solidFill>
              </a:rPr>
              <a:t>Sorties</a:t>
            </a:r>
          </a:p>
        </p:txBody>
      </p:sp>
      <p:sp>
        <p:nvSpPr>
          <p:cNvPr id="49" name="Rectangle 48"/>
          <p:cNvSpPr/>
          <p:nvPr/>
        </p:nvSpPr>
        <p:spPr>
          <a:xfrm>
            <a:off x="8869680" y="1481328"/>
            <a:ext cx="2999232" cy="84124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1" name="TextBox 50"/>
          <p:cNvSpPr txBox="1"/>
          <p:nvPr/>
        </p:nvSpPr>
        <p:spPr>
          <a:xfrm>
            <a:off x="9034272" y="1545336"/>
            <a:ext cx="2743200" cy="400110"/>
          </a:xfrm>
          <a:prstGeom prst="rect">
            <a:avLst/>
          </a:prstGeom>
          <a:noFill/>
        </p:spPr>
        <p:txBody>
          <a:bodyPr wrap="square">
            <a:spAutoFit/>
          </a:bodyPr>
          <a:lstStyle/>
          <a:p>
            <a:pPr algn="l"/>
            <a:r>
              <a:rPr lang="fr-FR" sz="2000" b="1" i="0" noProof="0" dirty="0">
                <a:solidFill>
                  <a:srgbClr val="FFFFFF"/>
                </a:solidFill>
              </a:rPr>
              <a:t>Plan de séance</a:t>
            </a:r>
          </a:p>
        </p:txBody>
      </p:sp>
      <p:sp>
        <p:nvSpPr>
          <p:cNvPr id="52" name="TextBox 51"/>
          <p:cNvSpPr txBox="1"/>
          <p:nvPr/>
        </p:nvSpPr>
        <p:spPr>
          <a:xfrm>
            <a:off x="9034272" y="1938528"/>
            <a:ext cx="2743200" cy="276999"/>
          </a:xfrm>
          <a:prstGeom prst="rect">
            <a:avLst/>
          </a:prstGeom>
          <a:noFill/>
        </p:spPr>
        <p:txBody>
          <a:bodyPr wrap="square">
            <a:spAutoFit/>
          </a:bodyPr>
          <a:lstStyle/>
          <a:p>
            <a:pPr algn="l"/>
            <a:r>
              <a:rPr lang="fr-FR" sz="1200" b="0" i="1" noProof="0" dirty="0">
                <a:solidFill>
                  <a:schemeClr val="bg1"/>
                </a:solidFill>
              </a:rPr>
              <a:t>Echauffement, travail, retour calme</a:t>
            </a:r>
          </a:p>
        </p:txBody>
      </p:sp>
      <p:sp>
        <p:nvSpPr>
          <p:cNvPr id="54" name="Rectangle 53"/>
          <p:cNvSpPr/>
          <p:nvPr/>
        </p:nvSpPr>
        <p:spPr>
          <a:xfrm>
            <a:off x="8869680" y="2414016"/>
            <a:ext cx="2999232" cy="84124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6" name="TextBox 55"/>
          <p:cNvSpPr txBox="1"/>
          <p:nvPr/>
        </p:nvSpPr>
        <p:spPr>
          <a:xfrm>
            <a:off x="9034272" y="2478024"/>
            <a:ext cx="2743200" cy="400110"/>
          </a:xfrm>
          <a:prstGeom prst="rect">
            <a:avLst/>
          </a:prstGeom>
          <a:noFill/>
        </p:spPr>
        <p:txBody>
          <a:bodyPr wrap="square">
            <a:spAutoFit/>
          </a:bodyPr>
          <a:lstStyle/>
          <a:p>
            <a:pPr algn="l"/>
            <a:r>
              <a:rPr lang="fr-FR" sz="2000" b="1" i="0" noProof="0" dirty="0">
                <a:solidFill>
                  <a:srgbClr val="FFFFFF"/>
                </a:solidFill>
              </a:rPr>
              <a:t>Schéma carrière</a:t>
            </a:r>
          </a:p>
        </p:txBody>
      </p:sp>
      <p:sp>
        <p:nvSpPr>
          <p:cNvPr id="57" name="TextBox 56"/>
          <p:cNvSpPr txBox="1"/>
          <p:nvPr/>
        </p:nvSpPr>
        <p:spPr>
          <a:xfrm>
            <a:off x="9034272" y="2871216"/>
            <a:ext cx="2743200" cy="276999"/>
          </a:xfrm>
          <a:prstGeom prst="rect">
            <a:avLst/>
          </a:prstGeom>
          <a:noFill/>
        </p:spPr>
        <p:txBody>
          <a:bodyPr wrap="square">
            <a:spAutoFit/>
          </a:bodyPr>
          <a:lstStyle/>
          <a:p>
            <a:pPr algn="l"/>
            <a:r>
              <a:rPr lang="fr-FR" sz="1200" b="0" i="1" noProof="0" dirty="0">
                <a:solidFill>
                  <a:schemeClr val="bg1"/>
                </a:solidFill>
              </a:rPr>
              <a:t>Diagramme auto-généré DALL-E 3</a:t>
            </a:r>
          </a:p>
        </p:txBody>
      </p:sp>
      <p:sp>
        <p:nvSpPr>
          <p:cNvPr id="59" name="Rectangle 58"/>
          <p:cNvSpPr/>
          <p:nvPr/>
        </p:nvSpPr>
        <p:spPr>
          <a:xfrm>
            <a:off x="8869680" y="3346704"/>
            <a:ext cx="2999232" cy="84124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61" name="TextBox 60"/>
          <p:cNvSpPr txBox="1"/>
          <p:nvPr/>
        </p:nvSpPr>
        <p:spPr>
          <a:xfrm>
            <a:off x="9034272" y="3410712"/>
            <a:ext cx="2743200" cy="400110"/>
          </a:xfrm>
          <a:prstGeom prst="rect">
            <a:avLst/>
          </a:prstGeom>
          <a:noFill/>
        </p:spPr>
        <p:txBody>
          <a:bodyPr wrap="square">
            <a:spAutoFit/>
          </a:bodyPr>
          <a:lstStyle/>
          <a:p>
            <a:pPr algn="l"/>
            <a:r>
              <a:rPr lang="fr-FR" sz="2000" b="1" i="0" noProof="0" dirty="0">
                <a:solidFill>
                  <a:srgbClr val="FFFFFF"/>
                </a:solidFill>
              </a:rPr>
              <a:t>Explications</a:t>
            </a:r>
          </a:p>
        </p:txBody>
      </p:sp>
      <p:sp>
        <p:nvSpPr>
          <p:cNvPr id="62" name="TextBox 61"/>
          <p:cNvSpPr txBox="1"/>
          <p:nvPr/>
        </p:nvSpPr>
        <p:spPr>
          <a:xfrm>
            <a:off x="9034272" y="3803904"/>
            <a:ext cx="2743200" cy="276999"/>
          </a:xfrm>
          <a:prstGeom prst="rect">
            <a:avLst/>
          </a:prstGeom>
          <a:noFill/>
        </p:spPr>
        <p:txBody>
          <a:bodyPr wrap="square">
            <a:spAutoFit/>
          </a:bodyPr>
          <a:lstStyle/>
          <a:p>
            <a:pPr algn="l"/>
            <a:r>
              <a:rPr lang="fr-FR" sz="1200" b="0" i="1" noProof="0" dirty="0">
                <a:solidFill>
                  <a:schemeClr val="bg1"/>
                </a:solidFill>
              </a:rPr>
              <a:t>Objectifs, exécution, erreurs</a:t>
            </a:r>
          </a:p>
        </p:txBody>
      </p:sp>
      <p:sp>
        <p:nvSpPr>
          <p:cNvPr id="64" name="Rectangle 63"/>
          <p:cNvSpPr/>
          <p:nvPr/>
        </p:nvSpPr>
        <p:spPr>
          <a:xfrm>
            <a:off x="8869680" y="4279392"/>
            <a:ext cx="2999232" cy="84124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66" name="TextBox 65"/>
          <p:cNvSpPr txBox="1"/>
          <p:nvPr/>
        </p:nvSpPr>
        <p:spPr>
          <a:xfrm>
            <a:off x="9034272" y="4343400"/>
            <a:ext cx="2743200" cy="400110"/>
          </a:xfrm>
          <a:prstGeom prst="rect">
            <a:avLst/>
          </a:prstGeom>
          <a:noFill/>
        </p:spPr>
        <p:txBody>
          <a:bodyPr wrap="square">
            <a:spAutoFit/>
          </a:bodyPr>
          <a:lstStyle/>
          <a:p>
            <a:pPr algn="l"/>
            <a:r>
              <a:rPr lang="fr-FR" sz="2000" b="1" i="0" noProof="0" dirty="0">
                <a:solidFill>
                  <a:srgbClr val="FFFFFF"/>
                </a:solidFill>
              </a:rPr>
              <a:t>Progression</a:t>
            </a:r>
          </a:p>
        </p:txBody>
      </p:sp>
      <p:sp>
        <p:nvSpPr>
          <p:cNvPr id="67" name="TextBox 66"/>
          <p:cNvSpPr txBox="1"/>
          <p:nvPr/>
        </p:nvSpPr>
        <p:spPr>
          <a:xfrm>
            <a:off x="9034272" y="4736592"/>
            <a:ext cx="2743200" cy="276999"/>
          </a:xfrm>
          <a:prstGeom prst="rect">
            <a:avLst/>
          </a:prstGeom>
          <a:noFill/>
        </p:spPr>
        <p:txBody>
          <a:bodyPr wrap="square">
            <a:spAutoFit/>
          </a:bodyPr>
          <a:lstStyle/>
          <a:p>
            <a:pPr algn="l"/>
            <a:r>
              <a:rPr lang="fr-FR" sz="1200" b="0" i="1" noProof="0" dirty="0">
                <a:solidFill>
                  <a:schemeClr val="bg1"/>
                </a:solidFill>
              </a:rPr>
              <a:t>Variation vs séances précédentes</a:t>
            </a:r>
          </a:p>
        </p:txBody>
      </p:sp>
      <p:sp>
        <p:nvSpPr>
          <p:cNvPr id="69" name="Rectangle 68"/>
          <p:cNvSpPr/>
          <p:nvPr/>
        </p:nvSpPr>
        <p:spPr>
          <a:xfrm>
            <a:off x="8869680" y="5212080"/>
            <a:ext cx="2999232" cy="84124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1" name="TextBox 70"/>
          <p:cNvSpPr txBox="1"/>
          <p:nvPr/>
        </p:nvSpPr>
        <p:spPr>
          <a:xfrm>
            <a:off x="9034272" y="5276088"/>
            <a:ext cx="2743200" cy="400110"/>
          </a:xfrm>
          <a:prstGeom prst="rect">
            <a:avLst/>
          </a:prstGeom>
          <a:noFill/>
        </p:spPr>
        <p:txBody>
          <a:bodyPr wrap="square">
            <a:spAutoFit/>
          </a:bodyPr>
          <a:lstStyle/>
          <a:p>
            <a:pPr algn="l"/>
            <a:r>
              <a:rPr lang="fr-FR" sz="2000" b="1" i="0" noProof="0" dirty="0">
                <a:solidFill>
                  <a:srgbClr val="FFFFFF"/>
                </a:solidFill>
              </a:rPr>
              <a:t>Conseils</a:t>
            </a:r>
          </a:p>
        </p:txBody>
      </p:sp>
      <p:sp>
        <p:nvSpPr>
          <p:cNvPr id="72" name="TextBox 71"/>
          <p:cNvSpPr txBox="1"/>
          <p:nvPr/>
        </p:nvSpPr>
        <p:spPr>
          <a:xfrm>
            <a:off x="9034272" y="5669280"/>
            <a:ext cx="2743200" cy="276999"/>
          </a:xfrm>
          <a:prstGeom prst="rect">
            <a:avLst/>
          </a:prstGeom>
          <a:noFill/>
        </p:spPr>
        <p:txBody>
          <a:bodyPr wrap="square">
            <a:spAutoFit/>
          </a:bodyPr>
          <a:lstStyle/>
          <a:p>
            <a:pPr algn="l"/>
            <a:r>
              <a:rPr lang="fr-FR" sz="1200" b="0" i="1" noProof="0" dirty="0">
                <a:solidFill>
                  <a:schemeClr val="bg1"/>
                </a:solidFill>
              </a:rPr>
              <a:t>Sécurité, état cheval</a:t>
            </a:r>
          </a:p>
        </p:txBody>
      </p:sp>
      <p:sp>
        <p:nvSpPr>
          <p:cNvPr id="7" name="Flèche : droite 6">
            <a:extLst>
              <a:ext uri="{FF2B5EF4-FFF2-40B4-BE49-F238E27FC236}">
                <a16:creationId xmlns:a16="http://schemas.microsoft.com/office/drawing/2014/main" id="{D01AA3B2-A823-5511-04D6-4267D2CD045C}"/>
              </a:ext>
            </a:extLst>
          </p:cNvPr>
          <p:cNvSpPr/>
          <p:nvPr/>
        </p:nvSpPr>
        <p:spPr>
          <a:xfrm rot="2672234">
            <a:off x="3174345" y="1369614"/>
            <a:ext cx="875071" cy="336195"/>
          </a:xfrm>
          <a:prstGeom prst="rightArrow">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Flèche : droite 7">
            <a:extLst>
              <a:ext uri="{FF2B5EF4-FFF2-40B4-BE49-F238E27FC236}">
                <a16:creationId xmlns:a16="http://schemas.microsoft.com/office/drawing/2014/main" id="{20B98CCA-0E51-5A73-C8CE-09B18C7EADAF}"/>
              </a:ext>
            </a:extLst>
          </p:cNvPr>
          <p:cNvSpPr/>
          <p:nvPr/>
        </p:nvSpPr>
        <p:spPr>
          <a:xfrm rot="19066919">
            <a:off x="8027093" y="1346259"/>
            <a:ext cx="875071" cy="336195"/>
          </a:xfrm>
          <a:prstGeom prst="rightArrow">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B3CAF297-B100-D003-5514-58DD14419A0D}"/>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5" name="TextBox 4"/>
          <p:cNvSpPr txBox="1"/>
          <p:nvPr/>
        </p:nvSpPr>
        <p:spPr>
          <a:xfrm>
            <a:off x="384047" y="173736"/>
            <a:ext cx="11621139" cy="707886"/>
          </a:xfrm>
          <a:prstGeom prst="rect">
            <a:avLst/>
          </a:prstGeom>
          <a:noFill/>
        </p:spPr>
        <p:txBody>
          <a:bodyPr wrap="square">
            <a:spAutoFit/>
          </a:bodyPr>
          <a:lstStyle/>
          <a:p>
            <a:pPr algn="l"/>
            <a:r>
              <a:rPr lang="fr-FR" sz="4000" b="1" i="0" noProof="0" dirty="0">
                <a:solidFill>
                  <a:srgbClr val="FFFFFF"/>
                </a:solidFill>
              </a:rPr>
              <a:t>Architecture système proposée — vue d'ensemble</a:t>
            </a:r>
          </a:p>
        </p:txBody>
      </p:sp>
      <p:sp>
        <p:nvSpPr>
          <p:cNvPr id="12" name="Rectangle 11"/>
          <p:cNvSpPr/>
          <p:nvPr/>
        </p:nvSpPr>
        <p:spPr>
          <a:xfrm>
            <a:off x="365760" y="1115568"/>
            <a:ext cx="11475720" cy="1298448"/>
          </a:xfrm>
          <a:prstGeom prst="rect">
            <a:avLst/>
          </a:prstGeom>
          <a:solidFill>
            <a:srgbClr val="041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3" name="Rectangle 12"/>
          <p:cNvSpPr/>
          <p:nvPr/>
        </p:nvSpPr>
        <p:spPr>
          <a:xfrm>
            <a:off x="365760" y="1115568"/>
            <a:ext cx="11475720" cy="45720"/>
          </a:xfrm>
          <a:prstGeom prst="rect">
            <a:avLst/>
          </a:prstGeom>
          <a:solidFill>
            <a:srgbClr val="29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4" name="TextBox 13"/>
          <p:cNvSpPr txBox="1"/>
          <p:nvPr/>
        </p:nvSpPr>
        <p:spPr>
          <a:xfrm>
            <a:off x="393192" y="1127385"/>
            <a:ext cx="4572000" cy="707886"/>
          </a:xfrm>
          <a:prstGeom prst="rect">
            <a:avLst/>
          </a:prstGeom>
          <a:noFill/>
        </p:spPr>
        <p:txBody>
          <a:bodyPr wrap="square">
            <a:spAutoFit/>
          </a:bodyPr>
          <a:lstStyle/>
          <a:p>
            <a:pPr algn="l"/>
            <a:r>
              <a:rPr lang="fr-FR" sz="2000" b="1" i="0" noProof="0" dirty="0">
                <a:solidFill>
                  <a:srgbClr val="2978FF"/>
                </a:solidFill>
              </a:rPr>
              <a:t>FRONTEND  —  Next.js 14 + </a:t>
            </a:r>
            <a:r>
              <a:rPr lang="fr-FR" sz="2000" b="1" i="0" noProof="0" dirty="0" err="1">
                <a:solidFill>
                  <a:srgbClr val="2978FF"/>
                </a:solidFill>
              </a:rPr>
              <a:t>TailwindCSS</a:t>
            </a:r>
            <a:r>
              <a:rPr lang="fr-FR" sz="2000" b="1" i="0" noProof="0" dirty="0">
                <a:solidFill>
                  <a:srgbClr val="2978FF"/>
                </a:solidFill>
              </a:rPr>
              <a:t>  |  </a:t>
            </a:r>
            <a:r>
              <a:rPr lang="fr-FR" sz="2000" b="1" i="0" noProof="0" dirty="0" err="1">
                <a:solidFill>
                  <a:srgbClr val="2978FF"/>
                </a:solidFill>
              </a:rPr>
              <a:t>Vercel</a:t>
            </a:r>
            <a:endParaRPr lang="fr-FR" sz="2000" b="1" i="0" noProof="0" dirty="0">
              <a:solidFill>
                <a:srgbClr val="2978FF"/>
              </a:solidFill>
            </a:endParaRPr>
          </a:p>
        </p:txBody>
      </p:sp>
      <p:sp>
        <p:nvSpPr>
          <p:cNvPr id="15" name="Rectangle 14"/>
          <p:cNvSpPr/>
          <p:nvPr/>
        </p:nvSpPr>
        <p:spPr>
          <a:xfrm>
            <a:off x="457200" y="1517904"/>
            <a:ext cx="2130552" cy="7772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6" name="TextBox 15"/>
          <p:cNvSpPr txBox="1"/>
          <p:nvPr/>
        </p:nvSpPr>
        <p:spPr>
          <a:xfrm>
            <a:off x="548640" y="1591056"/>
            <a:ext cx="1965960" cy="329184"/>
          </a:xfrm>
          <a:prstGeom prst="rect">
            <a:avLst/>
          </a:prstGeom>
          <a:noFill/>
        </p:spPr>
        <p:txBody>
          <a:bodyPr wrap="square">
            <a:spAutoFit/>
          </a:bodyPr>
          <a:lstStyle/>
          <a:p>
            <a:pPr algn="l"/>
            <a:r>
              <a:rPr lang="fr-FR" sz="1500" b="1" i="0" noProof="0" dirty="0">
                <a:solidFill>
                  <a:srgbClr val="FFFFFF"/>
                </a:solidFill>
              </a:rPr>
              <a:t>Interface du cavalier</a:t>
            </a:r>
          </a:p>
        </p:txBody>
      </p:sp>
      <p:sp>
        <p:nvSpPr>
          <p:cNvPr id="17" name="TextBox 16"/>
          <p:cNvSpPr txBox="1"/>
          <p:nvPr/>
        </p:nvSpPr>
        <p:spPr>
          <a:xfrm>
            <a:off x="548640" y="1901952"/>
            <a:ext cx="1965960" cy="276999"/>
          </a:xfrm>
          <a:prstGeom prst="rect">
            <a:avLst/>
          </a:prstGeom>
          <a:noFill/>
        </p:spPr>
        <p:txBody>
          <a:bodyPr wrap="square">
            <a:spAutoFit/>
          </a:bodyPr>
          <a:lstStyle/>
          <a:p>
            <a:pPr algn="l"/>
            <a:r>
              <a:rPr lang="fr-FR" sz="1200" b="0" i="1" noProof="0" dirty="0">
                <a:solidFill>
                  <a:schemeClr val="bg1"/>
                </a:solidFill>
              </a:rPr>
              <a:t>Profil, objectifs</a:t>
            </a:r>
          </a:p>
        </p:txBody>
      </p:sp>
      <p:sp>
        <p:nvSpPr>
          <p:cNvPr id="18" name="Rectangle 17"/>
          <p:cNvSpPr/>
          <p:nvPr/>
        </p:nvSpPr>
        <p:spPr>
          <a:xfrm>
            <a:off x="2679192" y="1517904"/>
            <a:ext cx="2130552" cy="7772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9" name="TextBox 18"/>
          <p:cNvSpPr txBox="1"/>
          <p:nvPr/>
        </p:nvSpPr>
        <p:spPr>
          <a:xfrm>
            <a:off x="2770632" y="1591056"/>
            <a:ext cx="1965960" cy="329184"/>
          </a:xfrm>
          <a:prstGeom prst="rect">
            <a:avLst/>
          </a:prstGeom>
          <a:noFill/>
        </p:spPr>
        <p:txBody>
          <a:bodyPr wrap="square">
            <a:spAutoFit/>
          </a:bodyPr>
          <a:lstStyle/>
          <a:p>
            <a:pPr algn="l"/>
            <a:r>
              <a:rPr lang="fr-FR" sz="1500" b="1" i="0" noProof="0" dirty="0">
                <a:solidFill>
                  <a:srgbClr val="FFFFFF"/>
                </a:solidFill>
              </a:rPr>
              <a:t>Formulaire séance</a:t>
            </a:r>
          </a:p>
        </p:txBody>
      </p:sp>
      <p:sp>
        <p:nvSpPr>
          <p:cNvPr id="20" name="TextBox 19"/>
          <p:cNvSpPr txBox="1"/>
          <p:nvPr/>
        </p:nvSpPr>
        <p:spPr>
          <a:xfrm>
            <a:off x="2770632" y="1901952"/>
            <a:ext cx="1965960" cy="276999"/>
          </a:xfrm>
          <a:prstGeom prst="rect">
            <a:avLst/>
          </a:prstGeom>
          <a:noFill/>
        </p:spPr>
        <p:txBody>
          <a:bodyPr wrap="square">
            <a:spAutoFit/>
          </a:bodyPr>
          <a:lstStyle/>
          <a:p>
            <a:pPr algn="l"/>
            <a:r>
              <a:rPr lang="fr-FR" sz="1200" b="0" i="1" noProof="0" dirty="0">
                <a:solidFill>
                  <a:schemeClr val="bg1"/>
                </a:solidFill>
              </a:rPr>
              <a:t>Paramètres</a:t>
            </a:r>
          </a:p>
        </p:txBody>
      </p:sp>
      <p:sp>
        <p:nvSpPr>
          <p:cNvPr id="21" name="Rectangle 20"/>
          <p:cNvSpPr/>
          <p:nvPr/>
        </p:nvSpPr>
        <p:spPr>
          <a:xfrm>
            <a:off x="4901184" y="1517904"/>
            <a:ext cx="2130552" cy="7772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2" name="TextBox 21"/>
          <p:cNvSpPr txBox="1"/>
          <p:nvPr/>
        </p:nvSpPr>
        <p:spPr>
          <a:xfrm>
            <a:off x="4992624" y="1591056"/>
            <a:ext cx="1965960" cy="329184"/>
          </a:xfrm>
          <a:prstGeom prst="rect">
            <a:avLst/>
          </a:prstGeom>
          <a:noFill/>
        </p:spPr>
        <p:txBody>
          <a:bodyPr wrap="square">
            <a:spAutoFit/>
          </a:bodyPr>
          <a:lstStyle/>
          <a:p>
            <a:pPr algn="l"/>
            <a:r>
              <a:rPr lang="fr-FR" sz="1500" b="1" i="0" noProof="0" dirty="0">
                <a:solidFill>
                  <a:srgbClr val="FFFFFF"/>
                </a:solidFill>
              </a:rPr>
              <a:t>Affichage résultat</a:t>
            </a:r>
          </a:p>
        </p:txBody>
      </p:sp>
      <p:sp>
        <p:nvSpPr>
          <p:cNvPr id="23" name="TextBox 22"/>
          <p:cNvSpPr txBox="1"/>
          <p:nvPr/>
        </p:nvSpPr>
        <p:spPr>
          <a:xfrm>
            <a:off x="4992624" y="1901952"/>
            <a:ext cx="1965960" cy="276999"/>
          </a:xfrm>
          <a:prstGeom prst="rect">
            <a:avLst/>
          </a:prstGeom>
          <a:noFill/>
        </p:spPr>
        <p:txBody>
          <a:bodyPr wrap="square">
            <a:spAutoFit/>
          </a:bodyPr>
          <a:lstStyle/>
          <a:p>
            <a:pPr algn="l"/>
            <a:r>
              <a:rPr lang="fr-FR" sz="1200" b="0" i="1" noProof="0" dirty="0">
                <a:solidFill>
                  <a:schemeClr val="bg1"/>
                </a:solidFill>
              </a:rPr>
              <a:t>Plan + schéma</a:t>
            </a:r>
          </a:p>
        </p:txBody>
      </p:sp>
      <p:sp>
        <p:nvSpPr>
          <p:cNvPr id="24" name="Rectangle 23"/>
          <p:cNvSpPr/>
          <p:nvPr/>
        </p:nvSpPr>
        <p:spPr>
          <a:xfrm>
            <a:off x="7123176" y="1517904"/>
            <a:ext cx="2130552" cy="7772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5" name="TextBox 24"/>
          <p:cNvSpPr txBox="1"/>
          <p:nvPr/>
        </p:nvSpPr>
        <p:spPr>
          <a:xfrm>
            <a:off x="7214616" y="1591056"/>
            <a:ext cx="1965960" cy="329184"/>
          </a:xfrm>
          <a:prstGeom prst="rect">
            <a:avLst/>
          </a:prstGeom>
          <a:noFill/>
        </p:spPr>
        <p:txBody>
          <a:bodyPr wrap="square">
            <a:spAutoFit/>
          </a:bodyPr>
          <a:lstStyle/>
          <a:p>
            <a:pPr algn="l"/>
            <a:r>
              <a:rPr lang="fr-FR" sz="1500" b="1" i="0" noProof="0" dirty="0">
                <a:solidFill>
                  <a:srgbClr val="FFFFFF"/>
                </a:solidFill>
              </a:rPr>
              <a:t>Historique</a:t>
            </a:r>
          </a:p>
        </p:txBody>
      </p:sp>
      <p:sp>
        <p:nvSpPr>
          <p:cNvPr id="26" name="TextBox 25"/>
          <p:cNvSpPr txBox="1"/>
          <p:nvPr/>
        </p:nvSpPr>
        <p:spPr>
          <a:xfrm>
            <a:off x="7214616" y="1901952"/>
            <a:ext cx="1965960" cy="276999"/>
          </a:xfrm>
          <a:prstGeom prst="rect">
            <a:avLst/>
          </a:prstGeom>
          <a:noFill/>
        </p:spPr>
        <p:txBody>
          <a:bodyPr wrap="square">
            <a:spAutoFit/>
          </a:bodyPr>
          <a:lstStyle/>
          <a:p>
            <a:pPr algn="l"/>
            <a:r>
              <a:rPr lang="fr-FR" sz="1200" b="0" i="1" noProof="0" dirty="0">
                <a:solidFill>
                  <a:schemeClr val="bg1"/>
                </a:solidFill>
              </a:rPr>
              <a:t>Progression</a:t>
            </a:r>
          </a:p>
        </p:txBody>
      </p:sp>
      <p:sp>
        <p:nvSpPr>
          <p:cNvPr id="27" name="Rectangle 26"/>
          <p:cNvSpPr/>
          <p:nvPr/>
        </p:nvSpPr>
        <p:spPr>
          <a:xfrm>
            <a:off x="9345168" y="1517904"/>
            <a:ext cx="2130552" cy="7772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8" name="TextBox 27"/>
          <p:cNvSpPr txBox="1"/>
          <p:nvPr/>
        </p:nvSpPr>
        <p:spPr>
          <a:xfrm>
            <a:off x="9436608" y="1591056"/>
            <a:ext cx="1965960" cy="329184"/>
          </a:xfrm>
          <a:prstGeom prst="rect">
            <a:avLst/>
          </a:prstGeom>
          <a:noFill/>
        </p:spPr>
        <p:txBody>
          <a:bodyPr wrap="square">
            <a:spAutoFit/>
          </a:bodyPr>
          <a:lstStyle/>
          <a:p>
            <a:pPr algn="l"/>
            <a:r>
              <a:rPr lang="fr-FR" sz="1500" b="1" i="0" noProof="0" dirty="0" err="1">
                <a:solidFill>
                  <a:srgbClr val="FFFFFF"/>
                </a:solidFill>
              </a:rPr>
              <a:t>Auth</a:t>
            </a:r>
            <a:r>
              <a:rPr lang="fr-FR" sz="1500" b="1" i="0" noProof="0" dirty="0">
                <a:solidFill>
                  <a:srgbClr val="FFFFFF"/>
                </a:solidFill>
              </a:rPr>
              <a:t> UI</a:t>
            </a:r>
          </a:p>
        </p:txBody>
      </p:sp>
      <p:sp>
        <p:nvSpPr>
          <p:cNvPr id="29" name="TextBox 28"/>
          <p:cNvSpPr txBox="1"/>
          <p:nvPr/>
        </p:nvSpPr>
        <p:spPr>
          <a:xfrm>
            <a:off x="9436608" y="1901952"/>
            <a:ext cx="1965960" cy="276999"/>
          </a:xfrm>
          <a:prstGeom prst="rect">
            <a:avLst/>
          </a:prstGeom>
          <a:noFill/>
        </p:spPr>
        <p:txBody>
          <a:bodyPr wrap="square">
            <a:spAutoFit/>
          </a:bodyPr>
          <a:lstStyle/>
          <a:p>
            <a:pPr algn="l"/>
            <a:r>
              <a:rPr lang="fr-FR" sz="1200" b="0" i="1" noProof="0" dirty="0">
                <a:solidFill>
                  <a:schemeClr val="bg1"/>
                </a:solidFill>
              </a:rPr>
              <a:t>Login</a:t>
            </a:r>
          </a:p>
        </p:txBody>
      </p:sp>
      <p:sp>
        <p:nvSpPr>
          <p:cNvPr id="31" name="Rectangle 30"/>
          <p:cNvSpPr/>
          <p:nvPr/>
        </p:nvSpPr>
        <p:spPr>
          <a:xfrm>
            <a:off x="365760" y="2697480"/>
            <a:ext cx="11475720" cy="1298448"/>
          </a:xfrm>
          <a:prstGeom prst="rect">
            <a:avLst/>
          </a:prstGeom>
          <a:solidFill>
            <a:srgbClr val="03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2" name="Rectangle 31"/>
          <p:cNvSpPr/>
          <p:nvPr/>
        </p:nvSpPr>
        <p:spPr>
          <a:xfrm>
            <a:off x="365760" y="2697480"/>
            <a:ext cx="11475720" cy="45720"/>
          </a:xfrm>
          <a:prstGeom prst="rect">
            <a:avLst/>
          </a:prstGeom>
          <a:solidFill>
            <a:srgbClr val="38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3" name="TextBox 32"/>
          <p:cNvSpPr txBox="1"/>
          <p:nvPr/>
        </p:nvSpPr>
        <p:spPr>
          <a:xfrm>
            <a:off x="398009" y="2730597"/>
            <a:ext cx="4572000" cy="400110"/>
          </a:xfrm>
          <a:prstGeom prst="rect">
            <a:avLst/>
          </a:prstGeom>
          <a:noFill/>
        </p:spPr>
        <p:txBody>
          <a:bodyPr wrap="square">
            <a:spAutoFit/>
          </a:bodyPr>
          <a:lstStyle/>
          <a:p>
            <a:pPr algn="l"/>
            <a:r>
              <a:rPr lang="fr-FR" sz="2000" b="1" i="0" noProof="0" dirty="0">
                <a:solidFill>
                  <a:srgbClr val="38D4FF"/>
                </a:solidFill>
              </a:rPr>
              <a:t>BACKEND  —  </a:t>
            </a:r>
            <a:r>
              <a:rPr lang="fr-FR" sz="2000" b="1" i="0" noProof="0" dirty="0" err="1">
                <a:solidFill>
                  <a:srgbClr val="38D4FF"/>
                </a:solidFill>
              </a:rPr>
              <a:t>FastAPI</a:t>
            </a:r>
            <a:r>
              <a:rPr lang="fr-FR" sz="2000" b="1" i="0" noProof="0" dirty="0">
                <a:solidFill>
                  <a:srgbClr val="38D4FF"/>
                </a:solidFill>
              </a:rPr>
              <a:t> Python  |  Railway</a:t>
            </a:r>
          </a:p>
        </p:txBody>
      </p:sp>
      <p:sp>
        <p:nvSpPr>
          <p:cNvPr id="34" name="Rectangle 33"/>
          <p:cNvSpPr/>
          <p:nvPr/>
        </p:nvSpPr>
        <p:spPr>
          <a:xfrm>
            <a:off x="457200" y="3099816"/>
            <a:ext cx="2130552" cy="7772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5" name="TextBox 34"/>
          <p:cNvSpPr txBox="1"/>
          <p:nvPr/>
        </p:nvSpPr>
        <p:spPr>
          <a:xfrm>
            <a:off x="548640" y="3172968"/>
            <a:ext cx="1965960" cy="329184"/>
          </a:xfrm>
          <a:prstGeom prst="rect">
            <a:avLst/>
          </a:prstGeom>
          <a:noFill/>
        </p:spPr>
        <p:txBody>
          <a:bodyPr wrap="square">
            <a:spAutoFit/>
          </a:bodyPr>
          <a:lstStyle/>
          <a:p>
            <a:pPr algn="l"/>
            <a:r>
              <a:rPr lang="fr-FR" sz="1500" b="1" i="0" noProof="0" dirty="0" err="1">
                <a:solidFill>
                  <a:srgbClr val="FFFFFF"/>
                </a:solidFill>
              </a:rPr>
              <a:t>Auth</a:t>
            </a:r>
            <a:r>
              <a:rPr lang="fr-FR" sz="1500" b="1" i="0" noProof="0" dirty="0">
                <a:solidFill>
                  <a:srgbClr val="FFFFFF"/>
                </a:solidFill>
              </a:rPr>
              <a:t> &amp; JWT</a:t>
            </a:r>
          </a:p>
        </p:txBody>
      </p:sp>
      <p:sp>
        <p:nvSpPr>
          <p:cNvPr id="36" name="TextBox 35"/>
          <p:cNvSpPr txBox="1"/>
          <p:nvPr/>
        </p:nvSpPr>
        <p:spPr>
          <a:xfrm>
            <a:off x="548640" y="3483864"/>
            <a:ext cx="1965960" cy="276999"/>
          </a:xfrm>
          <a:prstGeom prst="rect">
            <a:avLst/>
          </a:prstGeom>
          <a:noFill/>
        </p:spPr>
        <p:txBody>
          <a:bodyPr wrap="square">
            <a:spAutoFit/>
          </a:bodyPr>
          <a:lstStyle/>
          <a:p>
            <a:pPr algn="l"/>
            <a:r>
              <a:rPr lang="fr-FR" sz="1200" b="0" i="1" noProof="0" dirty="0">
                <a:solidFill>
                  <a:schemeClr val="bg1"/>
                </a:solidFill>
              </a:rPr>
              <a:t>Supabase </a:t>
            </a:r>
            <a:r>
              <a:rPr lang="fr-FR" sz="1200" b="0" i="1" noProof="0" dirty="0" err="1">
                <a:solidFill>
                  <a:schemeClr val="bg1"/>
                </a:solidFill>
              </a:rPr>
              <a:t>Auth</a:t>
            </a:r>
            <a:endParaRPr lang="fr-FR" sz="1200" b="0" i="1" noProof="0" dirty="0">
              <a:solidFill>
                <a:schemeClr val="bg1"/>
              </a:solidFill>
            </a:endParaRPr>
          </a:p>
        </p:txBody>
      </p:sp>
      <p:sp>
        <p:nvSpPr>
          <p:cNvPr id="37" name="Rectangle 36"/>
          <p:cNvSpPr/>
          <p:nvPr/>
        </p:nvSpPr>
        <p:spPr>
          <a:xfrm>
            <a:off x="2679192" y="3099816"/>
            <a:ext cx="2130552" cy="7772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8" name="TextBox 37"/>
          <p:cNvSpPr txBox="1"/>
          <p:nvPr/>
        </p:nvSpPr>
        <p:spPr>
          <a:xfrm>
            <a:off x="2770632" y="3172968"/>
            <a:ext cx="1965960" cy="329184"/>
          </a:xfrm>
          <a:prstGeom prst="rect">
            <a:avLst/>
          </a:prstGeom>
          <a:noFill/>
        </p:spPr>
        <p:txBody>
          <a:bodyPr wrap="square">
            <a:spAutoFit/>
          </a:bodyPr>
          <a:lstStyle/>
          <a:p>
            <a:pPr algn="l"/>
            <a:r>
              <a:rPr lang="fr-FR" sz="1500" b="1" i="0" noProof="0" dirty="0">
                <a:solidFill>
                  <a:srgbClr val="FFFFFF"/>
                </a:solidFill>
              </a:rPr>
              <a:t>User Profile API</a:t>
            </a:r>
          </a:p>
        </p:txBody>
      </p:sp>
      <p:sp>
        <p:nvSpPr>
          <p:cNvPr id="39" name="TextBox 38"/>
          <p:cNvSpPr txBox="1"/>
          <p:nvPr/>
        </p:nvSpPr>
        <p:spPr>
          <a:xfrm>
            <a:off x="2770632" y="3483864"/>
            <a:ext cx="1965960" cy="276999"/>
          </a:xfrm>
          <a:prstGeom prst="rect">
            <a:avLst/>
          </a:prstGeom>
          <a:noFill/>
        </p:spPr>
        <p:txBody>
          <a:bodyPr wrap="square">
            <a:spAutoFit/>
          </a:bodyPr>
          <a:lstStyle/>
          <a:p>
            <a:pPr algn="l"/>
            <a:r>
              <a:rPr lang="fr-FR" sz="1200" b="0" i="1" noProof="0" dirty="0">
                <a:solidFill>
                  <a:schemeClr val="bg1"/>
                </a:solidFill>
              </a:rPr>
              <a:t>CRUD profils</a:t>
            </a:r>
          </a:p>
        </p:txBody>
      </p:sp>
      <p:sp>
        <p:nvSpPr>
          <p:cNvPr id="40" name="Rectangle 39"/>
          <p:cNvSpPr/>
          <p:nvPr/>
        </p:nvSpPr>
        <p:spPr>
          <a:xfrm>
            <a:off x="4901184" y="3099816"/>
            <a:ext cx="2130552" cy="7772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1" name="TextBox 40"/>
          <p:cNvSpPr txBox="1"/>
          <p:nvPr/>
        </p:nvSpPr>
        <p:spPr>
          <a:xfrm>
            <a:off x="4992624" y="3172968"/>
            <a:ext cx="1965960" cy="329184"/>
          </a:xfrm>
          <a:prstGeom prst="rect">
            <a:avLst/>
          </a:prstGeom>
          <a:noFill/>
        </p:spPr>
        <p:txBody>
          <a:bodyPr wrap="square">
            <a:spAutoFit/>
          </a:bodyPr>
          <a:lstStyle/>
          <a:p>
            <a:pPr algn="l"/>
            <a:r>
              <a:rPr lang="fr-FR" sz="1500" b="1" i="0" noProof="0" dirty="0" err="1">
                <a:solidFill>
                  <a:srgbClr val="FFFFFF"/>
                </a:solidFill>
              </a:rPr>
              <a:t>Exercise</a:t>
            </a:r>
            <a:r>
              <a:rPr lang="fr-FR" sz="1500" b="1" i="0" noProof="0" dirty="0">
                <a:solidFill>
                  <a:srgbClr val="FFFFFF"/>
                </a:solidFill>
              </a:rPr>
              <a:t> </a:t>
            </a:r>
            <a:r>
              <a:rPr lang="fr-FR" sz="1500" b="1" i="0" noProof="0" dirty="0" err="1">
                <a:solidFill>
                  <a:srgbClr val="FFFFFF"/>
                </a:solidFill>
              </a:rPr>
              <a:t>Search</a:t>
            </a:r>
            <a:endParaRPr lang="fr-FR" sz="1500" b="1" i="0" noProof="0" dirty="0">
              <a:solidFill>
                <a:srgbClr val="FFFFFF"/>
              </a:solidFill>
            </a:endParaRPr>
          </a:p>
        </p:txBody>
      </p:sp>
      <p:sp>
        <p:nvSpPr>
          <p:cNvPr id="42" name="TextBox 41"/>
          <p:cNvSpPr txBox="1"/>
          <p:nvPr/>
        </p:nvSpPr>
        <p:spPr>
          <a:xfrm>
            <a:off x="4992624" y="3483864"/>
            <a:ext cx="1965960" cy="276999"/>
          </a:xfrm>
          <a:prstGeom prst="rect">
            <a:avLst/>
          </a:prstGeom>
          <a:noFill/>
        </p:spPr>
        <p:txBody>
          <a:bodyPr wrap="square">
            <a:spAutoFit/>
          </a:bodyPr>
          <a:lstStyle/>
          <a:p>
            <a:pPr algn="l"/>
            <a:r>
              <a:rPr lang="fr-FR" sz="1200" b="0" i="1" noProof="0" dirty="0" err="1">
                <a:solidFill>
                  <a:schemeClr val="bg1"/>
                </a:solidFill>
              </a:rPr>
              <a:t>pgvector</a:t>
            </a:r>
            <a:r>
              <a:rPr lang="fr-FR" sz="1200" b="0" i="1" noProof="0" dirty="0">
                <a:solidFill>
                  <a:schemeClr val="bg1"/>
                </a:solidFill>
              </a:rPr>
              <a:t> </a:t>
            </a:r>
            <a:r>
              <a:rPr lang="fr-FR" sz="1200" b="0" i="1" noProof="0" dirty="0" err="1">
                <a:solidFill>
                  <a:schemeClr val="bg1"/>
                </a:solidFill>
              </a:rPr>
              <a:t>cosine</a:t>
            </a:r>
            <a:endParaRPr lang="fr-FR" sz="1200" b="0" i="1" noProof="0" dirty="0">
              <a:solidFill>
                <a:schemeClr val="bg1"/>
              </a:solidFill>
            </a:endParaRPr>
          </a:p>
        </p:txBody>
      </p:sp>
      <p:sp>
        <p:nvSpPr>
          <p:cNvPr id="43" name="Rectangle 42"/>
          <p:cNvSpPr/>
          <p:nvPr/>
        </p:nvSpPr>
        <p:spPr>
          <a:xfrm>
            <a:off x="7123176" y="3099816"/>
            <a:ext cx="2130552" cy="7772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4" name="TextBox 43"/>
          <p:cNvSpPr txBox="1"/>
          <p:nvPr/>
        </p:nvSpPr>
        <p:spPr>
          <a:xfrm>
            <a:off x="7214616" y="3172968"/>
            <a:ext cx="1965960" cy="329184"/>
          </a:xfrm>
          <a:prstGeom prst="rect">
            <a:avLst/>
          </a:prstGeom>
          <a:noFill/>
        </p:spPr>
        <p:txBody>
          <a:bodyPr wrap="square">
            <a:spAutoFit/>
          </a:bodyPr>
          <a:lstStyle/>
          <a:p>
            <a:pPr algn="l"/>
            <a:r>
              <a:rPr lang="fr-FR" sz="1500" b="1" i="0" noProof="0" dirty="0">
                <a:solidFill>
                  <a:srgbClr val="FFFFFF"/>
                </a:solidFill>
              </a:rPr>
              <a:t>LLM Orchestration</a:t>
            </a:r>
          </a:p>
        </p:txBody>
      </p:sp>
      <p:sp>
        <p:nvSpPr>
          <p:cNvPr id="45" name="TextBox 44"/>
          <p:cNvSpPr txBox="1"/>
          <p:nvPr/>
        </p:nvSpPr>
        <p:spPr>
          <a:xfrm>
            <a:off x="7214616" y="3483864"/>
            <a:ext cx="1965960" cy="276999"/>
          </a:xfrm>
          <a:prstGeom prst="rect">
            <a:avLst/>
          </a:prstGeom>
          <a:noFill/>
        </p:spPr>
        <p:txBody>
          <a:bodyPr wrap="square">
            <a:spAutoFit/>
          </a:bodyPr>
          <a:lstStyle/>
          <a:p>
            <a:pPr algn="l"/>
            <a:r>
              <a:rPr lang="fr-FR" sz="1200" b="0" i="1" noProof="0" dirty="0" err="1">
                <a:solidFill>
                  <a:schemeClr val="bg1"/>
                </a:solidFill>
              </a:rPr>
              <a:t>LangChain</a:t>
            </a:r>
            <a:endParaRPr lang="fr-FR" sz="1200" b="0" i="1" noProof="0" dirty="0">
              <a:solidFill>
                <a:schemeClr val="bg1"/>
              </a:solidFill>
            </a:endParaRPr>
          </a:p>
        </p:txBody>
      </p:sp>
      <p:sp>
        <p:nvSpPr>
          <p:cNvPr id="46" name="Rectangle 45"/>
          <p:cNvSpPr/>
          <p:nvPr/>
        </p:nvSpPr>
        <p:spPr>
          <a:xfrm>
            <a:off x="9345168" y="3099816"/>
            <a:ext cx="2130552" cy="7772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7" name="TextBox 46"/>
          <p:cNvSpPr txBox="1"/>
          <p:nvPr/>
        </p:nvSpPr>
        <p:spPr>
          <a:xfrm>
            <a:off x="9436608" y="3172968"/>
            <a:ext cx="1965960" cy="329184"/>
          </a:xfrm>
          <a:prstGeom prst="rect">
            <a:avLst/>
          </a:prstGeom>
          <a:noFill/>
        </p:spPr>
        <p:txBody>
          <a:bodyPr wrap="square">
            <a:spAutoFit/>
          </a:bodyPr>
          <a:lstStyle/>
          <a:p>
            <a:pPr algn="l"/>
            <a:r>
              <a:rPr lang="fr-FR" sz="1500" b="1" i="0" noProof="0" dirty="0">
                <a:solidFill>
                  <a:srgbClr val="FFFFFF"/>
                </a:solidFill>
              </a:rPr>
              <a:t>Image </a:t>
            </a:r>
            <a:r>
              <a:rPr lang="fr-FR" sz="1500" b="1" i="0" noProof="0" dirty="0" err="1">
                <a:solidFill>
                  <a:srgbClr val="FFFFFF"/>
                </a:solidFill>
              </a:rPr>
              <a:t>Gen</a:t>
            </a:r>
            <a:r>
              <a:rPr lang="fr-FR" sz="1500" b="1" i="0" noProof="0" dirty="0">
                <a:solidFill>
                  <a:srgbClr val="FFFFFF"/>
                </a:solidFill>
              </a:rPr>
              <a:t>.</a:t>
            </a:r>
          </a:p>
        </p:txBody>
      </p:sp>
      <p:sp>
        <p:nvSpPr>
          <p:cNvPr id="48" name="TextBox 47"/>
          <p:cNvSpPr txBox="1"/>
          <p:nvPr/>
        </p:nvSpPr>
        <p:spPr>
          <a:xfrm>
            <a:off x="9436608" y="3483864"/>
            <a:ext cx="1965960" cy="276999"/>
          </a:xfrm>
          <a:prstGeom prst="rect">
            <a:avLst/>
          </a:prstGeom>
          <a:noFill/>
        </p:spPr>
        <p:txBody>
          <a:bodyPr wrap="square">
            <a:spAutoFit/>
          </a:bodyPr>
          <a:lstStyle/>
          <a:p>
            <a:pPr algn="l"/>
            <a:r>
              <a:rPr lang="fr-FR" sz="1200" b="0" i="1" noProof="0" dirty="0">
                <a:solidFill>
                  <a:schemeClr val="bg1"/>
                </a:solidFill>
              </a:rPr>
              <a:t>DALL-E 3</a:t>
            </a:r>
          </a:p>
        </p:txBody>
      </p:sp>
      <p:sp>
        <p:nvSpPr>
          <p:cNvPr id="50" name="Rectangle 49"/>
          <p:cNvSpPr/>
          <p:nvPr/>
        </p:nvSpPr>
        <p:spPr>
          <a:xfrm>
            <a:off x="365760" y="4279392"/>
            <a:ext cx="5724144" cy="1417320"/>
          </a:xfrm>
          <a:prstGeom prst="rect">
            <a:avLst/>
          </a:prstGeom>
          <a:solidFill>
            <a:srgbClr val="031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1" name="Rectangle 50"/>
          <p:cNvSpPr/>
          <p:nvPr/>
        </p:nvSpPr>
        <p:spPr>
          <a:xfrm>
            <a:off x="365760" y="4279392"/>
            <a:ext cx="5724144" cy="45720"/>
          </a:xfrm>
          <a:prstGeom prst="rect">
            <a:avLst/>
          </a:prstGeom>
          <a:solidFill>
            <a:srgbClr val="5BA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2" name="TextBox 51"/>
          <p:cNvSpPr txBox="1"/>
          <p:nvPr/>
        </p:nvSpPr>
        <p:spPr>
          <a:xfrm>
            <a:off x="368808" y="4294221"/>
            <a:ext cx="3657600" cy="400110"/>
          </a:xfrm>
          <a:prstGeom prst="rect">
            <a:avLst/>
          </a:prstGeom>
          <a:noFill/>
        </p:spPr>
        <p:txBody>
          <a:bodyPr wrap="square">
            <a:spAutoFit/>
          </a:bodyPr>
          <a:lstStyle/>
          <a:p>
            <a:pPr algn="l"/>
            <a:r>
              <a:rPr lang="fr-FR" sz="2000" b="1" i="0" noProof="0" dirty="0">
                <a:solidFill>
                  <a:srgbClr val="5BA8FF"/>
                </a:solidFill>
              </a:rPr>
              <a:t>IA SERVICES  —  APIs tierces</a:t>
            </a:r>
          </a:p>
        </p:txBody>
      </p:sp>
      <p:sp>
        <p:nvSpPr>
          <p:cNvPr id="53" name="Rectangle 52"/>
          <p:cNvSpPr/>
          <p:nvPr/>
        </p:nvSpPr>
        <p:spPr>
          <a:xfrm>
            <a:off x="457200" y="4663440"/>
            <a:ext cx="1298448" cy="89611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4" name="TextBox 53"/>
          <p:cNvSpPr txBox="1"/>
          <p:nvPr/>
        </p:nvSpPr>
        <p:spPr>
          <a:xfrm>
            <a:off x="530352" y="4736592"/>
            <a:ext cx="1371600" cy="553998"/>
          </a:xfrm>
          <a:prstGeom prst="rect">
            <a:avLst/>
          </a:prstGeom>
          <a:noFill/>
        </p:spPr>
        <p:txBody>
          <a:bodyPr wrap="square">
            <a:spAutoFit/>
          </a:bodyPr>
          <a:lstStyle/>
          <a:p>
            <a:pPr algn="l"/>
            <a:r>
              <a:rPr lang="fr-FR" sz="1500" b="1" i="0" noProof="0" dirty="0">
                <a:solidFill>
                  <a:srgbClr val="FFFFFF"/>
                </a:solidFill>
              </a:rPr>
              <a:t>Claude 3.5 Sonnet</a:t>
            </a:r>
          </a:p>
        </p:txBody>
      </p:sp>
      <p:sp>
        <p:nvSpPr>
          <p:cNvPr id="55" name="TextBox 54"/>
          <p:cNvSpPr txBox="1"/>
          <p:nvPr/>
        </p:nvSpPr>
        <p:spPr>
          <a:xfrm>
            <a:off x="521208" y="5241405"/>
            <a:ext cx="1170432" cy="246221"/>
          </a:xfrm>
          <a:prstGeom prst="rect">
            <a:avLst/>
          </a:prstGeom>
          <a:noFill/>
        </p:spPr>
        <p:txBody>
          <a:bodyPr wrap="square">
            <a:spAutoFit/>
          </a:bodyPr>
          <a:lstStyle/>
          <a:p>
            <a:pPr algn="l"/>
            <a:r>
              <a:rPr lang="fr-FR" sz="1000" b="0" i="1" noProof="0" dirty="0">
                <a:solidFill>
                  <a:schemeClr val="bg1"/>
                </a:solidFill>
              </a:rPr>
              <a:t>Génération texte</a:t>
            </a:r>
          </a:p>
        </p:txBody>
      </p:sp>
      <p:sp>
        <p:nvSpPr>
          <p:cNvPr id="56" name="Rectangle 55"/>
          <p:cNvSpPr/>
          <p:nvPr/>
        </p:nvSpPr>
        <p:spPr>
          <a:xfrm>
            <a:off x="1828800" y="4663440"/>
            <a:ext cx="1298448" cy="89611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7" name="TextBox 56"/>
          <p:cNvSpPr txBox="1"/>
          <p:nvPr/>
        </p:nvSpPr>
        <p:spPr>
          <a:xfrm>
            <a:off x="1786964" y="4793826"/>
            <a:ext cx="1783080" cy="292388"/>
          </a:xfrm>
          <a:prstGeom prst="rect">
            <a:avLst/>
          </a:prstGeom>
          <a:noFill/>
        </p:spPr>
        <p:txBody>
          <a:bodyPr wrap="square">
            <a:spAutoFit/>
          </a:bodyPr>
          <a:lstStyle/>
          <a:p>
            <a:pPr algn="l"/>
            <a:r>
              <a:rPr lang="fr-FR" sz="1300" b="1" i="0" noProof="0" dirty="0">
                <a:solidFill>
                  <a:srgbClr val="FFFFFF"/>
                </a:solidFill>
              </a:rPr>
              <a:t>text-embedding-3</a:t>
            </a:r>
          </a:p>
        </p:txBody>
      </p:sp>
      <p:sp>
        <p:nvSpPr>
          <p:cNvPr id="58" name="TextBox 57"/>
          <p:cNvSpPr txBox="1"/>
          <p:nvPr/>
        </p:nvSpPr>
        <p:spPr>
          <a:xfrm>
            <a:off x="1828997" y="5074920"/>
            <a:ext cx="1170432" cy="276999"/>
          </a:xfrm>
          <a:prstGeom prst="rect">
            <a:avLst/>
          </a:prstGeom>
          <a:noFill/>
        </p:spPr>
        <p:txBody>
          <a:bodyPr wrap="square">
            <a:spAutoFit/>
          </a:bodyPr>
          <a:lstStyle/>
          <a:p>
            <a:pPr algn="l"/>
            <a:r>
              <a:rPr lang="fr-FR" sz="1200" b="0" i="1" noProof="0" dirty="0">
                <a:solidFill>
                  <a:schemeClr val="bg1"/>
                </a:solidFill>
              </a:rPr>
              <a:t>Vectorisation</a:t>
            </a:r>
          </a:p>
        </p:txBody>
      </p:sp>
      <p:sp>
        <p:nvSpPr>
          <p:cNvPr id="59" name="Rectangle 58"/>
          <p:cNvSpPr/>
          <p:nvPr/>
        </p:nvSpPr>
        <p:spPr>
          <a:xfrm>
            <a:off x="3200400" y="4663440"/>
            <a:ext cx="1298448" cy="89611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60" name="TextBox 59"/>
          <p:cNvSpPr txBox="1"/>
          <p:nvPr/>
        </p:nvSpPr>
        <p:spPr>
          <a:xfrm>
            <a:off x="3273552" y="4736592"/>
            <a:ext cx="1170432" cy="323165"/>
          </a:xfrm>
          <a:prstGeom prst="rect">
            <a:avLst/>
          </a:prstGeom>
          <a:noFill/>
        </p:spPr>
        <p:txBody>
          <a:bodyPr wrap="square">
            <a:spAutoFit/>
          </a:bodyPr>
          <a:lstStyle/>
          <a:p>
            <a:pPr algn="l"/>
            <a:r>
              <a:rPr lang="fr-FR" sz="1500" b="1" i="0" noProof="0" dirty="0">
                <a:solidFill>
                  <a:srgbClr val="FFFFFF"/>
                </a:solidFill>
              </a:rPr>
              <a:t>DALL-E 3</a:t>
            </a:r>
          </a:p>
        </p:txBody>
      </p:sp>
      <p:sp>
        <p:nvSpPr>
          <p:cNvPr id="61" name="TextBox 60"/>
          <p:cNvSpPr txBox="1"/>
          <p:nvPr/>
        </p:nvSpPr>
        <p:spPr>
          <a:xfrm>
            <a:off x="3273552" y="5074920"/>
            <a:ext cx="1170432" cy="276999"/>
          </a:xfrm>
          <a:prstGeom prst="rect">
            <a:avLst/>
          </a:prstGeom>
          <a:noFill/>
        </p:spPr>
        <p:txBody>
          <a:bodyPr wrap="square">
            <a:spAutoFit/>
          </a:bodyPr>
          <a:lstStyle/>
          <a:p>
            <a:pPr algn="l"/>
            <a:r>
              <a:rPr lang="fr-FR" sz="1200" b="0" i="1" noProof="0" dirty="0">
                <a:solidFill>
                  <a:schemeClr val="bg1"/>
                </a:solidFill>
              </a:rPr>
              <a:t>Schémas</a:t>
            </a:r>
          </a:p>
        </p:txBody>
      </p:sp>
      <p:sp>
        <p:nvSpPr>
          <p:cNvPr id="62" name="Rectangle 61"/>
          <p:cNvSpPr/>
          <p:nvPr/>
        </p:nvSpPr>
        <p:spPr>
          <a:xfrm>
            <a:off x="4572000" y="4663440"/>
            <a:ext cx="1298448" cy="89611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63" name="TextBox 62"/>
          <p:cNvSpPr txBox="1"/>
          <p:nvPr/>
        </p:nvSpPr>
        <p:spPr>
          <a:xfrm>
            <a:off x="4645152" y="4736592"/>
            <a:ext cx="1170432" cy="323165"/>
          </a:xfrm>
          <a:prstGeom prst="rect">
            <a:avLst/>
          </a:prstGeom>
          <a:noFill/>
        </p:spPr>
        <p:txBody>
          <a:bodyPr wrap="square">
            <a:spAutoFit/>
          </a:bodyPr>
          <a:lstStyle/>
          <a:p>
            <a:pPr algn="l"/>
            <a:r>
              <a:rPr lang="fr-FR" sz="1500" b="1" i="0" noProof="0" dirty="0">
                <a:solidFill>
                  <a:srgbClr val="FFFFFF"/>
                </a:solidFill>
              </a:rPr>
              <a:t>Mem0</a:t>
            </a:r>
          </a:p>
        </p:txBody>
      </p:sp>
      <p:sp>
        <p:nvSpPr>
          <p:cNvPr id="64" name="TextBox 63"/>
          <p:cNvSpPr txBox="1"/>
          <p:nvPr/>
        </p:nvSpPr>
        <p:spPr>
          <a:xfrm>
            <a:off x="4645152" y="5074920"/>
            <a:ext cx="1170432" cy="276999"/>
          </a:xfrm>
          <a:prstGeom prst="rect">
            <a:avLst/>
          </a:prstGeom>
          <a:noFill/>
        </p:spPr>
        <p:txBody>
          <a:bodyPr wrap="square">
            <a:spAutoFit/>
          </a:bodyPr>
          <a:lstStyle/>
          <a:p>
            <a:pPr algn="l"/>
            <a:r>
              <a:rPr lang="fr-FR" sz="1200" b="0" i="1" noProof="0" dirty="0">
                <a:solidFill>
                  <a:schemeClr val="bg1"/>
                </a:solidFill>
              </a:rPr>
              <a:t>Mémoire</a:t>
            </a:r>
          </a:p>
        </p:txBody>
      </p:sp>
      <p:sp>
        <p:nvSpPr>
          <p:cNvPr id="65" name="Rectangle 64"/>
          <p:cNvSpPr/>
          <p:nvPr/>
        </p:nvSpPr>
        <p:spPr>
          <a:xfrm>
            <a:off x="6144768" y="4279392"/>
            <a:ext cx="5696712" cy="1417320"/>
          </a:xfrm>
          <a:prstGeom prst="rect">
            <a:avLst/>
          </a:prstGeom>
          <a:solidFill>
            <a:srgbClr val="03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66" name="Rectangle 65"/>
          <p:cNvSpPr/>
          <p:nvPr/>
        </p:nvSpPr>
        <p:spPr>
          <a:xfrm>
            <a:off x="6144768" y="4279392"/>
            <a:ext cx="5696712" cy="45720"/>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67" name="TextBox 66"/>
          <p:cNvSpPr txBox="1"/>
          <p:nvPr/>
        </p:nvSpPr>
        <p:spPr>
          <a:xfrm>
            <a:off x="6178296" y="4294221"/>
            <a:ext cx="5416296" cy="400110"/>
          </a:xfrm>
          <a:prstGeom prst="rect">
            <a:avLst/>
          </a:prstGeom>
          <a:noFill/>
        </p:spPr>
        <p:txBody>
          <a:bodyPr wrap="square">
            <a:spAutoFit/>
          </a:bodyPr>
          <a:lstStyle/>
          <a:p>
            <a:pPr algn="l"/>
            <a:r>
              <a:rPr lang="fr-FR" sz="2000" b="1" i="0" noProof="0" dirty="0">
                <a:solidFill>
                  <a:srgbClr val="3CE88E"/>
                </a:solidFill>
              </a:rPr>
              <a:t>DATA LAYER  —  Supabase (cloud</a:t>
            </a:r>
            <a:r>
              <a:rPr lang="fr-FR" sz="2000" b="1" dirty="0">
                <a:solidFill>
                  <a:srgbClr val="3CE88E"/>
                </a:solidFill>
              </a:rPr>
              <a:t> </a:t>
            </a:r>
            <a:r>
              <a:rPr lang="fr-FR" sz="2000" b="1" i="0" noProof="0" dirty="0">
                <a:solidFill>
                  <a:srgbClr val="3CE88E"/>
                </a:solidFill>
              </a:rPr>
              <a:t>manage)</a:t>
            </a:r>
          </a:p>
        </p:txBody>
      </p:sp>
      <p:sp>
        <p:nvSpPr>
          <p:cNvPr id="68" name="Rectangle 67"/>
          <p:cNvSpPr/>
          <p:nvPr/>
        </p:nvSpPr>
        <p:spPr>
          <a:xfrm>
            <a:off x="6236208" y="4663440"/>
            <a:ext cx="1737360" cy="89611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69" name="TextBox 68"/>
          <p:cNvSpPr txBox="1"/>
          <p:nvPr/>
        </p:nvSpPr>
        <p:spPr>
          <a:xfrm>
            <a:off x="6327648" y="4736592"/>
            <a:ext cx="1572768" cy="323165"/>
          </a:xfrm>
          <a:prstGeom prst="rect">
            <a:avLst/>
          </a:prstGeom>
          <a:noFill/>
        </p:spPr>
        <p:txBody>
          <a:bodyPr wrap="square">
            <a:spAutoFit/>
          </a:bodyPr>
          <a:lstStyle/>
          <a:p>
            <a:pPr algn="l"/>
            <a:r>
              <a:rPr lang="fr-FR" sz="1500" b="1" i="0" noProof="0" dirty="0">
                <a:solidFill>
                  <a:srgbClr val="FFFFFF"/>
                </a:solidFill>
              </a:rPr>
              <a:t>PostgreSQL</a:t>
            </a:r>
          </a:p>
        </p:txBody>
      </p:sp>
      <p:sp>
        <p:nvSpPr>
          <p:cNvPr id="70" name="TextBox 69"/>
          <p:cNvSpPr txBox="1"/>
          <p:nvPr/>
        </p:nvSpPr>
        <p:spPr>
          <a:xfrm>
            <a:off x="6327648" y="5074920"/>
            <a:ext cx="1572768" cy="276999"/>
          </a:xfrm>
          <a:prstGeom prst="rect">
            <a:avLst/>
          </a:prstGeom>
          <a:noFill/>
        </p:spPr>
        <p:txBody>
          <a:bodyPr wrap="square">
            <a:spAutoFit/>
          </a:bodyPr>
          <a:lstStyle/>
          <a:p>
            <a:pPr algn="l"/>
            <a:r>
              <a:rPr lang="fr-FR" sz="1200" b="0" i="1" noProof="0" dirty="0">
                <a:solidFill>
                  <a:schemeClr val="bg1"/>
                </a:solidFill>
              </a:rPr>
              <a:t>Profils et séances</a:t>
            </a:r>
          </a:p>
        </p:txBody>
      </p:sp>
      <p:sp>
        <p:nvSpPr>
          <p:cNvPr id="71" name="Rectangle 70"/>
          <p:cNvSpPr/>
          <p:nvPr/>
        </p:nvSpPr>
        <p:spPr>
          <a:xfrm>
            <a:off x="8046720" y="4663440"/>
            <a:ext cx="1737360" cy="89611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2" name="TextBox 71"/>
          <p:cNvSpPr txBox="1"/>
          <p:nvPr/>
        </p:nvSpPr>
        <p:spPr>
          <a:xfrm>
            <a:off x="8138160" y="4736592"/>
            <a:ext cx="1572768" cy="323165"/>
          </a:xfrm>
          <a:prstGeom prst="rect">
            <a:avLst/>
          </a:prstGeom>
          <a:noFill/>
        </p:spPr>
        <p:txBody>
          <a:bodyPr wrap="square">
            <a:spAutoFit/>
          </a:bodyPr>
          <a:lstStyle/>
          <a:p>
            <a:pPr algn="l"/>
            <a:r>
              <a:rPr lang="fr-FR" sz="1500" b="1" i="0" noProof="0" dirty="0" err="1">
                <a:solidFill>
                  <a:srgbClr val="FFFFFF"/>
                </a:solidFill>
              </a:rPr>
              <a:t>pgvector</a:t>
            </a:r>
            <a:endParaRPr lang="fr-FR" sz="1500" b="1" i="0" noProof="0" dirty="0">
              <a:solidFill>
                <a:srgbClr val="FFFFFF"/>
              </a:solidFill>
            </a:endParaRPr>
          </a:p>
        </p:txBody>
      </p:sp>
      <p:sp>
        <p:nvSpPr>
          <p:cNvPr id="73" name="TextBox 72"/>
          <p:cNvSpPr txBox="1"/>
          <p:nvPr/>
        </p:nvSpPr>
        <p:spPr>
          <a:xfrm>
            <a:off x="8138160" y="5074920"/>
            <a:ext cx="1572768" cy="276999"/>
          </a:xfrm>
          <a:prstGeom prst="rect">
            <a:avLst/>
          </a:prstGeom>
          <a:noFill/>
        </p:spPr>
        <p:txBody>
          <a:bodyPr wrap="square">
            <a:spAutoFit/>
          </a:bodyPr>
          <a:lstStyle/>
          <a:p>
            <a:pPr algn="l"/>
            <a:r>
              <a:rPr lang="fr-FR" sz="1200" b="0" i="1" noProof="0" dirty="0" err="1">
                <a:solidFill>
                  <a:schemeClr val="bg1"/>
                </a:solidFill>
              </a:rPr>
              <a:t>Embeddings</a:t>
            </a:r>
            <a:r>
              <a:rPr lang="fr-FR" sz="1200" b="0" i="1" noProof="0" dirty="0">
                <a:solidFill>
                  <a:schemeClr val="bg1"/>
                </a:solidFill>
              </a:rPr>
              <a:t> RAG</a:t>
            </a:r>
          </a:p>
        </p:txBody>
      </p:sp>
      <p:sp>
        <p:nvSpPr>
          <p:cNvPr id="74" name="Rectangle 73"/>
          <p:cNvSpPr/>
          <p:nvPr/>
        </p:nvSpPr>
        <p:spPr>
          <a:xfrm>
            <a:off x="9857232" y="4663440"/>
            <a:ext cx="1737360" cy="89611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5" name="TextBox 74"/>
          <p:cNvSpPr txBox="1"/>
          <p:nvPr/>
        </p:nvSpPr>
        <p:spPr>
          <a:xfrm>
            <a:off x="9948672" y="4736592"/>
            <a:ext cx="1645920" cy="323165"/>
          </a:xfrm>
          <a:prstGeom prst="rect">
            <a:avLst/>
          </a:prstGeom>
          <a:noFill/>
        </p:spPr>
        <p:txBody>
          <a:bodyPr wrap="square">
            <a:spAutoFit/>
          </a:bodyPr>
          <a:lstStyle/>
          <a:p>
            <a:pPr algn="l"/>
            <a:r>
              <a:rPr lang="fr-FR" sz="1500" b="1" i="0" noProof="0" dirty="0">
                <a:solidFill>
                  <a:srgbClr val="FFFFFF"/>
                </a:solidFill>
              </a:rPr>
              <a:t>Supabase Storage</a:t>
            </a:r>
          </a:p>
        </p:txBody>
      </p:sp>
      <p:sp>
        <p:nvSpPr>
          <p:cNvPr id="76" name="TextBox 75"/>
          <p:cNvSpPr txBox="1"/>
          <p:nvPr/>
        </p:nvSpPr>
        <p:spPr>
          <a:xfrm>
            <a:off x="9948672" y="5074920"/>
            <a:ext cx="1572768" cy="276999"/>
          </a:xfrm>
          <a:prstGeom prst="rect">
            <a:avLst/>
          </a:prstGeom>
          <a:noFill/>
        </p:spPr>
        <p:txBody>
          <a:bodyPr wrap="square">
            <a:spAutoFit/>
          </a:bodyPr>
          <a:lstStyle/>
          <a:p>
            <a:pPr algn="l"/>
            <a:r>
              <a:rPr lang="fr-FR" sz="1200" b="0" i="1" noProof="0" dirty="0">
                <a:solidFill>
                  <a:schemeClr val="bg1"/>
                </a:solidFill>
              </a:rPr>
              <a:t>Images et schémas</a:t>
            </a:r>
          </a:p>
        </p:txBody>
      </p:sp>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The image depicts a dark, abstract pattern resembling swirling, fluid oceanic or cosmic motions.&#10;&#10;Le contenu généré par l’IA peut être incorrect.">
            <a:extLst>
              <a:ext uri="{FF2B5EF4-FFF2-40B4-BE49-F238E27FC236}">
                <a16:creationId xmlns:a16="http://schemas.microsoft.com/office/drawing/2014/main" id="{3396A43E-9F1E-1589-4210-51532B2AAA82}"/>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5" name="TextBox 4"/>
          <p:cNvSpPr txBox="1"/>
          <p:nvPr/>
        </p:nvSpPr>
        <p:spPr>
          <a:xfrm>
            <a:off x="482881" y="443321"/>
            <a:ext cx="11841353" cy="707886"/>
          </a:xfrm>
          <a:prstGeom prst="rect">
            <a:avLst/>
          </a:prstGeom>
          <a:noFill/>
        </p:spPr>
        <p:txBody>
          <a:bodyPr wrap="square">
            <a:spAutoFit/>
          </a:bodyPr>
          <a:lstStyle/>
          <a:p>
            <a:pPr algn="l"/>
            <a:r>
              <a:rPr lang="fr-FR" sz="4000" b="1" i="0" noProof="0" dirty="0">
                <a:solidFill>
                  <a:srgbClr val="FFFFFF"/>
                </a:solidFill>
              </a:rPr>
              <a:t>Pipeline RAG — personnalisation par historique</a:t>
            </a:r>
          </a:p>
        </p:txBody>
      </p:sp>
      <p:sp>
        <p:nvSpPr>
          <p:cNvPr id="12" name="Rectangle 11"/>
          <p:cNvSpPr/>
          <p:nvPr/>
        </p:nvSpPr>
        <p:spPr>
          <a:xfrm>
            <a:off x="520244" y="1874521"/>
            <a:ext cx="1645359" cy="1688624"/>
          </a:xfrm>
          <a:prstGeom prst="rect">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6" name="TextBox 15"/>
          <p:cNvSpPr txBox="1"/>
          <p:nvPr/>
        </p:nvSpPr>
        <p:spPr>
          <a:xfrm>
            <a:off x="611684" y="1941560"/>
            <a:ext cx="1616964" cy="707886"/>
          </a:xfrm>
          <a:prstGeom prst="rect">
            <a:avLst/>
          </a:prstGeom>
          <a:noFill/>
        </p:spPr>
        <p:txBody>
          <a:bodyPr wrap="square">
            <a:spAutoFit/>
          </a:bodyPr>
          <a:lstStyle/>
          <a:p>
            <a:pPr algn="l"/>
            <a:r>
              <a:rPr lang="fr-FR" sz="2000" b="1" i="0" noProof="0" dirty="0"/>
              <a:t>Requête
utilisateur</a:t>
            </a:r>
          </a:p>
        </p:txBody>
      </p:sp>
      <p:sp>
        <p:nvSpPr>
          <p:cNvPr id="17" name="TextBox 16"/>
          <p:cNvSpPr txBox="1"/>
          <p:nvPr/>
        </p:nvSpPr>
        <p:spPr>
          <a:xfrm>
            <a:off x="471992" y="2579379"/>
            <a:ext cx="1690116" cy="784830"/>
          </a:xfrm>
          <a:prstGeom prst="rect">
            <a:avLst/>
          </a:prstGeom>
          <a:noFill/>
        </p:spPr>
        <p:txBody>
          <a:bodyPr wrap="square">
            <a:spAutoFit/>
          </a:bodyPr>
          <a:lstStyle/>
          <a:p>
            <a:pPr algn="ctr"/>
            <a:r>
              <a:rPr lang="fr-FR" sz="1500" b="0" i="0" noProof="0" dirty="0"/>
              <a:t>Séance dressage 
niveau amateur
cheval de 5 ans</a:t>
            </a:r>
          </a:p>
        </p:txBody>
      </p:sp>
      <p:sp>
        <p:nvSpPr>
          <p:cNvPr id="18" name="Rectangle 17"/>
          <p:cNvSpPr/>
          <p:nvPr/>
        </p:nvSpPr>
        <p:spPr>
          <a:xfrm>
            <a:off x="2161032" y="2766635"/>
            <a:ext cx="150876" cy="54864"/>
          </a:xfrm>
          <a:prstGeom prst="rect">
            <a:avLst/>
          </a:prstGeom>
          <a:solidFill>
            <a:srgbClr val="A8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9" name="Rectangle 18"/>
          <p:cNvSpPr/>
          <p:nvPr/>
        </p:nvSpPr>
        <p:spPr>
          <a:xfrm>
            <a:off x="2275332" y="1874520"/>
            <a:ext cx="1799844" cy="1688625"/>
          </a:xfrm>
          <a:prstGeom prst="rect">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3" name="TextBox 22"/>
          <p:cNvSpPr txBox="1"/>
          <p:nvPr/>
        </p:nvSpPr>
        <p:spPr>
          <a:xfrm>
            <a:off x="2352761" y="1926139"/>
            <a:ext cx="1616964" cy="400110"/>
          </a:xfrm>
          <a:prstGeom prst="rect">
            <a:avLst/>
          </a:prstGeom>
          <a:noFill/>
        </p:spPr>
        <p:txBody>
          <a:bodyPr wrap="square">
            <a:spAutoFit/>
          </a:bodyPr>
          <a:lstStyle/>
          <a:p>
            <a:pPr algn="l"/>
            <a:r>
              <a:rPr lang="fr-FR" sz="2000" b="1" i="0" noProof="0" dirty="0"/>
              <a:t>Vectorisation</a:t>
            </a:r>
          </a:p>
        </p:txBody>
      </p:sp>
      <p:sp>
        <p:nvSpPr>
          <p:cNvPr id="24" name="TextBox 23"/>
          <p:cNvSpPr txBox="1"/>
          <p:nvPr/>
        </p:nvSpPr>
        <p:spPr>
          <a:xfrm>
            <a:off x="2321052" y="2579379"/>
            <a:ext cx="1680971" cy="784830"/>
          </a:xfrm>
          <a:prstGeom prst="rect">
            <a:avLst/>
          </a:prstGeom>
          <a:noFill/>
        </p:spPr>
        <p:txBody>
          <a:bodyPr wrap="square">
            <a:spAutoFit/>
          </a:bodyPr>
          <a:lstStyle/>
          <a:p>
            <a:pPr algn="ctr"/>
            <a:r>
              <a:rPr lang="fr-FR" sz="1500" b="0" i="0" noProof="0" dirty="0"/>
              <a:t>text-embedding-3
Vecteur 1536D
de la requête</a:t>
            </a:r>
          </a:p>
        </p:txBody>
      </p:sp>
      <p:sp>
        <p:nvSpPr>
          <p:cNvPr id="25" name="Rectangle 24"/>
          <p:cNvSpPr/>
          <p:nvPr/>
        </p:nvSpPr>
        <p:spPr>
          <a:xfrm>
            <a:off x="4073677" y="2766636"/>
            <a:ext cx="111227" cy="54864"/>
          </a:xfrm>
          <a:prstGeom prst="rect">
            <a:avLst/>
          </a:prstGeom>
          <a:solidFill>
            <a:srgbClr val="A8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6" name="Rectangle 25"/>
          <p:cNvSpPr/>
          <p:nvPr/>
        </p:nvSpPr>
        <p:spPr>
          <a:xfrm>
            <a:off x="4184904" y="1874520"/>
            <a:ext cx="1799844" cy="1688625"/>
          </a:xfrm>
          <a:prstGeom prst="rect">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0" name="TextBox 29"/>
          <p:cNvSpPr txBox="1"/>
          <p:nvPr/>
        </p:nvSpPr>
        <p:spPr>
          <a:xfrm>
            <a:off x="4294632" y="1901952"/>
            <a:ext cx="1616964" cy="707886"/>
          </a:xfrm>
          <a:prstGeom prst="rect">
            <a:avLst/>
          </a:prstGeom>
          <a:noFill/>
        </p:spPr>
        <p:txBody>
          <a:bodyPr wrap="square">
            <a:spAutoFit/>
          </a:bodyPr>
          <a:lstStyle/>
          <a:p>
            <a:pPr algn="l"/>
            <a:r>
              <a:rPr lang="fr-FR" sz="2000" b="1" i="0" noProof="0" dirty="0"/>
              <a:t>Recherche
vectorielle</a:t>
            </a:r>
          </a:p>
        </p:txBody>
      </p:sp>
      <p:sp>
        <p:nvSpPr>
          <p:cNvPr id="31" name="TextBox 30"/>
          <p:cNvSpPr txBox="1"/>
          <p:nvPr/>
        </p:nvSpPr>
        <p:spPr>
          <a:xfrm>
            <a:off x="4153982" y="2609838"/>
            <a:ext cx="1885630" cy="784830"/>
          </a:xfrm>
          <a:prstGeom prst="rect">
            <a:avLst/>
          </a:prstGeom>
          <a:noFill/>
        </p:spPr>
        <p:txBody>
          <a:bodyPr wrap="square">
            <a:spAutoFit/>
          </a:bodyPr>
          <a:lstStyle/>
          <a:p>
            <a:pPr algn="ctr"/>
            <a:r>
              <a:rPr lang="fr-FR" sz="1500" b="0" i="0" noProof="0" dirty="0" err="1"/>
              <a:t>pgvector</a:t>
            </a:r>
            <a:r>
              <a:rPr lang="fr-FR" sz="1500" b="0" i="0" noProof="0" dirty="0"/>
              <a:t> </a:t>
            </a:r>
            <a:r>
              <a:rPr lang="fr-FR" sz="1500" b="0" i="0" noProof="0" dirty="0" err="1"/>
              <a:t>cosine</a:t>
            </a:r>
            <a:r>
              <a:rPr lang="fr-FR" sz="1500" b="0" i="0" noProof="0" dirty="0"/>
              <a:t> </a:t>
            </a:r>
            <a:r>
              <a:rPr lang="fr-FR" sz="1500" b="0" i="0" noProof="0" dirty="0" err="1"/>
              <a:t>sim</a:t>
            </a:r>
            <a:r>
              <a:rPr lang="fr-FR" sz="1500" b="0" i="0" noProof="0" dirty="0"/>
              <a:t>.
Top-5 exercices
filtres niveau + </a:t>
            </a:r>
            <a:r>
              <a:rPr lang="fr-FR" sz="1500" b="0" i="0" noProof="0" dirty="0" err="1"/>
              <a:t>disci</a:t>
            </a:r>
            <a:r>
              <a:rPr lang="fr-FR" sz="1500" b="0" i="0" noProof="0" dirty="0"/>
              <a:t>.</a:t>
            </a:r>
          </a:p>
        </p:txBody>
      </p:sp>
      <p:sp>
        <p:nvSpPr>
          <p:cNvPr id="32" name="Rectangle 31"/>
          <p:cNvSpPr/>
          <p:nvPr/>
        </p:nvSpPr>
        <p:spPr>
          <a:xfrm>
            <a:off x="5984748" y="2786308"/>
            <a:ext cx="155448" cy="70382"/>
          </a:xfrm>
          <a:prstGeom prst="rect">
            <a:avLst/>
          </a:prstGeom>
          <a:solidFill>
            <a:srgbClr val="A8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3" name="Rectangle 32"/>
          <p:cNvSpPr/>
          <p:nvPr/>
        </p:nvSpPr>
        <p:spPr>
          <a:xfrm>
            <a:off x="6094476" y="1874520"/>
            <a:ext cx="1799844" cy="1688625"/>
          </a:xfrm>
          <a:prstGeom prst="rect">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7" name="TextBox 36"/>
          <p:cNvSpPr txBox="1"/>
          <p:nvPr/>
        </p:nvSpPr>
        <p:spPr>
          <a:xfrm>
            <a:off x="6185916" y="1959042"/>
            <a:ext cx="1616964" cy="400110"/>
          </a:xfrm>
          <a:prstGeom prst="rect">
            <a:avLst/>
          </a:prstGeom>
          <a:noFill/>
        </p:spPr>
        <p:txBody>
          <a:bodyPr wrap="square">
            <a:spAutoFit/>
          </a:bodyPr>
          <a:lstStyle/>
          <a:p>
            <a:pPr algn="l"/>
            <a:r>
              <a:rPr lang="fr-FR" sz="2000" b="1" i="0" noProof="0" dirty="0"/>
              <a:t>Contexte SQL</a:t>
            </a:r>
          </a:p>
        </p:txBody>
      </p:sp>
      <p:sp>
        <p:nvSpPr>
          <p:cNvPr id="38" name="TextBox 37"/>
          <p:cNvSpPr txBox="1"/>
          <p:nvPr/>
        </p:nvSpPr>
        <p:spPr>
          <a:xfrm>
            <a:off x="6039612" y="2579379"/>
            <a:ext cx="1958193" cy="784830"/>
          </a:xfrm>
          <a:prstGeom prst="rect">
            <a:avLst/>
          </a:prstGeom>
          <a:noFill/>
        </p:spPr>
        <p:txBody>
          <a:bodyPr wrap="square">
            <a:spAutoFit/>
          </a:bodyPr>
          <a:lstStyle/>
          <a:p>
            <a:pPr algn="ctr"/>
            <a:r>
              <a:rPr lang="fr-FR" sz="1500" b="0" i="0" noProof="0" dirty="0"/>
              <a:t>10 dernières séances
Objectifs long terme
Profil cheval</a:t>
            </a:r>
          </a:p>
        </p:txBody>
      </p:sp>
      <p:sp>
        <p:nvSpPr>
          <p:cNvPr id="39" name="Rectangle 38"/>
          <p:cNvSpPr/>
          <p:nvPr/>
        </p:nvSpPr>
        <p:spPr>
          <a:xfrm>
            <a:off x="7894320" y="2786308"/>
            <a:ext cx="165722" cy="70382"/>
          </a:xfrm>
          <a:prstGeom prst="rect">
            <a:avLst/>
          </a:prstGeom>
          <a:solidFill>
            <a:srgbClr val="A8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0" name="Rectangle 39"/>
          <p:cNvSpPr/>
          <p:nvPr/>
        </p:nvSpPr>
        <p:spPr>
          <a:xfrm>
            <a:off x="8004048" y="1874520"/>
            <a:ext cx="1799844" cy="1688625"/>
          </a:xfrm>
          <a:prstGeom prst="rect">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4" name="TextBox 43"/>
          <p:cNvSpPr txBox="1"/>
          <p:nvPr/>
        </p:nvSpPr>
        <p:spPr>
          <a:xfrm>
            <a:off x="7985760" y="1951208"/>
            <a:ext cx="2288753" cy="400110"/>
          </a:xfrm>
          <a:prstGeom prst="rect">
            <a:avLst/>
          </a:prstGeom>
          <a:noFill/>
        </p:spPr>
        <p:txBody>
          <a:bodyPr wrap="square">
            <a:spAutoFit/>
          </a:bodyPr>
          <a:lstStyle/>
          <a:p>
            <a:pPr algn="l"/>
            <a:r>
              <a:rPr lang="fr-FR" sz="2000" b="1" i="0" noProof="0" dirty="0"/>
              <a:t>Génération LLM</a:t>
            </a:r>
          </a:p>
        </p:txBody>
      </p:sp>
      <p:sp>
        <p:nvSpPr>
          <p:cNvPr id="45" name="TextBox 44"/>
          <p:cNvSpPr txBox="1"/>
          <p:nvPr/>
        </p:nvSpPr>
        <p:spPr>
          <a:xfrm>
            <a:off x="7967865" y="2579379"/>
            <a:ext cx="1927860" cy="784830"/>
          </a:xfrm>
          <a:prstGeom prst="rect">
            <a:avLst/>
          </a:prstGeom>
          <a:noFill/>
        </p:spPr>
        <p:txBody>
          <a:bodyPr wrap="square">
            <a:spAutoFit/>
          </a:bodyPr>
          <a:lstStyle/>
          <a:p>
            <a:pPr algn="ctr"/>
            <a:r>
              <a:rPr lang="fr-FR" sz="1500" b="0" i="0" noProof="0" dirty="0"/>
              <a:t>Claude 3.5 Sonnet
Contexte RAG injecte
Plan structure JSON</a:t>
            </a:r>
          </a:p>
        </p:txBody>
      </p:sp>
      <p:sp>
        <p:nvSpPr>
          <p:cNvPr id="46" name="Rectangle 45"/>
          <p:cNvSpPr/>
          <p:nvPr/>
        </p:nvSpPr>
        <p:spPr>
          <a:xfrm>
            <a:off x="9803892" y="2785187"/>
            <a:ext cx="201168" cy="72626"/>
          </a:xfrm>
          <a:prstGeom prst="rect">
            <a:avLst/>
          </a:prstGeom>
          <a:solidFill>
            <a:srgbClr val="A8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7" name="Rectangle 46"/>
          <p:cNvSpPr/>
          <p:nvPr/>
        </p:nvSpPr>
        <p:spPr>
          <a:xfrm>
            <a:off x="9913620" y="1874520"/>
            <a:ext cx="1799844" cy="1688625"/>
          </a:xfrm>
          <a:prstGeom prst="rect">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1" name="TextBox 50"/>
          <p:cNvSpPr txBox="1"/>
          <p:nvPr/>
        </p:nvSpPr>
        <p:spPr>
          <a:xfrm>
            <a:off x="10051616" y="1901952"/>
            <a:ext cx="1616964" cy="400110"/>
          </a:xfrm>
          <a:prstGeom prst="rect">
            <a:avLst/>
          </a:prstGeom>
          <a:noFill/>
        </p:spPr>
        <p:txBody>
          <a:bodyPr wrap="square">
            <a:spAutoFit/>
          </a:bodyPr>
          <a:lstStyle/>
          <a:p>
            <a:pPr algn="l"/>
            <a:r>
              <a:rPr lang="fr-FR" sz="2000" b="1" i="0" noProof="0" dirty="0"/>
              <a:t>Restitution</a:t>
            </a:r>
          </a:p>
        </p:txBody>
      </p:sp>
      <p:sp>
        <p:nvSpPr>
          <p:cNvPr id="52" name="TextBox 51"/>
          <p:cNvSpPr txBox="1"/>
          <p:nvPr/>
        </p:nvSpPr>
        <p:spPr>
          <a:xfrm>
            <a:off x="10005060" y="2609838"/>
            <a:ext cx="1616964" cy="784830"/>
          </a:xfrm>
          <a:prstGeom prst="rect">
            <a:avLst/>
          </a:prstGeom>
          <a:noFill/>
        </p:spPr>
        <p:txBody>
          <a:bodyPr wrap="square">
            <a:spAutoFit/>
          </a:bodyPr>
          <a:lstStyle/>
          <a:p>
            <a:pPr algn="ctr"/>
            <a:r>
              <a:rPr lang="fr-FR" sz="1500" b="0" i="0" noProof="0" dirty="0"/>
              <a:t>Plan formatte
Schéma DALL-E 3
Sauvegarde BDD</a:t>
            </a:r>
          </a:p>
        </p:txBody>
      </p:sp>
      <p:sp>
        <p:nvSpPr>
          <p:cNvPr id="3" name="ZoneTexte 2">
            <a:extLst>
              <a:ext uri="{FF2B5EF4-FFF2-40B4-BE49-F238E27FC236}">
                <a16:creationId xmlns:a16="http://schemas.microsoft.com/office/drawing/2014/main" id="{B31D0474-0268-A25E-C655-31E3AB4290D5}"/>
              </a:ext>
            </a:extLst>
          </p:cNvPr>
          <p:cNvSpPr txBox="1"/>
          <p:nvPr/>
        </p:nvSpPr>
        <p:spPr>
          <a:xfrm>
            <a:off x="457200" y="3986763"/>
            <a:ext cx="11256264" cy="1631216"/>
          </a:xfrm>
          <a:prstGeom prst="rect">
            <a:avLst/>
          </a:prstGeom>
          <a:noFill/>
        </p:spPr>
        <p:txBody>
          <a:bodyPr wrap="square" rtlCol="0">
            <a:spAutoFit/>
          </a:bodyPr>
          <a:lstStyle/>
          <a:p>
            <a:r>
              <a:rPr lang="fr-FR" sz="2500" i="1" dirty="0">
                <a:solidFill>
                  <a:schemeClr val="bg1"/>
                </a:solidFill>
              </a:rPr>
              <a:t>La « génération augmentée de récupération » – aussi appelée RAG (pour </a:t>
            </a:r>
            <a:r>
              <a:rPr lang="fr-FR" sz="2500" i="1" dirty="0" err="1">
                <a:solidFill>
                  <a:schemeClr val="bg1"/>
                </a:solidFill>
              </a:rPr>
              <a:t>Retrieval</a:t>
            </a:r>
            <a:r>
              <a:rPr lang="fr-FR" sz="2500" i="1" dirty="0">
                <a:solidFill>
                  <a:schemeClr val="bg1"/>
                </a:solidFill>
              </a:rPr>
              <a:t> </a:t>
            </a:r>
            <a:r>
              <a:rPr lang="fr-FR" sz="2500" i="1" dirty="0" err="1">
                <a:solidFill>
                  <a:schemeClr val="bg1"/>
                </a:solidFill>
              </a:rPr>
              <a:t>Augmented</a:t>
            </a:r>
            <a:r>
              <a:rPr lang="fr-FR" sz="2500" i="1" dirty="0">
                <a:solidFill>
                  <a:schemeClr val="bg1"/>
                </a:solidFill>
              </a:rPr>
              <a:t> </a:t>
            </a:r>
            <a:r>
              <a:rPr lang="fr-FR" sz="2500" i="1" dirty="0" err="1">
                <a:solidFill>
                  <a:schemeClr val="bg1"/>
                </a:solidFill>
              </a:rPr>
              <a:t>Generation</a:t>
            </a:r>
            <a:r>
              <a:rPr lang="fr-FR" sz="2500" i="1" dirty="0">
                <a:solidFill>
                  <a:schemeClr val="bg1"/>
                </a:solidFill>
              </a:rPr>
              <a:t>) – est une technologie qui consiste à connecter des modèles d'IA générative à des bases de données internes à l'entreprise afin d’améliorer les résultats de l’IA générative tout en l’adaptant aux nouvelles données disponibles.</a:t>
            </a:r>
          </a:p>
        </p:txBody>
      </p:sp>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7F778936-9C5D-A4F0-B110-E71A01A797F6}"/>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5" name="TextBox 4"/>
          <p:cNvSpPr txBox="1"/>
          <p:nvPr/>
        </p:nvSpPr>
        <p:spPr>
          <a:xfrm>
            <a:off x="347472" y="119646"/>
            <a:ext cx="9326880" cy="707886"/>
          </a:xfrm>
          <a:prstGeom prst="rect">
            <a:avLst/>
          </a:prstGeom>
          <a:noFill/>
        </p:spPr>
        <p:txBody>
          <a:bodyPr wrap="square">
            <a:spAutoFit/>
          </a:bodyPr>
          <a:lstStyle/>
          <a:p>
            <a:pPr algn="l"/>
            <a:r>
              <a:rPr lang="fr-FR" sz="4000" b="1" i="0" noProof="0" dirty="0">
                <a:solidFill>
                  <a:srgbClr val="FFFFFF"/>
                </a:solidFill>
              </a:rPr>
              <a:t>Stack technologique retenu pour le projet</a:t>
            </a:r>
          </a:p>
        </p:txBody>
      </p:sp>
      <p:graphicFrame>
        <p:nvGraphicFramePr>
          <p:cNvPr id="12" name="Table 11"/>
          <p:cNvGraphicFramePr>
            <a:graphicFrameLocks noGrp="1"/>
          </p:cNvGraphicFramePr>
          <p:nvPr>
            <p:extLst>
              <p:ext uri="{D42A27DB-BD31-4B8C-83A1-F6EECF244321}">
                <p14:modId xmlns:p14="http://schemas.microsoft.com/office/powerpoint/2010/main" val="792171752"/>
              </p:ext>
            </p:extLst>
          </p:nvPr>
        </p:nvGraphicFramePr>
        <p:xfrm>
          <a:off x="452284" y="941869"/>
          <a:ext cx="10599174" cy="5697449"/>
        </p:xfrm>
        <a:graphic>
          <a:graphicData uri="http://schemas.openxmlformats.org/drawingml/2006/table">
            <a:tbl>
              <a:tblPr firstRow="1" bandRow="1">
                <a:tableStyleId>{5C22544A-7EE6-4342-B048-85BDC9FD1C3A}</a:tableStyleId>
              </a:tblPr>
              <a:tblGrid>
                <a:gridCol w="1740310">
                  <a:extLst>
                    <a:ext uri="{9D8B030D-6E8A-4147-A177-3AD203B41FA5}">
                      <a16:colId xmlns:a16="http://schemas.microsoft.com/office/drawing/2014/main" val="20000"/>
                    </a:ext>
                  </a:extLst>
                </a:gridCol>
                <a:gridCol w="1990540">
                  <a:extLst>
                    <a:ext uri="{9D8B030D-6E8A-4147-A177-3AD203B41FA5}">
                      <a16:colId xmlns:a16="http://schemas.microsoft.com/office/drawing/2014/main" val="20001"/>
                    </a:ext>
                  </a:extLst>
                </a:gridCol>
                <a:gridCol w="4479085">
                  <a:extLst>
                    <a:ext uri="{9D8B030D-6E8A-4147-A177-3AD203B41FA5}">
                      <a16:colId xmlns:a16="http://schemas.microsoft.com/office/drawing/2014/main" val="20002"/>
                    </a:ext>
                  </a:extLst>
                </a:gridCol>
                <a:gridCol w="2389239">
                  <a:extLst>
                    <a:ext uri="{9D8B030D-6E8A-4147-A177-3AD203B41FA5}">
                      <a16:colId xmlns:a16="http://schemas.microsoft.com/office/drawing/2014/main" val="20003"/>
                    </a:ext>
                  </a:extLst>
                </a:gridCol>
              </a:tblGrid>
              <a:tr h="494607">
                <a:tc>
                  <a:txBody>
                    <a:bodyPr/>
                    <a:lstStyle/>
                    <a:p>
                      <a:pPr algn="ctr"/>
                      <a:r>
                        <a:rPr lang="fr-FR" sz="2000" b="1" noProof="0" dirty="0">
                          <a:solidFill>
                            <a:srgbClr val="38D4FF"/>
                          </a:solidFill>
                        </a:rPr>
                        <a:t>Couche</a:t>
                      </a:r>
                    </a:p>
                  </a:txBody>
                  <a:tcPr marT="63500" marB="63500">
                    <a:solidFill>
                      <a:srgbClr val="051A42"/>
                    </a:solidFill>
                  </a:tcPr>
                </a:tc>
                <a:tc>
                  <a:txBody>
                    <a:bodyPr/>
                    <a:lstStyle/>
                    <a:p>
                      <a:pPr algn="ctr"/>
                      <a:r>
                        <a:rPr lang="fr-FR" sz="2000" b="1" noProof="0" dirty="0">
                          <a:solidFill>
                            <a:srgbClr val="38D4FF"/>
                          </a:solidFill>
                        </a:rPr>
                        <a:t>Technologie</a:t>
                      </a:r>
                    </a:p>
                  </a:txBody>
                  <a:tcPr marT="63500" marB="63500">
                    <a:solidFill>
                      <a:srgbClr val="051A42"/>
                    </a:solidFill>
                  </a:tcPr>
                </a:tc>
                <a:tc>
                  <a:txBody>
                    <a:bodyPr/>
                    <a:lstStyle/>
                    <a:p>
                      <a:pPr algn="ctr"/>
                      <a:r>
                        <a:rPr lang="fr-FR" sz="2000" b="1" noProof="0" dirty="0">
                          <a:solidFill>
                            <a:srgbClr val="38D4FF"/>
                          </a:solidFill>
                        </a:rPr>
                        <a:t>Justification</a:t>
                      </a:r>
                    </a:p>
                  </a:txBody>
                  <a:tcPr marT="63500" marB="63500">
                    <a:solidFill>
                      <a:srgbClr val="051A42"/>
                    </a:solidFill>
                  </a:tcPr>
                </a:tc>
                <a:tc>
                  <a:txBody>
                    <a:bodyPr/>
                    <a:lstStyle/>
                    <a:p>
                      <a:pPr algn="ctr"/>
                      <a:r>
                        <a:rPr lang="fr-FR" sz="2000" b="1" noProof="0" dirty="0">
                          <a:solidFill>
                            <a:srgbClr val="38D4FF"/>
                          </a:solidFill>
                        </a:rPr>
                        <a:t>Alternative</a:t>
                      </a:r>
                    </a:p>
                  </a:txBody>
                  <a:tcPr marT="63500" marB="63500">
                    <a:solidFill>
                      <a:srgbClr val="051A42"/>
                    </a:solidFill>
                  </a:tcPr>
                </a:tc>
                <a:extLst>
                  <a:ext uri="{0D108BD9-81ED-4DB2-BD59-A6C34878D82A}">
                    <a16:rowId xmlns:a16="http://schemas.microsoft.com/office/drawing/2014/main" val="10000"/>
                  </a:ext>
                </a:extLst>
              </a:tr>
              <a:tr h="494607">
                <a:tc>
                  <a:txBody>
                    <a:bodyPr/>
                    <a:lstStyle/>
                    <a:p>
                      <a:pPr algn="l"/>
                      <a:r>
                        <a:rPr lang="fr-FR" sz="1500" noProof="0" dirty="0">
                          <a:solidFill>
                            <a:srgbClr val="E8EFF8"/>
                          </a:solidFill>
                        </a:rPr>
                        <a:t>Frontend</a:t>
                      </a:r>
                    </a:p>
                  </a:txBody>
                  <a:tcPr marT="50800" marB="50800">
                    <a:solidFill>
                      <a:srgbClr val="061430"/>
                    </a:solidFill>
                  </a:tcPr>
                </a:tc>
                <a:tc>
                  <a:txBody>
                    <a:bodyPr/>
                    <a:lstStyle/>
                    <a:p>
                      <a:pPr algn="ctr"/>
                      <a:r>
                        <a:rPr lang="fr-FR" sz="1500" noProof="0" dirty="0">
                          <a:solidFill>
                            <a:srgbClr val="E8EFF8"/>
                          </a:solidFill>
                        </a:rPr>
                        <a:t>Next.js 14 + </a:t>
                      </a:r>
                      <a:r>
                        <a:rPr lang="fr-FR" sz="1500" noProof="0" dirty="0" err="1">
                          <a:solidFill>
                            <a:srgbClr val="E8EFF8"/>
                          </a:solidFill>
                        </a:rPr>
                        <a:t>TailwindCSS</a:t>
                      </a:r>
                      <a:endParaRPr lang="fr-FR" sz="1500" noProof="0" dirty="0">
                        <a:solidFill>
                          <a:srgbClr val="E8EFF8"/>
                        </a:solidFill>
                      </a:endParaRPr>
                    </a:p>
                  </a:txBody>
                  <a:tcPr marT="50800" marB="50800">
                    <a:solidFill>
                      <a:srgbClr val="061430"/>
                    </a:solidFill>
                  </a:tcPr>
                </a:tc>
                <a:tc>
                  <a:txBody>
                    <a:bodyPr/>
                    <a:lstStyle/>
                    <a:p>
                      <a:pPr algn="ctr"/>
                      <a:r>
                        <a:rPr lang="fr-FR" sz="1500" noProof="0" dirty="0">
                          <a:solidFill>
                            <a:srgbClr val="E8EFF8"/>
                          </a:solidFill>
                        </a:rPr>
                        <a:t>SSR, SEO, </a:t>
                      </a:r>
                      <a:r>
                        <a:rPr lang="fr-FR" sz="1500" noProof="0" dirty="0" err="1">
                          <a:solidFill>
                            <a:srgbClr val="E8EFF8"/>
                          </a:solidFill>
                        </a:rPr>
                        <a:t>Vercel</a:t>
                      </a:r>
                      <a:r>
                        <a:rPr lang="fr-FR" sz="1500" noProof="0" dirty="0">
                          <a:solidFill>
                            <a:srgbClr val="E8EFF8"/>
                          </a:solidFill>
                        </a:rPr>
                        <a:t> one-click </a:t>
                      </a:r>
                      <a:r>
                        <a:rPr lang="fr-FR" sz="1500" noProof="0" dirty="0" err="1">
                          <a:solidFill>
                            <a:srgbClr val="E8EFF8"/>
                          </a:solidFill>
                        </a:rPr>
                        <a:t>deploy</a:t>
                      </a:r>
                      <a:r>
                        <a:rPr lang="fr-FR" sz="1500" noProof="0" dirty="0">
                          <a:solidFill>
                            <a:srgbClr val="E8EFF8"/>
                          </a:solidFill>
                        </a:rPr>
                        <a:t>, </a:t>
                      </a:r>
                      <a:r>
                        <a:rPr lang="fr-FR" sz="1500" noProof="0" dirty="0" err="1">
                          <a:solidFill>
                            <a:srgbClr val="E8EFF8"/>
                          </a:solidFill>
                        </a:rPr>
                        <a:t>React</a:t>
                      </a:r>
                      <a:endParaRPr lang="fr-FR" sz="1500" noProof="0" dirty="0">
                        <a:solidFill>
                          <a:srgbClr val="E8EFF8"/>
                        </a:solidFill>
                      </a:endParaRPr>
                    </a:p>
                  </a:txBody>
                  <a:tcPr marT="50800" marB="50800">
                    <a:solidFill>
                      <a:srgbClr val="061430"/>
                    </a:solidFill>
                  </a:tcPr>
                </a:tc>
                <a:tc>
                  <a:txBody>
                    <a:bodyPr/>
                    <a:lstStyle/>
                    <a:p>
                      <a:pPr algn="ctr"/>
                      <a:r>
                        <a:rPr lang="fr-FR" sz="1500" noProof="0" dirty="0">
                          <a:solidFill>
                            <a:srgbClr val="E8EFF8"/>
                          </a:solidFill>
                        </a:rPr>
                        <a:t>Nuxt.js / </a:t>
                      </a:r>
                      <a:r>
                        <a:rPr lang="fr-FR" sz="1500" noProof="0" dirty="0" err="1">
                          <a:solidFill>
                            <a:srgbClr val="E8EFF8"/>
                          </a:solidFill>
                        </a:rPr>
                        <a:t>SvelteKit</a:t>
                      </a:r>
                      <a:endParaRPr lang="fr-FR" sz="1500" noProof="0" dirty="0">
                        <a:solidFill>
                          <a:srgbClr val="E8EFF8"/>
                        </a:solidFill>
                      </a:endParaRPr>
                    </a:p>
                  </a:txBody>
                  <a:tcPr marT="50800" marB="50800">
                    <a:solidFill>
                      <a:srgbClr val="061430"/>
                    </a:solidFill>
                  </a:tcPr>
                </a:tc>
                <a:extLst>
                  <a:ext uri="{0D108BD9-81ED-4DB2-BD59-A6C34878D82A}">
                    <a16:rowId xmlns:a16="http://schemas.microsoft.com/office/drawing/2014/main" val="10001"/>
                  </a:ext>
                </a:extLst>
              </a:tr>
              <a:tr h="494607">
                <a:tc>
                  <a:txBody>
                    <a:bodyPr/>
                    <a:lstStyle/>
                    <a:p>
                      <a:pPr algn="l"/>
                      <a:r>
                        <a:rPr lang="fr-FR" sz="1500" noProof="0" dirty="0">
                          <a:solidFill>
                            <a:srgbClr val="E8EFF8"/>
                          </a:solidFill>
                        </a:rPr>
                        <a:t>Backend API</a:t>
                      </a:r>
                    </a:p>
                  </a:txBody>
                  <a:tcPr marT="50800" marB="50800">
                    <a:solidFill>
                      <a:srgbClr val="041028"/>
                    </a:solidFill>
                  </a:tcPr>
                </a:tc>
                <a:tc>
                  <a:txBody>
                    <a:bodyPr/>
                    <a:lstStyle/>
                    <a:p>
                      <a:pPr algn="ctr"/>
                      <a:r>
                        <a:rPr lang="fr-FR" sz="1500" noProof="0" dirty="0" err="1">
                          <a:solidFill>
                            <a:srgbClr val="E8EFF8"/>
                          </a:solidFill>
                        </a:rPr>
                        <a:t>FastAPI</a:t>
                      </a:r>
                      <a:r>
                        <a:rPr lang="fr-FR" sz="1500" noProof="0" dirty="0">
                          <a:solidFill>
                            <a:srgbClr val="E8EFF8"/>
                          </a:solidFill>
                        </a:rPr>
                        <a:t> (Python 3.12)</a:t>
                      </a:r>
                    </a:p>
                  </a:txBody>
                  <a:tcPr marT="50800" marB="50800">
                    <a:solidFill>
                      <a:srgbClr val="041028"/>
                    </a:solidFill>
                  </a:tcPr>
                </a:tc>
                <a:tc>
                  <a:txBody>
                    <a:bodyPr/>
                    <a:lstStyle/>
                    <a:p>
                      <a:pPr algn="ctr"/>
                      <a:r>
                        <a:rPr lang="fr-FR" sz="1500" noProof="0" dirty="0" err="1">
                          <a:solidFill>
                            <a:srgbClr val="E8EFF8"/>
                          </a:solidFill>
                        </a:rPr>
                        <a:t>Async</a:t>
                      </a:r>
                      <a:r>
                        <a:rPr lang="fr-FR" sz="1500" noProof="0" dirty="0">
                          <a:solidFill>
                            <a:srgbClr val="E8EFF8"/>
                          </a:solidFill>
                        </a:rPr>
                        <a:t>, </a:t>
                      </a:r>
                      <a:r>
                        <a:rPr lang="fr-FR" sz="1500" noProof="0" dirty="0" err="1">
                          <a:solidFill>
                            <a:srgbClr val="E8EFF8"/>
                          </a:solidFill>
                        </a:rPr>
                        <a:t>Pydantic</a:t>
                      </a:r>
                      <a:r>
                        <a:rPr lang="fr-FR" sz="1500" noProof="0" dirty="0">
                          <a:solidFill>
                            <a:srgbClr val="E8EFF8"/>
                          </a:solidFill>
                        </a:rPr>
                        <a:t>, </a:t>
                      </a:r>
                      <a:r>
                        <a:rPr lang="fr-FR" sz="1500" noProof="0" dirty="0" err="1">
                          <a:solidFill>
                            <a:srgbClr val="E8EFF8"/>
                          </a:solidFill>
                        </a:rPr>
                        <a:t>LangChain</a:t>
                      </a:r>
                      <a:r>
                        <a:rPr lang="fr-FR" sz="1500" noProof="0" dirty="0">
                          <a:solidFill>
                            <a:srgbClr val="E8EFF8"/>
                          </a:solidFill>
                        </a:rPr>
                        <a:t> natif</a:t>
                      </a:r>
                    </a:p>
                  </a:txBody>
                  <a:tcPr marT="50800" marB="50800">
                    <a:solidFill>
                      <a:srgbClr val="041028"/>
                    </a:solidFill>
                  </a:tcPr>
                </a:tc>
                <a:tc>
                  <a:txBody>
                    <a:bodyPr/>
                    <a:lstStyle/>
                    <a:p>
                      <a:pPr algn="ctr"/>
                      <a:r>
                        <a:rPr lang="fr-FR" sz="1500" noProof="0" dirty="0">
                          <a:solidFill>
                            <a:srgbClr val="E8EFF8"/>
                          </a:solidFill>
                        </a:rPr>
                        <a:t>Node.js + Express</a:t>
                      </a:r>
                    </a:p>
                  </a:txBody>
                  <a:tcPr marT="50800" marB="50800">
                    <a:solidFill>
                      <a:srgbClr val="041028"/>
                    </a:solidFill>
                  </a:tcPr>
                </a:tc>
                <a:extLst>
                  <a:ext uri="{0D108BD9-81ED-4DB2-BD59-A6C34878D82A}">
                    <a16:rowId xmlns:a16="http://schemas.microsoft.com/office/drawing/2014/main" val="10002"/>
                  </a:ext>
                </a:extLst>
              </a:tr>
              <a:tr h="494607">
                <a:tc>
                  <a:txBody>
                    <a:bodyPr/>
                    <a:lstStyle/>
                    <a:p>
                      <a:pPr algn="l"/>
                      <a:r>
                        <a:rPr lang="fr-FR" sz="1500" noProof="0" dirty="0">
                          <a:solidFill>
                            <a:srgbClr val="E8EFF8"/>
                          </a:solidFill>
                        </a:rPr>
                        <a:t>Authentification</a:t>
                      </a:r>
                    </a:p>
                  </a:txBody>
                  <a:tcPr marT="50800" marB="50800">
                    <a:solidFill>
                      <a:srgbClr val="061430"/>
                    </a:solidFill>
                  </a:tcPr>
                </a:tc>
                <a:tc>
                  <a:txBody>
                    <a:bodyPr/>
                    <a:lstStyle/>
                    <a:p>
                      <a:pPr algn="ctr"/>
                      <a:r>
                        <a:rPr lang="fr-FR" sz="1500" noProof="0" dirty="0">
                          <a:solidFill>
                            <a:srgbClr val="E8EFF8"/>
                          </a:solidFill>
                        </a:rPr>
                        <a:t>Supabase </a:t>
                      </a:r>
                      <a:r>
                        <a:rPr lang="fr-FR" sz="1500" noProof="0" dirty="0" err="1">
                          <a:solidFill>
                            <a:srgbClr val="E8EFF8"/>
                          </a:solidFill>
                        </a:rPr>
                        <a:t>Auth</a:t>
                      </a:r>
                      <a:endParaRPr lang="fr-FR" sz="1500" noProof="0" dirty="0">
                        <a:solidFill>
                          <a:srgbClr val="E8EFF8"/>
                        </a:solidFill>
                      </a:endParaRPr>
                    </a:p>
                  </a:txBody>
                  <a:tcPr marT="50800" marB="50800">
                    <a:solidFill>
                      <a:srgbClr val="061430"/>
                    </a:solidFill>
                  </a:tcPr>
                </a:tc>
                <a:tc>
                  <a:txBody>
                    <a:bodyPr/>
                    <a:lstStyle/>
                    <a:p>
                      <a:pPr algn="ctr"/>
                      <a:r>
                        <a:rPr lang="fr-FR" sz="1500" noProof="0" dirty="0">
                          <a:solidFill>
                            <a:srgbClr val="E8EFF8"/>
                          </a:solidFill>
                        </a:rPr>
                        <a:t>JWT + </a:t>
                      </a:r>
                      <a:r>
                        <a:rPr lang="fr-FR" sz="1500" noProof="0" dirty="0" err="1">
                          <a:solidFill>
                            <a:srgbClr val="E8EFF8"/>
                          </a:solidFill>
                        </a:rPr>
                        <a:t>OAuth</a:t>
                      </a:r>
                      <a:r>
                        <a:rPr lang="fr-FR" sz="1500" noProof="0" dirty="0">
                          <a:solidFill>
                            <a:srgbClr val="E8EFF8"/>
                          </a:solidFill>
                        </a:rPr>
                        <a:t> Google, gratuit &lt; 50 000 </a:t>
                      </a:r>
                      <a:r>
                        <a:rPr lang="fr-FR" sz="1500" noProof="0" dirty="0" err="1">
                          <a:solidFill>
                            <a:srgbClr val="E8EFF8"/>
                          </a:solidFill>
                        </a:rPr>
                        <a:t>users</a:t>
                      </a:r>
                      <a:endParaRPr lang="fr-FR" sz="1500" noProof="0" dirty="0">
                        <a:solidFill>
                          <a:srgbClr val="E8EFF8"/>
                        </a:solidFill>
                      </a:endParaRPr>
                    </a:p>
                  </a:txBody>
                  <a:tcPr marT="50800" marB="50800">
                    <a:solidFill>
                      <a:srgbClr val="061430"/>
                    </a:solidFill>
                  </a:tcPr>
                </a:tc>
                <a:tc>
                  <a:txBody>
                    <a:bodyPr/>
                    <a:lstStyle/>
                    <a:p>
                      <a:pPr algn="ctr"/>
                      <a:r>
                        <a:rPr lang="fr-FR" sz="1500" noProof="0" dirty="0">
                          <a:solidFill>
                            <a:srgbClr val="E8EFF8"/>
                          </a:solidFill>
                        </a:rPr>
                        <a:t>Auth0, </a:t>
                      </a:r>
                      <a:r>
                        <a:rPr lang="fr-FR" sz="1500" noProof="0" dirty="0" err="1">
                          <a:solidFill>
                            <a:srgbClr val="E8EFF8"/>
                          </a:solidFill>
                        </a:rPr>
                        <a:t>Clerk</a:t>
                      </a:r>
                      <a:endParaRPr lang="fr-FR" sz="1500" noProof="0" dirty="0">
                        <a:solidFill>
                          <a:srgbClr val="E8EFF8"/>
                        </a:solidFill>
                      </a:endParaRPr>
                    </a:p>
                  </a:txBody>
                  <a:tcPr marT="50800" marB="50800">
                    <a:solidFill>
                      <a:srgbClr val="061430"/>
                    </a:solidFill>
                  </a:tcPr>
                </a:tc>
                <a:extLst>
                  <a:ext uri="{0D108BD9-81ED-4DB2-BD59-A6C34878D82A}">
                    <a16:rowId xmlns:a16="http://schemas.microsoft.com/office/drawing/2014/main" val="10003"/>
                  </a:ext>
                </a:extLst>
              </a:tr>
              <a:tr h="494607">
                <a:tc>
                  <a:txBody>
                    <a:bodyPr/>
                    <a:lstStyle/>
                    <a:p>
                      <a:pPr algn="l"/>
                      <a:r>
                        <a:rPr lang="fr-FR" sz="1500" noProof="0" dirty="0">
                          <a:solidFill>
                            <a:srgbClr val="E8EFF8"/>
                          </a:solidFill>
                        </a:rPr>
                        <a:t>BDD principale</a:t>
                      </a:r>
                    </a:p>
                  </a:txBody>
                  <a:tcPr marT="50800" marB="50800">
                    <a:solidFill>
                      <a:srgbClr val="041028"/>
                    </a:solidFill>
                  </a:tcPr>
                </a:tc>
                <a:tc>
                  <a:txBody>
                    <a:bodyPr/>
                    <a:lstStyle/>
                    <a:p>
                      <a:pPr algn="ctr"/>
                      <a:r>
                        <a:rPr lang="fr-FR" sz="1500" noProof="0" dirty="0">
                          <a:solidFill>
                            <a:srgbClr val="E8EFF8"/>
                          </a:solidFill>
                        </a:rPr>
                        <a:t>PostgreSQL via Supabase</a:t>
                      </a:r>
                    </a:p>
                  </a:txBody>
                  <a:tcPr marT="50800" marB="50800">
                    <a:solidFill>
                      <a:srgbClr val="041028"/>
                    </a:solidFill>
                  </a:tcPr>
                </a:tc>
                <a:tc>
                  <a:txBody>
                    <a:bodyPr/>
                    <a:lstStyle/>
                    <a:p>
                      <a:pPr algn="ctr"/>
                      <a:r>
                        <a:rPr lang="fr-FR" sz="1500" noProof="0" dirty="0">
                          <a:solidFill>
                            <a:srgbClr val="E8EFF8"/>
                          </a:solidFill>
                        </a:rPr>
                        <a:t>ACID, cloud manage, RGPD UE</a:t>
                      </a:r>
                    </a:p>
                  </a:txBody>
                  <a:tcPr marT="50800" marB="50800">
                    <a:solidFill>
                      <a:srgbClr val="041028"/>
                    </a:solidFill>
                  </a:tcPr>
                </a:tc>
                <a:tc>
                  <a:txBody>
                    <a:bodyPr/>
                    <a:lstStyle/>
                    <a:p>
                      <a:pPr algn="ctr"/>
                      <a:r>
                        <a:rPr lang="fr-FR" sz="1500" noProof="0" dirty="0" err="1">
                          <a:solidFill>
                            <a:srgbClr val="E8EFF8"/>
                          </a:solidFill>
                        </a:rPr>
                        <a:t>Neon</a:t>
                      </a:r>
                      <a:r>
                        <a:rPr lang="fr-FR" sz="1500" noProof="0" dirty="0">
                          <a:solidFill>
                            <a:srgbClr val="E8EFF8"/>
                          </a:solidFill>
                        </a:rPr>
                        <a:t>, </a:t>
                      </a:r>
                      <a:r>
                        <a:rPr lang="fr-FR" sz="1500" noProof="0" dirty="0" err="1">
                          <a:solidFill>
                            <a:srgbClr val="E8EFF8"/>
                          </a:solidFill>
                        </a:rPr>
                        <a:t>PlanetScale</a:t>
                      </a:r>
                      <a:endParaRPr lang="fr-FR" sz="1500" noProof="0" dirty="0">
                        <a:solidFill>
                          <a:srgbClr val="E8EFF8"/>
                        </a:solidFill>
                      </a:endParaRPr>
                    </a:p>
                  </a:txBody>
                  <a:tcPr marT="50800" marB="50800">
                    <a:solidFill>
                      <a:srgbClr val="041028"/>
                    </a:solidFill>
                  </a:tcPr>
                </a:tc>
                <a:extLst>
                  <a:ext uri="{0D108BD9-81ED-4DB2-BD59-A6C34878D82A}">
                    <a16:rowId xmlns:a16="http://schemas.microsoft.com/office/drawing/2014/main" val="10004"/>
                  </a:ext>
                </a:extLst>
              </a:tr>
              <a:tr h="494607">
                <a:tc>
                  <a:txBody>
                    <a:bodyPr/>
                    <a:lstStyle/>
                    <a:p>
                      <a:pPr algn="l"/>
                      <a:r>
                        <a:rPr lang="fr-FR" sz="1500" noProof="0" dirty="0">
                          <a:solidFill>
                            <a:srgbClr val="E8EFF8"/>
                          </a:solidFill>
                        </a:rPr>
                        <a:t>RAG / vecteurs</a:t>
                      </a:r>
                    </a:p>
                  </a:txBody>
                  <a:tcPr marT="50800" marB="50800">
                    <a:solidFill>
                      <a:srgbClr val="061430"/>
                    </a:solidFill>
                  </a:tcPr>
                </a:tc>
                <a:tc>
                  <a:txBody>
                    <a:bodyPr/>
                    <a:lstStyle/>
                    <a:p>
                      <a:pPr algn="ctr"/>
                      <a:r>
                        <a:rPr lang="fr-FR" sz="1500" noProof="0" dirty="0" err="1">
                          <a:solidFill>
                            <a:srgbClr val="E8EFF8"/>
                          </a:solidFill>
                        </a:rPr>
                        <a:t>pgvector</a:t>
                      </a:r>
                      <a:r>
                        <a:rPr lang="fr-FR" sz="1500" noProof="0" dirty="0">
                          <a:solidFill>
                            <a:srgbClr val="E8EFF8"/>
                          </a:solidFill>
                        </a:rPr>
                        <a:t> (Supabase)</a:t>
                      </a:r>
                    </a:p>
                  </a:txBody>
                  <a:tcPr marT="50800" marB="50800">
                    <a:solidFill>
                      <a:srgbClr val="061430"/>
                    </a:solidFill>
                  </a:tcPr>
                </a:tc>
                <a:tc>
                  <a:txBody>
                    <a:bodyPr/>
                    <a:lstStyle/>
                    <a:p>
                      <a:pPr algn="ctr"/>
                      <a:r>
                        <a:rPr lang="fr-FR" sz="1500" noProof="0" dirty="0">
                          <a:solidFill>
                            <a:srgbClr val="E8EFF8"/>
                          </a:solidFill>
                        </a:rPr>
                        <a:t>SQL + vecteur unifie — un seul service</a:t>
                      </a:r>
                    </a:p>
                  </a:txBody>
                  <a:tcPr marT="50800" marB="50800">
                    <a:solidFill>
                      <a:srgbClr val="061430"/>
                    </a:solidFill>
                  </a:tcPr>
                </a:tc>
                <a:tc>
                  <a:txBody>
                    <a:bodyPr/>
                    <a:lstStyle/>
                    <a:p>
                      <a:pPr algn="ctr"/>
                      <a:r>
                        <a:rPr lang="fr-FR" sz="1500" noProof="0" dirty="0" err="1">
                          <a:solidFill>
                            <a:srgbClr val="E8EFF8"/>
                          </a:solidFill>
                        </a:rPr>
                        <a:t>Pinecone</a:t>
                      </a:r>
                      <a:r>
                        <a:rPr lang="fr-FR" sz="1500" noProof="0" dirty="0">
                          <a:solidFill>
                            <a:srgbClr val="E8EFF8"/>
                          </a:solidFill>
                        </a:rPr>
                        <a:t>, </a:t>
                      </a:r>
                      <a:r>
                        <a:rPr lang="fr-FR" sz="1500" noProof="0" dirty="0" err="1">
                          <a:solidFill>
                            <a:srgbClr val="E8EFF8"/>
                          </a:solidFill>
                        </a:rPr>
                        <a:t>Weaviate</a:t>
                      </a:r>
                      <a:endParaRPr lang="fr-FR" sz="1500" noProof="0" dirty="0">
                        <a:solidFill>
                          <a:srgbClr val="E8EFF8"/>
                        </a:solidFill>
                      </a:endParaRPr>
                    </a:p>
                  </a:txBody>
                  <a:tcPr marT="50800" marB="50800">
                    <a:solidFill>
                      <a:srgbClr val="061430"/>
                    </a:solidFill>
                  </a:tcPr>
                </a:tc>
                <a:extLst>
                  <a:ext uri="{0D108BD9-81ED-4DB2-BD59-A6C34878D82A}">
                    <a16:rowId xmlns:a16="http://schemas.microsoft.com/office/drawing/2014/main" val="10005"/>
                  </a:ext>
                </a:extLst>
              </a:tr>
              <a:tr h="494607">
                <a:tc>
                  <a:txBody>
                    <a:bodyPr/>
                    <a:lstStyle/>
                    <a:p>
                      <a:pPr algn="l"/>
                      <a:r>
                        <a:rPr lang="fr-FR" sz="1500" noProof="0" dirty="0">
                          <a:solidFill>
                            <a:srgbClr val="E8EFF8"/>
                          </a:solidFill>
                        </a:rPr>
                        <a:t>LLM texte</a:t>
                      </a:r>
                    </a:p>
                  </a:txBody>
                  <a:tcPr marT="50800" marB="50800">
                    <a:solidFill>
                      <a:srgbClr val="041028"/>
                    </a:solidFill>
                  </a:tcPr>
                </a:tc>
                <a:tc>
                  <a:txBody>
                    <a:bodyPr/>
                    <a:lstStyle/>
                    <a:p>
                      <a:pPr algn="ctr"/>
                      <a:r>
                        <a:rPr lang="fr-FR" sz="1500" noProof="0" dirty="0">
                          <a:solidFill>
                            <a:srgbClr val="E8EFF8"/>
                          </a:solidFill>
                        </a:rPr>
                        <a:t>Claude 3.5 Sonnet</a:t>
                      </a:r>
                    </a:p>
                  </a:txBody>
                  <a:tcPr marT="50800" marB="50800">
                    <a:solidFill>
                      <a:srgbClr val="041028"/>
                    </a:solidFill>
                  </a:tcPr>
                </a:tc>
                <a:tc>
                  <a:txBody>
                    <a:bodyPr/>
                    <a:lstStyle/>
                    <a:p>
                      <a:pPr algn="ctr"/>
                      <a:r>
                        <a:rPr lang="fr-FR" sz="1500" noProof="0" dirty="0">
                          <a:solidFill>
                            <a:srgbClr val="E8EFF8"/>
                          </a:solidFill>
                        </a:rPr>
                        <a:t>Meilleur ratio </a:t>
                      </a:r>
                      <a:r>
                        <a:rPr lang="fr-FR" sz="1500" noProof="0" dirty="0" err="1">
                          <a:solidFill>
                            <a:srgbClr val="E8EFF8"/>
                          </a:solidFill>
                        </a:rPr>
                        <a:t>qualite</a:t>
                      </a:r>
                      <a:r>
                        <a:rPr lang="fr-FR" sz="1500" noProof="0" dirty="0">
                          <a:solidFill>
                            <a:srgbClr val="E8EFF8"/>
                          </a:solidFill>
                        </a:rPr>
                        <a:t> / cout, 200 K </a:t>
                      </a:r>
                      <a:r>
                        <a:rPr lang="fr-FR" sz="1500" noProof="0" dirty="0" err="1">
                          <a:solidFill>
                            <a:srgbClr val="E8EFF8"/>
                          </a:solidFill>
                        </a:rPr>
                        <a:t>context</a:t>
                      </a:r>
                      <a:endParaRPr lang="fr-FR" sz="1500" noProof="0" dirty="0">
                        <a:solidFill>
                          <a:srgbClr val="E8EFF8"/>
                        </a:solidFill>
                      </a:endParaRPr>
                    </a:p>
                  </a:txBody>
                  <a:tcPr marT="50800" marB="50800">
                    <a:solidFill>
                      <a:srgbClr val="041028"/>
                    </a:solidFill>
                  </a:tcPr>
                </a:tc>
                <a:tc>
                  <a:txBody>
                    <a:bodyPr/>
                    <a:lstStyle/>
                    <a:p>
                      <a:pPr algn="ctr"/>
                      <a:r>
                        <a:rPr lang="fr-FR" sz="1500" noProof="0" dirty="0">
                          <a:solidFill>
                            <a:srgbClr val="E8EFF8"/>
                          </a:solidFill>
                        </a:rPr>
                        <a:t>GPT-4o</a:t>
                      </a:r>
                    </a:p>
                  </a:txBody>
                  <a:tcPr marT="50800" marB="50800">
                    <a:solidFill>
                      <a:srgbClr val="041028"/>
                    </a:solidFill>
                  </a:tcPr>
                </a:tc>
                <a:extLst>
                  <a:ext uri="{0D108BD9-81ED-4DB2-BD59-A6C34878D82A}">
                    <a16:rowId xmlns:a16="http://schemas.microsoft.com/office/drawing/2014/main" val="10006"/>
                  </a:ext>
                </a:extLst>
              </a:tr>
              <a:tr h="494607">
                <a:tc>
                  <a:txBody>
                    <a:bodyPr/>
                    <a:lstStyle/>
                    <a:p>
                      <a:pPr algn="l"/>
                      <a:r>
                        <a:rPr lang="fr-FR" sz="1500" noProof="0" dirty="0" err="1">
                          <a:solidFill>
                            <a:srgbClr val="E8EFF8"/>
                          </a:solidFill>
                        </a:rPr>
                        <a:t>Embeddings</a:t>
                      </a:r>
                      <a:endParaRPr lang="fr-FR" sz="1500" noProof="0" dirty="0">
                        <a:solidFill>
                          <a:srgbClr val="E8EFF8"/>
                        </a:solidFill>
                      </a:endParaRPr>
                    </a:p>
                  </a:txBody>
                  <a:tcPr marT="50800" marB="50800">
                    <a:solidFill>
                      <a:srgbClr val="061430"/>
                    </a:solidFill>
                  </a:tcPr>
                </a:tc>
                <a:tc>
                  <a:txBody>
                    <a:bodyPr/>
                    <a:lstStyle/>
                    <a:p>
                      <a:pPr algn="ctr"/>
                      <a:r>
                        <a:rPr lang="fr-FR" sz="1500" noProof="0" dirty="0">
                          <a:solidFill>
                            <a:srgbClr val="E8EFF8"/>
                          </a:solidFill>
                        </a:rPr>
                        <a:t>text-embedding-3-small</a:t>
                      </a:r>
                    </a:p>
                  </a:txBody>
                  <a:tcPr marT="50800" marB="50800">
                    <a:solidFill>
                      <a:srgbClr val="061430"/>
                    </a:solidFill>
                  </a:tcPr>
                </a:tc>
                <a:tc>
                  <a:txBody>
                    <a:bodyPr/>
                    <a:lstStyle/>
                    <a:p>
                      <a:pPr algn="ctr"/>
                      <a:r>
                        <a:rPr lang="fr-FR" sz="1500" noProof="0" dirty="0">
                          <a:solidFill>
                            <a:srgbClr val="E8EFF8"/>
                          </a:solidFill>
                        </a:rPr>
                        <a:t>~0.02 $ / M </a:t>
                      </a:r>
                      <a:r>
                        <a:rPr lang="fr-FR" sz="1500" noProof="0" dirty="0" err="1">
                          <a:solidFill>
                            <a:srgbClr val="E8EFF8"/>
                          </a:solidFill>
                        </a:rPr>
                        <a:t>tokens</a:t>
                      </a:r>
                      <a:r>
                        <a:rPr lang="fr-FR" sz="1500" noProof="0" dirty="0">
                          <a:solidFill>
                            <a:srgbClr val="E8EFF8"/>
                          </a:solidFill>
                        </a:rPr>
                        <a:t>, dim. 1536</a:t>
                      </a:r>
                    </a:p>
                  </a:txBody>
                  <a:tcPr marT="50800" marB="50800">
                    <a:solidFill>
                      <a:srgbClr val="061430"/>
                    </a:solidFill>
                  </a:tcPr>
                </a:tc>
                <a:tc>
                  <a:txBody>
                    <a:bodyPr/>
                    <a:lstStyle/>
                    <a:p>
                      <a:pPr algn="ctr"/>
                      <a:r>
                        <a:rPr lang="fr-FR" sz="1500" noProof="0" dirty="0" err="1">
                          <a:solidFill>
                            <a:srgbClr val="E8EFF8"/>
                          </a:solidFill>
                        </a:rPr>
                        <a:t>Cohere</a:t>
                      </a:r>
                      <a:r>
                        <a:rPr lang="fr-FR" sz="1500" noProof="0" dirty="0">
                          <a:solidFill>
                            <a:srgbClr val="E8EFF8"/>
                          </a:solidFill>
                        </a:rPr>
                        <a:t> </a:t>
                      </a:r>
                      <a:r>
                        <a:rPr lang="fr-FR" sz="1500" noProof="0" dirty="0" err="1">
                          <a:solidFill>
                            <a:srgbClr val="E8EFF8"/>
                          </a:solidFill>
                        </a:rPr>
                        <a:t>Embed</a:t>
                      </a:r>
                      <a:r>
                        <a:rPr lang="fr-FR" sz="1500" noProof="0" dirty="0">
                          <a:solidFill>
                            <a:srgbClr val="E8EFF8"/>
                          </a:solidFill>
                        </a:rPr>
                        <a:t> v3</a:t>
                      </a:r>
                    </a:p>
                  </a:txBody>
                  <a:tcPr marT="50800" marB="50800">
                    <a:solidFill>
                      <a:srgbClr val="061430"/>
                    </a:solidFill>
                  </a:tcPr>
                </a:tc>
                <a:extLst>
                  <a:ext uri="{0D108BD9-81ED-4DB2-BD59-A6C34878D82A}">
                    <a16:rowId xmlns:a16="http://schemas.microsoft.com/office/drawing/2014/main" val="10007"/>
                  </a:ext>
                </a:extLst>
              </a:tr>
              <a:tr h="494607">
                <a:tc>
                  <a:txBody>
                    <a:bodyPr/>
                    <a:lstStyle/>
                    <a:p>
                      <a:pPr algn="l"/>
                      <a:r>
                        <a:rPr lang="fr-FR" sz="1500" noProof="0" dirty="0" err="1">
                          <a:solidFill>
                            <a:srgbClr val="E8EFF8"/>
                          </a:solidFill>
                        </a:rPr>
                        <a:t>Generation</a:t>
                      </a:r>
                      <a:r>
                        <a:rPr lang="fr-FR" sz="1500" noProof="0" dirty="0">
                          <a:solidFill>
                            <a:srgbClr val="E8EFF8"/>
                          </a:solidFill>
                        </a:rPr>
                        <a:t> images</a:t>
                      </a:r>
                    </a:p>
                  </a:txBody>
                  <a:tcPr marT="50800" marB="50800">
                    <a:solidFill>
                      <a:srgbClr val="041028"/>
                    </a:solidFill>
                  </a:tcPr>
                </a:tc>
                <a:tc>
                  <a:txBody>
                    <a:bodyPr/>
                    <a:lstStyle/>
                    <a:p>
                      <a:pPr algn="ctr"/>
                      <a:r>
                        <a:rPr lang="fr-FR" sz="1500" noProof="0" dirty="0">
                          <a:solidFill>
                            <a:srgbClr val="E8EFF8"/>
                          </a:solidFill>
                        </a:rPr>
                        <a:t>DALL-E 3</a:t>
                      </a:r>
                    </a:p>
                  </a:txBody>
                  <a:tcPr marT="50800" marB="50800">
                    <a:solidFill>
                      <a:srgbClr val="041028"/>
                    </a:solidFill>
                  </a:tcPr>
                </a:tc>
                <a:tc>
                  <a:txBody>
                    <a:bodyPr/>
                    <a:lstStyle/>
                    <a:p>
                      <a:pPr algn="ctr"/>
                      <a:r>
                        <a:rPr lang="fr-FR" sz="1500" noProof="0" dirty="0" err="1">
                          <a:solidFill>
                            <a:srgbClr val="E8EFF8"/>
                          </a:solidFill>
                        </a:rPr>
                        <a:t>Coherence</a:t>
                      </a:r>
                      <a:r>
                        <a:rPr lang="fr-FR" sz="1500" noProof="0" dirty="0">
                          <a:solidFill>
                            <a:srgbClr val="E8EFF8"/>
                          </a:solidFill>
                        </a:rPr>
                        <a:t> maximale </a:t>
                      </a:r>
                      <a:r>
                        <a:rPr lang="fr-FR" sz="1500" noProof="0" dirty="0" err="1">
                          <a:solidFill>
                            <a:srgbClr val="E8EFF8"/>
                          </a:solidFill>
                        </a:rPr>
                        <a:t>schemas</a:t>
                      </a:r>
                      <a:r>
                        <a:rPr lang="fr-FR" sz="1500" noProof="0" dirty="0">
                          <a:solidFill>
                            <a:srgbClr val="E8EFF8"/>
                          </a:solidFill>
                        </a:rPr>
                        <a:t> </a:t>
                      </a:r>
                      <a:r>
                        <a:rPr lang="fr-FR" sz="1500" noProof="0" dirty="0" err="1">
                          <a:solidFill>
                            <a:srgbClr val="E8EFF8"/>
                          </a:solidFill>
                        </a:rPr>
                        <a:t>geometriques</a:t>
                      </a:r>
                      <a:endParaRPr lang="fr-FR" sz="1500" noProof="0" dirty="0">
                        <a:solidFill>
                          <a:srgbClr val="E8EFF8"/>
                        </a:solidFill>
                      </a:endParaRPr>
                    </a:p>
                  </a:txBody>
                  <a:tcPr marT="50800" marB="50800">
                    <a:solidFill>
                      <a:srgbClr val="041028"/>
                    </a:solidFill>
                  </a:tcPr>
                </a:tc>
                <a:tc>
                  <a:txBody>
                    <a:bodyPr/>
                    <a:lstStyle/>
                    <a:p>
                      <a:pPr algn="ctr"/>
                      <a:r>
                        <a:rPr lang="fr-FR" sz="1500" noProof="0" dirty="0">
                          <a:solidFill>
                            <a:srgbClr val="E8EFF8"/>
                          </a:solidFill>
                        </a:rPr>
                        <a:t>Stable Diffusion XL</a:t>
                      </a:r>
                    </a:p>
                  </a:txBody>
                  <a:tcPr marT="50800" marB="50800">
                    <a:solidFill>
                      <a:srgbClr val="041028"/>
                    </a:solidFill>
                  </a:tcPr>
                </a:tc>
                <a:extLst>
                  <a:ext uri="{0D108BD9-81ED-4DB2-BD59-A6C34878D82A}">
                    <a16:rowId xmlns:a16="http://schemas.microsoft.com/office/drawing/2014/main" val="10008"/>
                  </a:ext>
                </a:extLst>
              </a:tr>
              <a:tr h="494607">
                <a:tc>
                  <a:txBody>
                    <a:bodyPr/>
                    <a:lstStyle/>
                    <a:p>
                      <a:pPr algn="l"/>
                      <a:r>
                        <a:rPr lang="fr-FR" sz="1500" noProof="0" dirty="0">
                          <a:solidFill>
                            <a:srgbClr val="E8EFF8"/>
                          </a:solidFill>
                        </a:rPr>
                        <a:t>Orchestration</a:t>
                      </a:r>
                    </a:p>
                  </a:txBody>
                  <a:tcPr marT="50800" marB="50800">
                    <a:solidFill>
                      <a:srgbClr val="061430"/>
                    </a:solidFill>
                  </a:tcPr>
                </a:tc>
                <a:tc>
                  <a:txBody>
                    <a:bodyPr/>
                    <a:lstStyle/>
                    <a:p>
                      <a:pPr algn="ctr"/>
                      <a:r>
                        <a:rPr lang="fr-FR" sz="1500" noProof="0" dirty="0" err="1">
                          <a:solidFill>
                            <a:srgbClr val="E8EFF8"/>
                          </a:solidFill>
                        </a:rPr>
                        <a:t>LangChain</a:t>
                      </a:r>
                      <a:r>
                        <a:rPr lang="fr-FR" sz="1500" noProof="0" dirty="0">
                          <a:solidFill>
                            <a:srgbClr val="E8EFF8"/>
                          </a:solidFill>
                        </a:rPr>
                        <a:t> + </a:t>
                      </a:r>
                      <a:r>
                        <a:rPr lang="fr-FR" sz="1500" noProof="0" dirty="0" err="1">
                          <a:solidFill>
                            <a:srgbClr val="E8EFF8"/>
                          </a:solidFill>
                        </a:rPr>
                        <a:t>LangSmith</a:t>
                      </a:r>
                      <a:endParaRPr lang="fr-FR" sz="1500" noProof="0" dirty="0">
                        <a:solidFill>
                          <a:srgbClr val="E8EFF8"/>
                        </a:solidFill>
                      </a:endParaRPr>
                    </a:p>
                  </a:txBody>
                  <a:tcPr marT="50800" marB="50800">
                    <a:solidFill>
                      <a:srgbClr val="061430"/>
                    </a:solidFill>
                  </a:tcPr>
                </a:tc>
                <a:tc>
                  <a:txBody>
                    <a:bodyPr/>
                    <a:lstStyle/>
                    <a:p>
                      <a:pPr algn="ctr"/>
                      <a:r>
                        <a:rPr lang="fr-FR" sz="1500" noProof="0" dirty="0">
                          <a:solidFill>
                            <a:srgbClr val="E8EFF8"/>
                          </a:solidFill>
                        </a:rPr>
                        <a:t>RAG, chaines, </a:t>
                      </a:r>
                      <a:r>
                        <a:rPr lang="fr-FR" sz="1500" noProof="0" dirty="0" err="1">
                          <a:solidFill>
                            <a:srgbClr val="E8EFF8"/>
                          </a:solidFill>
                        </a:rPr>
                        <a:t>observabilite</a:t>
                      </a:r>
                      <a:r>
                        <a:rPr lang="fr-FR" sz="1500" noProof="0" dirty="0">
                          <a:solidFill>
                            <a:srgbClr val="E8EFF8"/>
                          </a:solidFill>
                        </a:rPr>
                        <a:t>, </a:t>
                      </a:r>
                      <a:r>
                        <a:rPr lang="fr-FR" sz="1500" noProof="0" dirty="0" err="1">
                          <a:solidFill>
                            <a:srgbClr val="E8EFF8"/>
                          </a:solidFill>
                        </a:rPr>
                        <a:t>debugging</a:t>
                      </a:r>
                      <a:endParaRPr lang="fr-FR" sz="1500" noProof="0" dirty="0">
                        <a:solidFill>
                          <a:srgbClr val="E8EFF8"/>
                        </a:solidFill>
                      </a:endParaRPr>
                    </a:p>
                  </a:txBody>
                  <a:tcPr marT="50800" marB="50800">
                    <a:solidFill>
                      <a:srgbClr val="061430"/>
                    </a:solidFill>
                  </a:tcPr>
                </a:tc>
                <a:tc>
                  <a:txBody>
                    <a:bodyPr/>
                    <a:lstStyle/>
                    <a:p>
                      <a:pPr algn="ctr"/>
                      <a:r>
                        <a:rPr lang="fr-FR" sz="1500" noProof="0" dirty="0" err="1">
                          <a:solidFill>
                            <a:srgbClr val="E8EFF8"/>
                          </a:solidFill>
                        </a:rPr>
                        <a:t>LlamaIndex</a:t>
                      </a:r>
                      <a:endParaRPr lang="fr-FR" sz="1500" noProof="0" dirty="0">
                        <a:solidFill>
                          <a:srgbClr val="E8EFF8"/>
                        </a:solidFill>
                      </a:endParaRPr>
                    </a:p>
                  </a:txBody>
                  <a:tcPr marT="50800" marB="50800">
                    <a:solidFill>
                      <a:srgbClr val="061430"/>
                    </a:solidFill>
                  </a:tcPr>
                </a:tc>
                <a:extLst>
                  <a:ext uri="{0D108BD9-81ED-4DB2-BD59-A6C34878D82A}">
                    <a16:rowId xmlns:a16="http://schemas.microsoft.com/office/drawing/2014/main" val="10009"/>
                  </a:ext>
                </a:extLst>
              </a:tr>
              <a:tr h="494610">
                <a:tc>
                  <a:txBody>
                    <a:bodyPr/>
                    <a:lstStyle/>
                    <a:p>
                      <a:pPr algn="l"/>
                      <a:r>
                        <a:rPr lang="fr-FR" sz="1500" noProof="0" dirty="0" err="1">
                          <a:solidFill>
                            <a:srgbClr val="E8EFF8"/>
                          </a:solidFill>
                        </a:rPr>
                        <a:t>Deploiement</a:t>
                      </a:r>
                      <a:endParaRPr lang="fr-FR" sz="1500" noProof="0" dirty="0">
                        <a:solidFill>
                          <a:srgbClr val="E8EFF8"/>
                        </a:solidFill>
                      </a:endParaRPr>
                    </a:p>
                  </a:txBody>
                  <a:tcPr marT="50800" marB="50800">
                    <a:solidFill>
                      <a:srgbClr val="041028"/>
                    </a:solidFill>
                  </a:tcPr>
                </a:tc>
                <a:tc>
                  <a:txBody>
                    <a:bodyPr/>
                    <a:lstStyle/>
                    <a:p>
                      <a:pPr algn="ctr"/>
                      <a:r>
                        <a:rPr lang="fr-FR" sz="1500" noProof="0" dirty="0" err="1">
                          <a:solidFill>
                            <a:srgbClr val="E8EFF8"/>
                          </a:solidFill>
                        </a:rPr>
                        <a:t>Vercel</a:t>
                      </a:r>
                      <a:r>
                        <a:rPr lang="fr-FR" sz="1500" noProof="0" dirty="0">
                          <a:solidFill>
                            <a:srgbClr val="E8EFF8"/>
                          </a:solidFill>
                        </a:rPr>
                        <a:t> (front) + Railway (back)</a:t>
                      </a:r>
                    </a:p>
                  </a:txBody>
                  <a:tcPr marT="50800" marB="50800">
                    <a:solidFill>
                      <a:srgbClr val="041028"/>
                    </a:solidFill>
                  </a:tcPr>
                </a:tc>
                <a:tc>
                  <a:txBody>
                    <a:bodyPr/>
                    <a:lstStyle/>
                    <a:p>
                      <a:pPr algn="ctr"/>
                      <a:r>
                        <a:rPr lang="fr-FR" sz="1500" noProof="0" dirty="0">
                          <a:solidFill>
                            <a:srgbClr val="E8EFF8"/>
                          </a:solidFill>
                        </a:rPr>
                        <a:t>Auto-</a:t>
                      </a:r>
                      <a:r>
                        <a:rPr lang="fr-FR" sz="1500" noProof="0" dirty="0" err="1">
                          <a:solidFill>
                            <a:srgbClr val="E8EFF8"/>
                          </a:solidFill>
                        </a:rPr>
                        <a:t>scaling</a:t>
                      </a:r>
                      <a:r>
                        <a:rPr lang="fr-FR" sz="1500" noProof="0" dirty="0">
                          <a:solidFill>
                            <a:srgbClr val="E8EFF8"/>
                          </a:solidFill>
                        </a:rPr>
                        <a:t>, CI/CD GitHub natif</a:t>
                      </a:r>
                    </a:p>
                  </a:txBody>
                  <a:tcPr marT="50800" marB="50800">
                    <a:solidFill>
                      <a:srgbClr val="041028"/>
                    </a:solidFill>
                  </a:tcPr>
                </a:tc>
                <a:tc>
                  <a:txBody>
                    <a:bodyPr/>
                    <a:lstStyle/>
                    <a:p>
                      <a:pPr algn="ctr"/>
                      <a:r>
                        <a:rPr lang="fr-FR" sz="1500" noProof="0" dirty="0" err="1">
                          <a:solidFill>
                            <a:srgbClr val="E8EFF8"/>
                          </a:solidFill>
                        </a:rPr>
                        <a:t>Render</a:t>
                      </a:r>
                      <a:r>
                        <a:rPr lang="fr-FR" sz="1500" noProof="0" dirty="0">
                          <a:solidFill>
                            <a:srgbClr val="E8EFF8"/>
                          </a:solidFill>
                        </a:rPr>
                        <a:t>, Fly.io</a:t>
                      </a:r>
                    </a:p>
                  </a:txBody>
                  <a:tcPr marT="50800" marB="50800">
                    <a:solidFill>
                      <a:srgbClr val="041028"/>
                    </a:solidFill>
                  </a:tcPr>
                </a:tc>
                <a:extLst>
                  <a:ext uri="{0D108BD9-81ED-4DB2-BD59-A6C34878D82A}">
                    <a16:rowId xmlns:a16="http://schemas.microsoft.com/office/drawing/2014/main" val="10010"/>
                  </a:ext>
                </a:extLst>
              </a:tr>
            </a:tbl>
          </a:graphicData>
        </a:graphic>
      </p:graphicFrame>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4FE3AA75-7026-487E-1087-8BBFB2138B9B}"/>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6" name="TextBox 5"/>
          <p:cNvSpPr txBox="1"/>
          <p:nvPr/>
        </p:nvSpPr>
        <p:spPr>
          <a:xfrm>
            <a:off x="723049" y="407056"/>
            <a:ext cx="10506751" cy="1169551"/>
          </a:xfrm>
          <a:prstGeom prst="rect">
            <a:avLst/>
          </a:prstGeom>
          <a:noFill/>
        </p:spPr>
        <p:txBody>
          <a:bodyPr wrap="square">
            <a:spAutoFit/>
          </a:bodyPr>
          <a:lstStyle/>
          <a:p>
            <a:pPr algn="l"/>
            <a:r>
              <a:rPr lang="fr-FR" sz="7000" b="1" i="0" noProof="0" dirty="0">
                <a:solidFill>
                  <a:srgbClr val="FFFFFF"/>
                </a:solidFill>
              </a:rPr>
              <a:t>Couts et</a:t>
            </a:r>
            <a:r>
              <a:rPr lang="fr-FR" sz="7000" b="1" dirty="0">
                <a:solidFill>
                  <a:srgbClr val="FFFFFF"/>
                </a:solidFill>
              </a:rPr>
              <a:t> étude de f</a:t>
            </a:r>
            <a:r>
              <a:rPr lang="fr-FR" sz="7000" b="1" i="0" noProof="0" dirty="0" err="1">
                <a:solidFill>
                  <a:srgbClr val="FFFFFF"/>
                </a:solidFill>
              </a:rPr>
              <a:t>aisabilité</a:t>
            </a:r>
            <a:endParaRPr lang="fr-FR" sz="7000" b="1" i="0" noProof="0" dirty="0">
              <a:solidFill>
                <a:srgbClr val="FFFFFF"/>
              </a:solidFill>
            </a:endParaRPr>
          </a:p>
        </p:txBody>
      </p:sp>
      <p:pic>
        <p:nvPicPr>
          <p:cNvPr id="5122" name="Picture 2" descr="20 euro bill on white printer paper">
            <a:extLst>
              <a:ext uri="{FF2B5EF4-FFF2-40B4-BE49-F238E27FC236}">
                <a16:creationId xmlns:a16="http://schemas.microsoft.com/office/drawing/2014/main" id="{ABFE0B87-2F43-1347-AA63-0495BDD768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1460" y="1790461"/>
            <a:ext cx="6528884" cy="43055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48DAC743-982D-6B8B-ACE8-A9862DAA5D78}"/>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5" name="TextBox 4"/>
          <p:cNvSpPr txBox="1"/>
          <p:nvPr/>
        </p:nvSpPr>
        <p:spPr>
          <a:xfrm>
            <a:off x="349438" y="167265"/>
            <a:ext cx="10635946" cy="707886"/>
          </a:xfrm>
          <a:prstGeom prst="rect">
            <a:avLst/>
          </a:prstGeom>
          <a:noFill/>
        </p:spPr>
        <p:txBody>
          <a:bodyPr wrap="square">
            <a:spAutoFit/>
          </a:bodyPr>
          <a:lstStyle/>
          <a:p>
            <a:pPr algn="l"/>
            <a:r>
              <a:rPr lang="fr-FR" sz="4000" b="1" i="0" noProof="0" dirty="0">
                <a:solidFill>
                  <a:srgbClr val="FFFFFF"/>
                </a:solidFill>
              </a:rPr>
              <a:t>Estimation budgétaire pour MVP production</a:t>
            </a:r>
          </a:p>
        </p:txBody>
      </p:sp>
      <p:sp>
        <p:nvSpPr>
          <p:cNvPr id="12" name="Rectangle 11"/>
          <p:cNvSpPr/>
          <p:nvPr/>
        </p:nvSpPr>
        <p:spPr>
          <a:xfrm>
            <a:off x="365760" y="1115568"/>
            <a:ext cx="11475720" cy="402336"/>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3" name="Rectangle 12"/>
          <p:cNvSpPr/>
          <p:nvPr/>
        </p:nvSpPr>
        <p:spPr>
          <a:xfrm>
            <a:off x="365760" y="1115568"/>
            <a:ext cx="11475720" cy="36576"/>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4" name="TextBox 13"/>
          <p:cNvSpPr txBox="1"/>
          <p:nvPr/>
        </p:nvSpPr>
        <p:spPr>
          <a:xfrm>
            <a:off x="530352" y="1143000"/>
            <a:ext cx="2286000" cy="323165"/>
          </a:xfrm>
          <a:prstGeom prst="rect">
            <a:avLst/>
          </a:prstGeom>
          <a:noFill/>
        </p:spPr>
        <p:txBody>
          <a:bodyPr wrap="square">
            <a:spAutoFit/>
          </a:bodyPr>
          <a:lstStyle/>
          <a:p>
            <a:pPr algn="l"/>
            <a:r>
              <a:rPr lang="fr-FR" sz="1500" b="1" i="0" noProof="0" dirty="0">
                <a:solidFill>
                  <a:srgbClr val="FFA040"/>
                </a:solidFill>
              </a:rPr>
              <a:t>Poste de cout</a:t>
            </a:r>
          </a:p>
        </p:txBody>
      </p:sp>
      <p:sp>
        <p:nvSpPr>
          <p:cNvPr id="15" name="TextBox 14"/>
          <p:cNvSpPr txBox="1"/>
          <p:nvPr/>
        </p:nvSpPr>
        <p:spPr>
          <a:xfrm>
            <a:off x="4663440" y="1143000"/>
            <a:ext cx="2286000" cy="323165"/>
          </a:xfrm>
          <a:prstGeom prst="rect">
            <a:avLst/>
          </a:prstGeom>
          <a:noFill/>
        </p:spPr>
        <p:txBody>
          <a:bodyPr wrap="square">
            <a:spAutoFit/>
          </a:bodyPr>
          <a:lstStyle/>
          <a:p>
            <a:pPr algn="l"/>
            <a:r>
              <a:rPr lang="fr-FR" sz="1500" b="1" i="0" noProof="0" dirty="0">
                <a:solidFill>
                  <a:srgbClr val="FFA040"/>
                </a:solidFill>
              </a:rPr>
              <a:t>Calcul base</a:t>
            </a:r>
          </a:p>
        </p:txBody>
      </p:sp>
      <p:sp>
        <p:nvSpPr>
          <p:cNvPr id="16" name="TextBox 15"/>
          <p:cNvSpPr txBox="1"/>
          <p:nvPr/>
        </p:nvSpPr>
        <p:spPr>
          <a:xfrm>
            <a:off x="7653528" y="1173441"/>
            <a:ext cx="2286000" cy="323165"/>
          </a:xfrm>
          <a:prstGeom prst="rect">
            <a:avLst/>
          </a:prstGeom>
          <a:noFill/>
        </p:spPr>
        <p:txBody>
          <a:bodyPr wrap="square">
            <a:spAutoFit/>
          </a:bodyPr>
          <a:lstStyle/>
          <a:p>
            <a:pPr algn="l"/>
            <a:r>
              <a:rPr lang="fr-FR" sz="1500" b="1" i="0" noProof="0" dirty="0">
                <a:solidFill>
                  <a:srgbClr val="FFA040"/>
                </a:solidFill>
              </a:rPr>
              <a:t>100 </a:t>
            </a:r>
            <a:r>
              <a:rPr lang="fr-FR" sz="1500" b="1" i="0" noProof="0" dirty="0" err="1">
                <a:solidFill>
                  <a:srgbClr val="FFA040"/>
                </a:solidFill>
              </a:rPr>
              <a:t>users</a:t>
            </a:r>
            <a:r>
              <a:rPr lang="fr-FR" sz="1500" b="1" i="0" noProof="0" dirty="0">
                <a:solidFill>
                  <a:srgbClr val="FFA040"/>
                </a:solidFill>
              </a:rPr>
              <a:t> / mois</a:t>
            </a:r>
          </a:p>
        </p:txBody>
      </p:sp>
      <p:sp>
        <p:nvSpPr>
          <p:cNvPr id="17" name="TextBox 16"/>
          <p:cNvSpPr txBox="1"/>
          <p:nvPr/>
        </p:nvSpPr>
        <p:spPr>
          <a:xfrm>
            <a:off x="9758712" y="1143000"/>
            <a:ext cx="2286000" cy="323165"/>
          </a:xfrm>
          <a:prstGeom prst="rect">
            <a:avLst/>
          </a:prstGeom>
          <a:noFill/>
        </p:spPr>
        <p:txBody>
          <a:bodyPr wrap="square">
            <a:spAutoFit/>
          </a:bodyPr>
          <a:lstStyle/>
          <a:p>
            <a:pPr algn="l"/>
            <a:r>
              <a:rPr lang="fr-FR" sz="1500" b="1" i="0" noProof="0" dirty="0">
                <a:solidFill>
                  <a:srgbClr val="FFA040"/>
                </a:solidFill>
              </a:rPr>
              <a:t>1 000 </a:t>
            </a:r>
            <a:r>
              <a:rPr lang="fr-FR" sz="1500" b="1" i="0" noProof="0" dirty="0" err="1">
                <a:solidFill>
                  <a:srgbClr val="FFA040"/>
                </a:solidFill>
              </a:rPr>
              <a:t>users</a:t>
            </a:r>
            <a:r>
              <a:rPr lang="fr-FR" sz="1500" b="1" i="0" noProof="0" dirty="0">
                <a:solidFill>
                  <a:srgbClr val="FFA040"/>
                </a:solidFill>
              </a:rPr>
              <a:t> / mois</a:t>
            </a:r>
          </a:p>
        </p:txBody>
      </p:sp>
      <p:sp>
        <p:nvSpPr>
          <p:cNvPr id="18" name="Rectangle 17"/>
          <p:cNvSpPr/>
          <p:nvPr/>
        </p:nvSpPr>
        <p:spPr>
          <a:xfrm>
            <a:off x="365760" y="1572768"/>
            <a:ext cx="11475720" cy="566928"/>
          </a:xfrm>
          <a:prstGeom prst="rect">
            <a:avLst/>
          </a:prstGeom>
          <a:solidFill>
            <a:srgbClr val="06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9" name="Rectangle 18"/>
          <p:cNvSpPr/>
          <p:nvPr/>
        </p:nvSpPr>
        <p:spPr>
          <a:xfrm>
            <a:off x="365760" y="1572768"/>
            <a:ext cx="36576" cy="566928"/>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0" name="TextBox 19"/>
          <p:cNvSpPr txBox="1"/>
          <p:nvPr/>
        </p:nvSpPr>
        <p:spPr>
          <a:xfrm>
            <a:off x="530352" y="1691640"/>
            <a:ext cx="4023360" cy="329184"/>
          </a:xfrm>
          <a:prstGeom prst="rect">
            <a:avLst/>
          </a:prstGeom>
          <a:noFill/>
        </p:spPr>
        <p:txBody>
          <a:bodyPr wrap="square">
            <a:spAutoFit/>
          </a:bodyPr>
          <a:lstStyle/>
          <a:p>
            <a:pPr algn="l"/>
            <a:r>
              <a:rPr lang="fr-FR" sz="1500" b="0" i="0" noProof="0" dirty="0">
                <a:solidFill>
                  <a:srgbClr val="E8EFF8"/>
                </a:solidFill>
              </a:rPr>
              <a:t>LLM API — Claude 3.5 Sonnet</a:t>
            </a:r>
          </a:p>
        </p:txBody>
      </p:sp>
      <p:sp>
        <p:nvSpPr>
          <p:cNvPr id="21" name="TextBox 20"/>
          <p:cNvSpPr txBox="1"/>
          <p:nvPr/>
        </p:nvSpPr>
        <p:spPr>
          <a:xfrm>
            <a:off x="4663440" y="1691640"/>
            <a:ext cx="2560320" cy="329184"/>
          </a:xfrm>
          <a:prstGeom prst="rect">
            <a:avLst/>
          </a:prstGeom>
          <a:noFill/>
        </p:spPr>
        <p:txBody>
          <a:bodyPr wrap="square">
            <a:spAutoFit/>
          </a:bodyPr>
          <a:lstStyle/>
          <a:p>
            <a:pPr algn="l"/>
            <a:r>
              <a:rPr lang="fr-FR" sz="1500" b="0" i="0" noProof="0" dirty="0">
                <a:solidFill>
                  <a:schemeClr val="bg1"/>
                </a:solidFill>
              </a:rPr>
              <a:t>500 </a:t>
            </a:r>
            <a:r>
              <a:rPr lang="fr-FR" sz="1500" b="0" i="0" noProof="0" dirty="0" err="1">
                <a:solidFill>
                  <a:schemeClr val="bg1"/>
                </a:solidFill>
              </a:rPr>
              <a:t>users</a:t>
            </a:r>
            <a:r>
              <a:rPr lang="fr-FR" sz="1500" b="0" i="0" noProof="0" dirty="0">
                <a:solidFill>
                  <a:schemeClr val="bg1"/>
                </a:solidFill>
              </a:rPr>
              <a:t> x 10 </a:t>
            </a:r>
            <a:r>
              <a:rPr lang="fr-FR" sz="1500" b="0" i="0" noProof="0" dirty="0" err="1">
                <a:solidFill>
                  <a:schemeClr val="bg1"/>
                </a:solidFill>
              </a:rPr>
              <a:t>req</a:t>
            </a:r>
            <a:r>
              <a:rPr lang="fr-FR" sz="1500" b="0" i="0" noProof="0" dirty="0">
                <a:solidFill>
                  <a:schemeClr val="bg1"/>
                </a:solidFill>
              </a:rPr>
              <a:t> x ~0.04 $</a:t>
            </a:r>
          </a:p>
        </p:txBody>
      </p:sp>
      <p:sp>
        <p:nvSpPr>
          <p:cNvPr id="22" name="TextBox 21"/>
          <p:cNvSpPr txBox="1"/>
          <p:nvPr/>
        </p:nvSpPr>
        <p:spPr>
          <a:xfrm>
            <a:off x="7406640" y="1691640"/>
            <a:ext cx="2011680" cy="329184"/>
          </a:xfrm>
          <a:prstGeom prst="rect">
            <a:avLst/>
          </a:prstGeom>
          <a:noFill/>
        </p:spPr>
        <p:txBody>
          <a:bodyPr wrap="square">
            <a:spAutoFit/>
          </a:bodyPr>
          <a:lstStyle/>
          <a:p>
            <a:pPr algn="ctr"/>
            <a:r>
              <a:rPr lang="fr-FR" sz="1500" b="1" i="0" noProof="0" dirty="0">
                <a:solidFill>
                  <a:srgbClr val="3CE88E"/>
                </a:solidFill>
              </a:rPr>
              <a:t>~20 $</a:t>
            </a:r>
          </a:p>
        </p:txBody>
      </p:sp>
      <p:sp>
        <p:nvSpPr>
          <p:cNvPr id="23" name="TextBox 22"/>
          <p:cNvSpPr txBox="1"/>
          <p:nvPr/>
        </p:nvSpPr>
        <p:spPr>
          <a:xfrm>
            <a:off x="9601200" y="1691640"/>
            <a:ext cx="2103120" cy="329184"/>
          </a:xfrm>
          <a:prstGeom prst="rect">
            <a:avLst/>
          </a:prstGeom>
          <a:noFill/>
        </p:spPr>
        <p:txBody>
          <a:bodyPr wrap="square">
            <a:spAutoFit/>
          </a:bodyPr>
          <a:lstStyle/>
          <a:p>
            <a:pPr algn="ctr"/>
            <a:r>
              <a:rPr lang="fr-FR" sz="1500" b="1" i="0" noProof="0" dirty="0">
                <a:solidFill>
                  <a:srgbClr val="FFA040"/>
                </a:solidFill>
              </a:rPr>
              <a:t>~200 $</a:t>
            </a:r>
          </a:p>
        </p:txBody>
      </p:sp>
      <p:sp>
        <p:nvSpPr>
          <p:cNvPr id="24" name="Rectangle 23"/>
          <p:cNvSpPr/>
          <p:nvPr/>
        </p:nvSpPr>
        <p:spPr>
          <a:xfrm>
            <a:off x="365760" y="2194560"/>
            <a:ext cx="11475720" cy="566928"/>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5" name="Rectangle 24"/>
          <p:cNvSpPr/>
          <p:nvPr/>
        </p:nvSpPr>
        <p:spPr>
          <a:xfrm>
            <a:off x="365760" y="2194560"/>
            <a:ext cx="36576" cy="566928"/>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6" name="TextBox 25"/>
          <p:cNvSpPr txBox="1"/>
          <p:nvPr/>
        </p:nvSpPr>
        <p:spPr>
          <a:xfrm>
            <a:off x="530352" y="2313432"/>
            <a:ext cx="4023360" cy="329184"/>
          </a:xfrm>
          <a:prstGeom prst="rect">
            <a:avLst/>
          </a:prstGeom>
          <a:noFill/>
        </p:spPr>
        <p:txBody>
          <a:bodyPr wrap="square">
            <a:spAutoFit/>
          </a:bodyPr>
          <a:lstStyle/>
          <a:p>
            <a:pPr algn="l"/>
            <a:r>
              <a:rPr lang="fr-FR" sz="1500" b="0" i="0" noProof="0" dirty="0" err="1">
                <a:solidFill>
                  <a:srgbClr val="E8EFF8"/>
                </a:solidFill>
              </a:rPr>
              <a:t>Embeddings</a:t>
            </a:r>
            <a:r>
              <a:rPr lang="fr-FR" sz="1500" b="0" i="0" noProof="0" dirty="0">
                <a:solidFill>
                  <a:srgbClr val="E8EFF8"/>
                </a:solidFill>
              </a:rPr>
              <a:t> — text-embedding-3-small</a:t>
            </a:r>
          </a:p>
        </p:txBody>
      </p:sp>
      <p:sp>
        <p:nvSpPr>
          <p:cNvPr id="27" name="TextBox 26"/>
          <p:cNvSpPr txBox="1"/>
          <p:nvPr/>
        </p:nvSpPr>
        <p:spPr>
          <a:xfrm>
            <a:off x="4663440" y="2313432"/>
            <a:ext cx="2560320" cy="329184"/>
          </a:xfrm>
          <a:prstGeom prst="rect">
            <a:avLst/>
          </a:prstGeom>
          <a:noFill/>
        </p:spPr>
        <p:txBody>
          <a:bodyPr wrap="square">
            <a:spAutoFit/>
          </a:bodyPr>
          <a:lstStyle/>
          <a:p>
            <a:pPr algn="l"/>
            <a:r>
              <a:rPr lang="fr-FR" sz="1500" b="0" i="0" noProof="0" dirty="0">
                <a:solidFill>
                  <a:schemeClr val="bg1"/>
                </a:solidFill>
              </a:rPr>
              <a:t>~500 K </a:t>
            </a:r>
            <a:r>
              <a:rPr lang="fr-FR" sz="1500" b="0" i="0" noProof="0" dirty="0" err="1">
                <a:solidFill>
                  <a:schemeClr val="bg1"/>
                </a:solidFill>
              </a:rPr>
              <a:t>tokens</a:t>
            </a:r>
            <a:r>
              <a:rPr lang="fr-FR" sz="1500" b="0" i="0" noProof="0" dirty="0">
                <a:solidFill>
                  <a:schemeClr val="bg1"/>
                </a:solidFill>
              </a:rPr>
              <a:t> / mois</a:t>
            </a:r>
          </a:p>
        </p:txBody>
      </p:sp>
      <p:sp>
        <p:nvSpPr>
          <p:cNvPr id="28" name="TextBox 27"/>
          <p:cNvSpPr txBox="1"/>
          <p:nvPr/>
        </p:nvSpPr>
        <p:spPr>
          <a:xfrm>
            <a:off x="7406640" y="2313432"/>
            <a:ext cx="2011680" cy="329184"/>
          </a:xfrm>
          <a:prstGeom prst="rect">
            <a:avLst/>
          </a:prstGeom>
          <a:noFill/>
        </p:spPr>
        <p:txBody>
          <a:bodyPr wrap="square">
            <a:spAutoFit/>
          </a:bodyPr>
          <a:lstStyle/>
          <a:p>
            <a:pPr algn="ctr"/>
            <a:r>
              <a:rPr lang="fr-FR" sz="1500" b="1" i="0" noProof="0" dirty="0">
                <a:solidFill>
                  <a:srgbClr val="3CE88E"/>
                </a:solidFill>
              </a:rPr>
              <a:t>&lt; 1 $</a:t>
            </a:r>
          </a:p>
        </p:txBody>
      </p:sp>
      <p:sp>
        <p:nvSpPr>
          <p:cNvPr id="29" name="TextBox 28"/>
          <p:cNvSpPr txBox="1"/>
          <p:nvPr/>
        </p:nvSpPr>
        <p:spPr>
          <a:xfrm>
            <a:off x="9601200" y="2313432"/>
            <a:ext cx="2103120" cy="329184"/>
          </a:xfrm>
          <a:prstGeom prst="rect">
            <a:avLst/>
          </a:prstGeom>
          <a:noFill/>
        </p:spPr>
        <p:txBody>
          <a:bodyPr wrap="square">
            <a:spAutoFit/>
          </a:bodyPr>
          <a:lstStyle/>
          <a:p>
            <a:pPr algn="ctr"/>
            <a:r>
              <a:rPr lang="fr-FR" sz="1500" b="1" i="0" noProof="0" dirty="0">
                <a:solidFill>
                  <a:srgbClr val="FFA040"/>
                </a:solidFill>
              </a:rPr>
              <a:t>&lt; 1 $</a:t>
            </a:r>
          </a:p>
        </p:txBody>
      </p:sp>
      <p:sp>
        <p:nvSpPr>
          <p:cNvPr id="30" name="Rectangle 29"/>
          <p:cNvSpPr/>
          <p:nvPr/>
        </p:nvSpPr>
        <p:spPr>
          <a:xfrm>
            <a:off x="365760" y="2816352"/>
            <a:ext cx="11475720" cy="566928"/>
          </a:xfrm>
          <a:prstGeom prst="rect">
            <a:avLst/>
          </a:prstGeom>
          <a:solidFill>
            <a:srgbClr val="06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1" name="Rectangle 30"/>
          <p:cNvSpPr/>
          <p:nvPr/>
        </p:nvSpPr>
        <p:spPr>
          <a:xfrm>
            <a:off x="365760" y="2816352"/>
            <a:ext cx="36576" cy="566928"/>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2" name="TextBox 31"/>
          <p:cNvSpPr txBox="1"/>
          <p:nvPr/>
        </p:nvSpPr>
        <p:spPr>
          <a:xfrm>
            <a:off x="530352" y="2935224"/>
            <a:ext cx="4023360" cy="329184"/>
          </a:xfrm>
          <a:prstGeom prst="rect">
            <a:avLst/>
          </a:prstGeom>
          <a:noFill/>
        </p:spPr>
        <p:txBody>
          <a:bodyPr wrap="square">
            <a:spAutoFit/>
          </a:bodyPr>
          <a:lstStyle/>
          <a:p>
            <a:pPr algn="l"/>
            <a:r>
              <a:rPr lang="fr-FR" sz="1500" b="0" i="0" noProof="0" dirty="0">
                <a:solidFill>
                  <a:srgbClr val="E8EFF8"/>
                </a:solidFill>
              </a:rPr>
              <a:t>Génération images — DALL-E 3</a:t>
            </a:r>
          </a:p>
        </p:txBody>
      </p:sp>
      <p:sp>
        <p:nvSpPr>
          <p:cNvPr id="33" name="TextBox 32"/>
          <p:cNvSpPr txBox="1"/>
          <p:nvPr/>
        </p:nvSpPr>
        <p:spPr>
          <a:xfrm>
            <a:off x="4663440" y="2935224"/>
            <a:ext cx="2560320" cy="329184"/>
          </a:xfrm>
          <a:prstGeom prst="rect">
            <a:avLst/>
          </a:prstGeom>
          <a:noFill/>
        </p:spPr>
        <p:txBody>
          <a:bodyPr wrap="square">
            <a:spAutoFit/>
          </a:bodyPr>
          <a:lstStyle/>
          <a:p>
            <a:pPr algn="l"/>
            <a:r>
              <a:rPr lang="fr-FR" sz="1000" b="0" i="0" noProof="0" dirty="0">
                <a:solidFill>
                  <a:srgbClr val="A8BBCC"/>
                </a:solidFill>
              </a:rPr>
              <a:t>~</a:t>
            </a:r>
            <a:r>
              <a:rPr lang="fr-FR" sz="1500" b="0" i="0" noProof="0" dirty="0">
                <a:solidFill>
                  <a:schemeClr val="bg1"/>
                </a:solidFill>
              </a:rPr>
              <a:t>500 </a:t>
            </a:r>
            <a:r>
              <a:rPr lang="fr-FR" sz="1500" b="0" i="0" noProof="0" dirty="0" err="1">
                <a:solidFill>
                  <a:schemeClr val="bg1"/>
                </a:solidFill>
              </a:rPr>
              <a:t>schemas</a:t>
            </a:r>
            <a:r>
              <a:rPr lang="fr-FR" sz="1500" b="0" i="0" noProof="0" dirty="0">
                <a:solidFill>
                  <a:schemeClr val="bg1"/>
                </a:solidFill>
              </a:rPr>
              <a:t> / mois</a:t>
            </a:r>
          </a:p>
        </p:txBody>
      </p:sp>
      <p:sp>
        <p:nvSpPr>
          <p:cNvPr id="34" name="TextBox 33"/>
          <p:cNvSpPr txBox="1"/>
          <p:nvPr/>
        </p:nvSpPr>
        <p:spPr>
          <a:xfrm>
            <a:off x="7406640" y="2935224"/>
            <a:ext cx="2011680" cy="329184"/>
          </a:xfrm>
          <a:prstGeom prst="rect">
            <a:avLst/>
          </a:prstGeom>
          <a:noFill/>
        </p:spPr>
        <p:txBody>
          <a:bodyPr wrap="square">
            <a:spAutoFit/>
          </a:bodyPr>
          <a:lstStyle/>
          <a:p>
            <a:pPr algn="ctr"/>
            <a:r>
              <a:rPr lang="fr-FR" sz="1500" b="1" i="0" noProof="0" dirty="0">
                <a:solidFill>
                  <a:srgbClr val="3CE88E"/>
                </a:solidFill>
              </a:rPr>
              <a:t>~20 $</a:t>
            </a:r>
          </a:p>
        </p:txBody>
      </p:sp>
      <p:sp>
        <p:nvSpPr>
          <p:cNvPr id="35" name="TextBox 34"/>
          <p:cNvSpPr txBox="1"/>
          <p:nvPr/>
        </p:nvSpPr>
        <p:spPr>
          <a:xfrm>
            <a:off x="9601200" y="2935224"/>
            <a:ext cx="2103120" cy="329184"/>
          </a:xfrm>
          <a:prstGeom prst="rect">
            <a:avLst/>
          </a:prstGeom>
          <a:noFill/>
        </p:spPr>
        <p:txBody>
          <a:bodyPr wrap="square">
            <a:spAutoFit/>
          </a:bodyPr>
          <a:lstStyle/>
          <a:p>
            <a:pPr algn="ctr"/>
            <a:r>
              <a:rPr lang="fr-FR" sz="1500" b="1" i="0" noProof="0" dirty="0">
                <a:solidFill>
                  <a:srgbClr val="FFA040"/>
                </a:solidFill>
              </a:rPr>
              <a:t>~200 $</a:t>
            </a:r>
          </a:p>
        </p:txBody>
      </p:sp>
      <p:sp>
        <p:nvSpPr>
          <p:cNvPr id="36" name="Rectangle 35"/>
          <p:cNvSpPr/>
          <p:nvPr/>
        </p:nvSpPr>
        <p:spPr>
          <a:xfrm>
            <a:off x="365760" y="3438144"/>
            <a:ext cx="11475720" cy="566928"/>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7" name="Rectangle 36"/>
          <p:cNvSpPr/>
          <p:nvPr/>
        </p:nvSpPr>
        <p:spPr>
          <a:xfrm>
            <a:off x="365760" y="3438144"/>
            <a:ext cx="36576" cy="566928"/>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8" name="TextBox 37"/>
          <p:cNvSpPr txBox="1"/>
          <p:nvPr/>
        </p:nvSpPr>
        <p:spPr>
          <a:xfrm>
            <a:off x="530352" y="3557016"/>
            <a:ext cx="4023360" cy="329184"/>
          </a:xfrm>
          <a:prstGeom prst="rect">
            <a:avLst/>
          </a:prstGeom>
          <a:noFill/>
        </p:spPr>
        <p:txBody>
          <a:bodyPr wrap="square">
            <a:spAutoFit/>
          </a:bodyPr>
          <a:lstStyle/>
          <a:p>
            <a:pPr algn="l"/>
            <a:r>
              <a:rPr lang="fr-FR" sz="1500" b="0" i="0" noProof="0" dirty="0">
                <a:solidFill>
                  <a:srgbClr val="E8EFF8"/>
                </a:solidFill>
              </a:rPr>
              <a:t>BDD + </a:t>
            </a:r>
            <a:r>
              <a:rPr lang="fr-FR" sz="1500" b="0" i="0" noProof="0" dirty="0" err="1">
                <a:solidFill>
                  <a:srgbClr val="E8EFF8"/>
                </a:solidFill>
              </a:rPr>
              <a:t>pgvector</a:t>
            </a:r>
            <a:r>
              <a:rPr lang="fr-FR" sz="1500" b="0" i="0" noProof="0" dirty="0">
                <a:solidFill>
                  <a:srgbClr val="E8EFF8"/>
                </a:solidFill>
              </a:rPr>
              <a:t> — Supabase Pro</a:t>
            </a:r>
          </a:p>
        </p:txBody>
      </p:sp>
      <p:sp>
        <p:nvSpPr>
          <p:cNvPr id="39" name="TextBox 38"/>
          <p:cNvSpPr txBox="1"/>
          <p:nvPr/>
        </p:nvSpPr>
        <p:spPr>
          <a:xfrm>
            <a:off x="4663440" y="3557016"/>
            <a:ext cx="2560320" cy="329184"/>
          </a:xfrm>
          <a:prstGeom prst="rect">
            <a:avLst/>
          </a:prstGeom>
          <a:noFill/>
        </p:spPr>
        <p:txBody>
          <a:bodyPr wrap="square">
            <a:spAutoFit/>
          </a:bodyPr>
          <a:lstStyle/>
          <a:p>
            <a:pPr algn="l"/>
            <a:r>
              <a:rPr lang="fr-FR" sz="1500" b="0" i="0" noProof="0" dirty="0">
                <a:solidFill>
                  <a:schemeClr val="bg1"/>
                </a:solidFill>
              </a:rPr>
              <a:t>Storage inclus</a:t>
            </a:r>
          </a:p>
        </p:txBody>
      </p:sp>
      <p:sp>
        <p:nvSpPr>
          <p:cNvPr id="40" name="TextBox 39"/>
          <p:cNvSpPr txBox="1"/>
          <p:nvPr/>
        </p:nvSpPr>
        <p:spPr>
          <a:xfrm>
            <a:off x="7406640" y="3557016"/>
            <a:ext cx="2011680" cy="329184"/>
          </a:xfrm>
          <a:prstGeom prst="rect">
            <a:avLst/>
          </a:prstGeom>
          <a:noFill/>
        </p:spPr>
        <p:txBody>
          <a:bodyPr wrap="square">
            <a:spAutoFit/>
          </a:bodyPr>
          <a:lstStyle/>
          <a:p>
            <a:pPr algn="ctr"/>
            <a:r>
              <a:rPr lang="fr-FR" sz="1500" b="1" i="0" noProof="0" dirty="0">
                <a:solidFill>
                  <a:srgbClr val="3CE88E"/>
                </a:solidFill>
              </a:rPr>
              <a:t>~25 $</a:t>
            </a:r>
          </a:p>
        </p:txBody>
      </p:sp>
      <p:sp>
        <p:nvSpPr>
          <p:cNvPr id="41" name="TextBox 40"/>
          <p:cNvSpPr txBox="1"/>
          <p:nvPr/>
        </p:nvSpPr>
        <p:spPr>
          <a:xfrm>
            <a:off x="9601200" y="3557016"/>
            <a:ext cx="2103120" cy="329184"/>
          </a:xfrm>
          <a:prstGeom prst="rect">
            <a:avLst/>
          </a:prstGeom>
          <a:noFill/>
        </p:spPr>
        <p:txBody>
          <a:bodyPr wrap="square">
            <a:spAutoFit/>
          </a:bodyPr>
          <a:lstStyle/>
          <a:p>
            <a:pPr algn="ctr"/>
            <a:r>
              <a:rPr lang="fr-FR" sz="1500" b="1" i="0" noProof="0" dirty="0">
                <a:solidFill>
                  <a:srgbClr val="FFA040"/>
                </a:solidFill>
              </a:rPr>
              <a:t>~25 $</a:t>
            </a:r>
          </a:p>
        </p:txBody>
      </p:sp>
      <p:sp>
        <p:nvSpPr>
          <p:cNvPr id="42" name="Rectangle 41"/>
          <p:cNvSpPr/>
          <p:nvPr/>
        </p:nvSpPr>
        <p:spPr>
          <a:xfrm>
            <a:off x="365760" y="4059936"/>
            <a:ext cx="11475720" cy="566928"/>
          </a:xfrm>
          <a:prstGeom prst="rect">
            <a:avLst/>
          </a:prstGeom>
          <a:solidFill>
            <a:srgbClr val="06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3" name="Rectangle 42"/>
          <p:cNvSpPr/>
          <p:nvPr/>
        </p:nvSpPr>
        <p:spPr>
          <a:xfrm>
            <a:off x="365760" y="4059936"/>
            <a:ext cx="36576" cy="566928"/>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4" name="TextBox 43"/>
          <p:cNvSpPr txBox="1"/>
          <p:nvPr/>
        </p:nvSpPr>
        <p:spPr>
          <a:xfrm>
            <a:off x="530352" y="4178808"/>
            <a:ext cx="4023360" cy="329184"/>
          </a:xfrm>
          <a:prstGeom prst="rect">
            <a:avLst/>
          </a:prstGeom>
          <a:noFill/>
        </p:spPr>
        <p:txBody>
          <a:bodyPr wrap="square">
            <a:spAutoFit/>
          </a:bodyPr>
          <a:lstStyle/>
          <a:p>
            <a:pPr algn="l"/>
            <a:r>
              <a:rPr lang="fr-FR" sz="1500" b="0" i="0" noProof="0" dirty="0">
                <a:solidFill>
                  <a:srgbClr val="E8EFF8"/>
                </a:solidFill>
              </a:rPr>
              <a:t>Backend — Railway Starter</a:t>
            </a:r>
          </a:p>
        </p:txBody>
      </p:sp>
      <p:sp>
        <p:nvSpPr>
          <p:cNvPr id="45" name="TextBox 44"/>
          <p:cNvSpPr txBox="1"/>
          <p:nvPr/>
        </p:nvSpPr>
        <p:spPr>
          <a:xfrm>
            <a:off x="4663440" y="4178808"/>
            <a:ext cx="2560320" cy="329184"/>
          </a:xfrm>
          <a:prstGeom prst="rect">
            <a:avLst/>
          </a:prstGeom>
          <a:noFill/>
        </p:spPr>
        <p:txBody>
          <a:bodyPr wrap="square">
            <a:spAutoFit/>
          </a:bodyPr>
          <a:lstStyle/>
          <a:p>
            <a:pPr algn="l"/>
            <a:r>
              <a:rPr lang="fr-FR" sz="1500" b="0" i="0" noProof="0" dirty="0">
                <a:solidFill>
                  <a:schemeClr val="bg1"/>
                </a:solidFill>
              </a:rPr>
              <a:t>1 service backend</a:t>
            </a:r>
          </a:p>
        </p:txBody>
      </p:sp>
      <p:sp>
        <p:nvSpPr>
          <p:cNvPr id="46" name="TextBox 45"/>
          <p:cNvSpPr txBox="1"/>
          <p:nvPr/>
        </p:nvSpPr>
        <p:spPr>
          <a:xfrm>
            <a:off x="7406640" y="4178808"/>
            <a:ext cx="2011680" cy="329184"/>
          </a:xfrm>
          <a:prstGeom prst="rect">
            <a:avLst/>
          </a:prstGeom>
          <a:noFill/>
        </p:spPr>
        <p:txBody>
          <a:bodyPr wrap="square">
            <a:spAutoFit/>
          </a:bodyPr>
          <a:lstStyle/>
          <a:p>
            <a:pPr algn="ctr"/>
            <a:r>
              <a:rPr lang="fr-FR" sz="1500" b="1" i="0" noProof="0" dirty="0">
                <a:solidFill>
                  <a:srgbClr val="3CE88E"/>
                </a:solidFill>
              </a:rPr>
              <a:t>~5 $</a:t>
            </a:r>
          </a:p>
        </p:txBody>
      </p:sp>
      <p:sp>
        <p:nvSpPr>
          <p:cNvPr id="47" name="TextBox 46"/>
          <p:cNvSpPr txBox="1"/>
          <p:nvPr/>
        </p:nvSpPr>
        <p:spPr>
          <a:xfrm>
            <a:off x="9601200" y="4178808"/>
            <a:ext cx="2103120" cy="329184"/>
          </a:xfrm>
          <a:prstGeom prst="rect">
            <a:avLst/>
          </a:prstGeom>
          <a:noFill/>
        </p:spPr>
        <p:txBody>
          <a:bodyPr wrap="square">
            <a:spAutoFit/>
          </a:bodyPr>
          <a:lstStyle/>
          <a:p>
            <a:pPr algn="ctr"/>
            <a:r>
              <a:rPr lang="fr-FR" sz="1500" b="1" i="0" noProof="0" dirty="0">
                <a:solidFill>
                  <a:srgbClr val="FFA040"/>
                </a:solidFill>
              </a:rPr>
              <a:t>~30 $</a:t>
            </a:r>
          </a:p>
        </p:txBody>
      </p:sp>
      <p:sp>
        <p:nvSpPr>
          <p:cNvPr id="48" name="Rectangle 47"/>
          <p:cNvSpPr/>
          <p:nvPr/>
        </p:nvSpPr>
        <p:spPr>
          <a:xfrm>
            <a:off x="365760" y="4681728"/>
            <a:ext cx="11475720" cy="566928"/>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9" name="Rectangle 48"/>
          <p:cNvSpPr/>
          <p:nvPr/>
        </p:nvSpPr>
        <p:spPr>
          <a:xfrm>
            <a:off x="365760" y="4681728"/>
            <a:ext cx="36576" cy="566928"/>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0" name="TextBox 49"/>
          <p:cNvSpPr txBox="1"/>
          <p:nvPr/>
        </p:nvSpPr>
        <p:spPr>
          <a:xfrm>
            <a:off x="530352" y="4800600"/>
            <a:ext cx="4023360" cy="329184"/>
          </a:xfrm>
          <a:prstGeom prst="rect">
            <a:avLst/>
          </a:prstGeom>
          <a:noFill/>
        </p:spPr>
        <p:txBody>
          <a:bodyPr wrap="square">
            <a:spAutoFit/>
          </a:bodyPr>
          <a:lstStyle/>
          <a:p>
            <a:pPr algn="l"/>
            <a:r>
              <a:rPr lang="fr-FR" sz="1500" b="0" i="0" noProof="0" dirty="0">
                <a:solidFill>
                  <a:srgbClr val="E8EFF8"/>
                </a:solidFill>
              </a:rPr>
              <a:t>Frontend — </a:t>
            </a:r>
            <a:r>
              <a:rPr lang="fr-FR" sz="1500" b="0" i="0" noProof="0" dirty="0" err="1">
                <a:solidFill>
                  <a:srgbClr val="E8EFF8"/>
                </a:solidFill>
              </a:rPr>
              <a:t>Vercel</a:t>
            </a:r>
            <a:endParaRPr lang="fr-FR" sz="1500" b="0" i="0" noProof="0" dirty="0">
              <a:solidFill>
                <a:srgbClr val="E8EFF8"/>
              </a:solidFill>
            </a:endParaRPr>
          </a:p>
        </p:txBody>
      </p:sp>
      <p:sp>
        <p:nvSpPr>
          <p:cNvPr id="51" name="TextBox 50"/>
          <p:cNvSpPr txBox="1"/>
          <p:nvPr/>
        </p:nvSpPr>
        <p:spPr>
          <a:xfrm>
            <a:off x="4663440" y="4800600"/>
            <a:ext cx="2560320" cy="329184"/>
          </a:xfrm>
          <a:prstGeom prst="rect">
            <a:avLst/>
          </a:prstGeom>
          <a:noFill/>
        </p:spPr>
        <p:txBody>
          <a:bodyPr wrap="square">
            <a:spAutoFit/>
          </a:bodyPr>
          <a:lstStyle/>
          <a:p>
            <a:pPr algn="l"/>
            <a:r>
              <a:rPr lang="fr-FR" sz="1500" b="0" i="0" noProof="0" dirty="0">
                <a:solidFill>
                  <a:srgbClr val="A8BBCC"/>
                </a:solidFill>
              </a:rPr>
              <a:t>Hobby / Pro plan</a:t>
            </a:r>
          </a:p>
        </p:txBody>
      </p:sp>
      <p:sp>
        <p:nvSpPr>
          <p:cNvPr id="52" name="TextBox 51"/>
          <p:cNvSpPr txBox="1"/>
          <p:nvPr/>
        </p:nvSpPr>
        <p:spPr>
          <a:xfrm>
            <a:off x="7406640" y="4800600"/>
            <a:ext cx="2011680" cy="329184"/>
          </a:xfrm>
          <a:prstGeom prst="rect">
            <a:avLst/>
          </a:prstGeom>
          <a:noFill/>
        </p:spPr>
        <p:txBody>
          <a:bodyPr wrap="square">
            <a:spAutoFit/>
          </a:bodyPr>
          <a:lstStyle/>
          <a:p>
            <a:pPr algn="ctr"/>
            <a:r>
              <a:rPr lang="fr-FR" sz="1500" b="1" i="0" noProof="0" dirty="0">
                <a:solidFill>
                  <a:srgbClr val="3CE88E"/>
                </a:solidFill>
              </a:rPr>
              <a:t>0 $</a:t>
            </a:r>
          </a:p>
        </p:txBody>
      </p:sp>
      <p:sp>
        <p:nvSpPr>
          <p:cNvPr id="53" name="TextBox 52"/>
          <p:cNvSpPr txBox="1"/>
          <p:nvPr/>
        </p:nvSpPr>
        <p:spPr>
          <a:xfrm>
            <a:off x="9601200" y="4800600"/>
            <a:ext cx="2103120" cy="329184"/>
          </a:xfrm>
          <a:prstGeom prst="rect">
            <a:avLst/>
          </a:prstGeom>
          <a:noFill/>
        </p:spPr>
        <p:txBody>
          <a:bodyPr wrap="square">
            <a:spAutoFit/>
          </a:bodyPr>
          <a:lstStyle/>
          <a:p>
            <a:pPr algn="ctr"/>
            <a:r>
              <a:rPr lang="fr-FR" sz="1500" b="1" i="0" noProof="0" dirty="0">
                <a:solidFill>
                  <a:srgbClr val="FFA040"/>
                </a:solidFill>
              </a:rPr>
              <a:t>~20 $</a:t>
            </a:r>
          </a:p>
        </p:txBody>
      </p:sp>
      <p:sp>
        <p:nvSpPr>
          <p:cNvPr id="54" name="Rectangle 53"/>
          <p:cNvSpPr/>
          <p:nvPr/>
        </p:nvSpPr>
        <p:spPr>
          <a:xfrm>
            <a:off x="365760" y="5303520"/>
            <a:ext cx="11475720" cy="566928"/>
          </a:xfrm>
          <a:prstGeom prst="rect">
            <a:avLst/>
          </a:prstGeom>
          <a:solidFill>
            <a:srgbClr val="06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5" name="Rectangle 54"/>
          <p:cNvSpPr/>
          <p:nvPr/>
        </p:nvSpPr>
        <p:spPr>
          <a:xfrm>
            <a:off x="365760" y="5303520"/>
            <a:ext cx="36576" cy="566928"/>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6" name="TextBox 55"/>
          <p:cNvSpPr txBox="1"/>
          <p:nvPr/>
        </p:nvSpPr>
        <p:spPr>
          <a:xfrm>
            <a:off x="530352" y="5422392"/>
            <a:ext cx="4023360" cy="329184"/>
          </a:xfrm>
          <a:prstGeom prst="rect">
            <a:avLst/>
          </a:prstGeom>
          <a:noFill/>
        </p:spPr>
        <p:txBody>
          <a:bodyPr wrap="square">
            <a:spAutoFit/>
          </a:bodyPr>
          <a:lstStyle/>
          <a:p>
            <a:pPr algn="l"/>
            <a:r>
              <a:rPr lang="fr-FR" sz="1500" b="0" i="0" noProof="0" dirty="0">
                <a:solidFill>
                  <a:srgbClr val="E8EFF8"/>
                </a:solidFill>
              </a:rPr>
              <a:t>Monitoring — </a:t>
            </a:r>
            <a:r>
              <a:rPr lang="fr-FR" sz="1500" b="0" i="0" noProof="0" dirty="0" err="1">
                <a:solidFill>
                  <a:srgbClr val="E8EFF8"/>
                </a:solidFill>
              </a:rPr>
              <a:t>LangSmith</a:t>
            </a:r>
            <a:endParaRPr lang="fr-FR" sz="1500" b="0" i="0" noProof="0" dirty="0">
              <a:solidFill>
                <a:srgbClr val="E8EFF8"/>
              </a:solidFill>
            </a:endParaRPr>
          </a:p>
        </p:txBody>
      </p:sp>
      <p:sp>
        <p:nvSpPr>
          <p:cNvPr id="57" name="TextBox 56"/>
          <p:cNvSpPr txBox="1"/>
          <p:nvPr/>
        </p:nvSpPr>
        <p:spPr>
          <a:xfrm>
            <a:off x="4663440" y="5422392"/>
            <a:ext cx="2560320" cy="329184"/>
          </a:xfrm>
          <a:prstGeom prst="rect">
            <a:avLst/>
          </a:prstGeom>
          <a:noFill/>
        </p:spPr>
        <p:txBody>
          <a:bodyPr wrap="square">
            <a:spAutoFit/>
          </a:bodyPr>
          <a:lstStyle/>
          <a:p>
            <a:pPr algn="l"/>
            <a:r>
              <a:rPr lang="fr-FR" sz="1500" b="0" i="0" noProof="0" dirty="0">
                <a:solidFill>
                  <a:schemeClr val="bg1"/>
                </a:solidFill>
              </a:rPr>
              <a:t>Traces LLM incluses</a:t>
            </a:r>
          </a:p>
        </p:txBody>
      </p:sp>
      <p:sp>
        <p:nvSpPr>
          <p:cNvPr id="58" name="TextBox 57"/>
          <p:cNvSpPr txBox="1"/>
          <p:nvPr/>
        </p:nvSpPr>
        <p:spPr>
          <a:xfrm>
            <a:off x="7406640" y="5422392"/>
            <a:ext cx="2011680" cy="329184"/>
          </a:xfrm>
          <a:prstGeom prst="rect">
            <a:avLst/>
          </a:prstGeom>
          <a:noFill/>
        </p:spPr>
        <p:txBody>
          <a:bodyPr wrap="square">
            <a:spAutoFit/>
          </a:bodyPr>
          <a:lstStyle/>
          <a:p>
            <a:pPr algn="ctr"/>
            <a:r>
              <a:rPr lang="fr-FR" sz="1500" b="1" i="0" noProof="0" dirty="0">
                <a:solidFill>
                  <a:srgbClr val="3CE88E"/>
                </a:solidFill>
              </a:rPr>
              <a:t>0 $</a:t>
            </a:r>
          </a:p>
        </p:txBody>
      </p:sp>
      <p:sp>
        <p:nvSpPr>
          <p:cNvPr id="59" name="TextBox 58"/>
          <p:cNvSpPr txBox="1"/>
          <p:nvPr/>
        </p:nvSpPr>
        <p:spPr>
          <a:xfrm>
            <a:off x="9601200" y="5422392"/>
            <a:ext cx="2103120" cy="329184"/>
          </a:xfrm>
          <a:prstGeom prst="rect">
            <a:avLst/>
          </a:prstGeom>
          <a:noFill/>
        </p:spPr>
        <p:txBody>
          <a:bodyPr wrap="square">
            <a:spAutoFit/>
          </a:bodyPr>
          <a:lstStyle/>
          <a:p>
            <a:pPr algn="ctr"/>
            <a:r>
              <a:rPr lang="fr-FR" sz="1500" b="1" i="0" noProof="0" dirty="0">
                <a:solidFill>
                  <a:srgbClr val="FFA040"/>
                </a:solidFill>
              </a:rPr>
              <a:t>~39 $</a:t>
            </a:r>
          </a:p>
        </p:txBody>
      </p:sp>
      <p:sp>
        <p:nvSpPr>
          <p:cNvPr id="60" name="Rectangle 59"/>
          <p:cNvSpPr/>
          <p:nvPr/>
        </p:nvSpPr>
        <p:spPr>
          <a:xfrm>
            <a:off x="365760" y="5943600"/>
            <a:ext cx="11475720" cy="658368"/>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61" name="Rectangle 60"/>
          <p:cNvSpPr/>
          <p:nvPr/>
        </p:nvSpPr>
        <p:spPr>
          <a:xfrm>
            <a:off x="365760" y="5943600"/>
            <a:ext cx="11475720" cy="36576"/>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62" name="TextBox 61"/>
          <p:cNvSpPr txBox="1"/>
          <p:nvPr/>
        </p:nvSpPr>
        <p:spPr>
          <a:xfrm>
            <a:off x="530352" y="6053328"/>
            <a:ext cx="6400800" cy="400110"/>
          </a:xfrm>
          <a:prstGeom prst="rect">
            <a:avLst/>
          </a:prstGeom>
          <a:noFill/>
        </p:spPr>
        <p:txBody>
          <a:bodyPr wrap="square">
            <a:spAutoFit/>
          </a:bodyPr>
          <a:lstStyle/>
          <a:p>
            <a:pPr algn="l"/>
            <a:r>
              <a:rPr lang="fr-FR" sz="2000" b="1" i="0" noProof="0" dirty="0">
                <a:solidFill>
                  <a:srgbClr val="FFFFFF"/>
                </a:solidFill>
              </a:rPr>
              <a:t>TOTAL MENSUEL</a:t>
            </a:r>
          </a:p>
        </p:txBody>
      </p:sp>
      <p:sp>
        <p:nvSpPr>
          <p:cNvPr id="63" name="TextBox 62"/>
          <p:cNvSpPr txBox="1"/>
          <p:nvPr/>
        </p:nvSpPr>
        <p:spPr>
          <a:xfrm>
            <a:off x="7406640" y="6053328"/>
            <a:ext cx="2011680" cy="457200"/>
          </a:xfrm>
          <a:prstGeom prst="rect">
            <a:avLst/>
          </a:prstGeom>
          <a:noFill/>
        </p:spPr>
        <p:txBody>
          <a:bodyPr wrap="square">
            <a:spAutoFit/>
          </a:bodyPr>
          <a:lstStyle/>
          <a:p>
            <a:pPr algn="ctr"/>
            <a:r>
              <a:rPr lang="fr-FR" sz="1600" b="1" i="0" noProof="0" dirty="0">
                <a:solidFill>
                  <a:srgbClr val="3CE88E"/>
                </a:solidFill>
              </a:rPr>
              <a:t>~71 $ / mois</a:t>
            </a:r>
          </a:p>
        </p:txBody>
      </p:sp>
      <p:sp>
        <p:nvSpPr>
          <p:cNvPr id="64" name="TextBox 63"/>
          <p:cNvSpPr txBox="1"/>
          <p:nvPr/>
        </p:nvSpPr>
        <p:spPr>
          <a:xfrm>
            <a:off x="9601200" y="6053328"/>
            <a:ext cx="2103120" cy="457200"/>
          </a:xfrm>
          <a:prstGeom prst="rect">
            <a:avLst/>
          </a:prstGeom>
          <a:noFill/>
        </p:spPr>
        <p:txBody>
          <a:bodyPr wrap="square">
            <a:spAutoFit/>
          </a:bodyPr>
          <a:lstStyle/>
          <a:p>
            <a:pPr algn="ctr"/>
            <a:r>
              <a:rPr lang="fr-FR" sz="1600" b="1" i="0" noProof="0" dirty="0">
                <a:solidFill>
                  <a:srgbClr val="FFA040"/>
                </a:solidFill>
              </a:rPr>
              <a:t>~515 $ / mois</a:t>
            </a:r>
          </a:p>
        </p:txBody>
      </p:sp>
    </p:spTree>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EC71DA62-5B37-155E-1EEE-AE136659AFA1}"/>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5" name="TextBox 4"/>
          <p:cNvSpPr txBox="1"/>
          <p:nvPr/>
        </p:nvSpPr>
        <p:spPr>
          <a:xfrm>
            <a:off x="347472" y="160794"/>
            <a:ext cx="9326880" cy="707886"/>
          </a:xfrm>
          <a:prstGeom prst="rect">
            <a:avLst/>
          </a:prstGeom>
          <a:noFill/>
        </p:spPr>
        <p:txBody>
          <a:bodyPr wrap="square">
            <a:spAutoFit/>
          </a:bodyPr>
          <a:lstStyle/>
          <a:p>
            <a:pPr algn="l"/>
            <a:r>
              <a:rPr lang="fr-FR" sz="4000" b="1" i="0" noProof="0" dirty="0">
                <a:solidFill>
                  <a:srgbClr val="FFFFFF"/>
                </a:solidFill>
              </a:rPr>
              <a:t>Verdict de l’analyse de faisabilité du projet</a:t>
            </a:r>
          </a:p>
        </p:txBody>
      </p:sp>
      <p:sp>
        <p:nvSpPr>
          <p:cNvPr id="12" name="Rectangle 11"/>
          <p:cNvSpPr/>
          <p:nvPr/>
        </p:nvSpPr>
        <p:spPr>
          <a:xfrm>
            <a:off x="2064774" y="1115568"/>
            <a:ext cx="8030005" cy="1078992"/>
          </a:xfrm>
          <a:prstGeom prst="rect">
            <a:avLst/>
          </a:prstGeom>
          <a:solidFill>
            <a:srgbClr val="085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3" name="Rectangle 12"/>
          <p:cNvSpPr/>
          <p:nvPr/>
        </p:nvSpPr>
        <p:spPr>
          <a:xfrm>
            <a:off x="2064774" y="1106425"/>
            <a:ext cx="8030005" cy="45719"/>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4" name="TextBox 13"/>
          <p:cNvSpPr txBox="1"/>
          <p:nvPr/>
        </p:nvSpPr>
        <p:spPr>
          <a:xfrm>
            <a:off x="1645920" y="1188720"/>
            <a:ext cx="8869680" cy="553998"/>
          </a:xfrm>
          <a:prstGeom prst="rect">
            <a:avLst/>
          </a:prstGeom>
          <a:noFill/>
        </p:spPr>
        <p:txBody>
          <a:bodyPr wrap="square">
            <a:spAutoFit/>
          </a:bodyPr>
          <a:lstStyle/>
          <a:p>
            <a:pPr algn="ctr"/>
            <a:r>
              <a:rPr lang="fr-FR" sz="3000" b="1" i="1" noProof="0" dirty="0">
                <a:solidFill>
                  <a:srgbClr val="FFFFFF"/>
                </a:solidFill>
              </a:rPr>
              <a:t>Le projet est faisable et viable</a:t>
            </a:r>
          </a:p>
        </p:txBody>
      </p:sp>
      <p:sp>
        <p:nvSpPr>
          <p:cNvPr id="15" name="TextBox 14"/>
          <p:cNvSpPr txBox="1"/>
          <p:nvPr/>
        </p:nvSpPr>
        <p:spPr>
          <a:xfrm>
            <a:off x="1645920" y="1773936"/>
            <a:ext cx="8869680" cy="323165"/>
          </a:xfrm>
          <a:prstGeom prst="rect">
            <a:avLst/>
          </a:prstGeom>
          <a:noFill/>
        </p:spPr>
        <p:txBody>
          <a:bodyPr wrap="square">
            <a:spAutoFit/>
          </a:bodyPr>
          <a:lstStyle/>
          <a:p>
            <a:pPr algn="ctr"/>
            <a:r>
              <a:rPr lang="fr-FR" sz="1500" b="0" i="0" noProof="0" dirty="0">
                <a:solidFill>
                  <a:schemeClr val="bg1"/>
                </a:solidFill>
              </a:rPr>
              <a:t>Techniquement mature  —  Marché accessible  —  Budget raisonnable  —  Valeur ajoutée réelle</a:t>
            </a:r>
          </a:p>
        </p:txBody>
      </p:sp>
      <p:sp>
        <p:nvSpPr>
          <p:cNvPr id="16" name="Rectangle 15"/>
          <p:cNvSpPr/>
          <p:nvPr/>
        </p:nvSpPr>
        <p:spPr>
          <a:xfrm>
            <a:off x="365760" y="2395728"/>
            <a:ext cx="5669280" cy="960120"/>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7" name="Rectangle 16"/>
          <p:cNvSpPr/>
          <p:nvPr/>
        </p:nvSpPr>
        <p:spPr>
          <a:xfrm>
            <a:off x="365760" y="2395728"/>
            <a:ext cx="45720" cy="960120"/>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8" name="TextBox 17"/>
          <p:cNvSpPr txBox="1"/>
          <p:nvPr/>
        </p:nvSpPr>
        <p:spPr>
          <a:xfrm>
            <a:off x="548640" y="2478024"/>
            <a:ext cx="2743200" cy="400110"/>
          </a:xfrm>
          <a:prstGeom prst="rect">
            <a:avLst/>
          </a:prstGeom>
          <a:noFill/>
        </p:spPr>
        <p:txBody>
          <a:bodyPr wrap="square">
            <a:spAutoFit/>
          </a:bodyPr>
          <a:lstStyle/>
          <a:p>
            <a:pPr algn="l"/>
            <a:r>
              <a:rPr lang="fr-FR" sz="2000" b="1" i="0" noProof="0" dirty="0">
                <a:solidFill>
                  <a:srgbClr val="FFFFFF"/>
                </a:solidFill>
              </a:rPr>
              <a:t>Technologie</a:t>
            </a:r>
          </a:p>
        </p:txBody>
      </p:sp>
      <p:sp>
        <p:nvSpPr>
          <p:cNvPr id="19" name="Rectangle 18"/>
          <p:cNvSpPr/>
          <p:nvPr/>
        </p:nvSpPr>
        <p:spPr>
          <a:xfrm>
            <a:off x="4709652" y="2514600"/>
            <a:ext cx="1188228" cy="301752"/>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0" name="TextBox 19"/>
          <p:cNvSpPr txBox="1"/>
          <p:nvPr/>
        </p:nvSpPr>
        <p:spPr>
          <a:xfrm>
            <a:off x="4709652" y="2505456"/>
            <a:ext cx="1188228" cy="323165"/>
          </a:xfrm>
          <a:prstGeom prst="rect">
            <a:avLst/>
          </a:prstGeom>
          <a:solidFill>
            <a:srgbClr val="00B050"/>
          </a:solidFill>
        </p:spPr>
        <p:txBody>
          <a:bodyPr wrap="square">
            <a:spAutoFit/>
          </a:bodyPr>
          <a:lstStyle/>
          <a:p>
            <a:pPr algn="ctr"/>
            <a:r>
              <a:rPr lang="fr-FR" sz="1500" b="1" i="0" noProof="0" dirty="0">
                <a:solidFill>
                  <a:srgbClr val="FFFFFF"/>
                </a:solidFill>
              </a:rPr>
              <a:t>Favorable</a:t>
            </a:r>
          </a:p>
        </p:txBody>
      </p:sp>
      <p:sp>
        <p:nvSpPr>
          <p:cNvPr id="21" name="TextBox 20"/>
          <p:cNvSpPr txBox="1"/>
          <p:nvPr/>
        </p:nvSpPr>
        <p:spPr>
          <a:xfrm>
            <a:off x="548640" y="2916935"/>
            <a:ext cx="5394960" cy="323165"/>
          </a:xfrm>
          <a:prstGeom prst="rect">
            <a:avLst/>
          </a:prstGeom>
          <a:noFill/>
        </p:spPr>
        <p:txBody>
          <a:bodyPr wrap="square">
            <a:spAutoFit/>
          </a:bodyPr>
          <a:lstStyle/>
          <a:p>
            <a:pPr algn="l"/>
            <a:r>
              <a:rPr lang="fr-FR" sz="1500" b="0" i="1" noProof="0" dirty="0" err="1">
                <a:solidFill>
                  <a:srgbClr val="E8EFF8"/>
                </a:solidFill>
              </a:rPr>
              <a:t>LLMs</a:t>
            </a:r>
            <a:r>
              <a:rPr lang="fr-FR" sz="1500" b="0" i="1" noProof="0" dirty="0">
                <a:solidFill>
                  <a:srgbClr val="E8EFF8"/>
                </a:solidFill>
              </a:rPr>
              <a:t> matures, RAG </a:t>
            </a:r>
            <a:r>
              <a:rPr lang="fr-FR" sz="1500" b="0" i="1" noProof="0" dirty="0" err="1">
                <a:solidFill>
                  <a:srgbClr val="E8EFF8"/>
                </a:solidFill>
              </a:rPr>
              <a:t>eprouve</a:t>
            </a:r>
            <a:r>
              <a:rPr lang="fr-FR" sz="1500" b="0" i="1" noProof="0" dirty="0">
                <a:solidFill>
                  <a:srgbClr val="E8EFF8"/>
                </a:solidFill>
              </a:rPr>
              <a:t>, génération image via API</a:t>
            </a:r>
          </a:p>
        </p:txBody>
      </p:sp>
      <p:sp>
        <p:nvSpPr>
          <p:cNvPr id="22" name="Rectangle 21"/>
          <p:cNvSpPr/>
          <p:nvPr/>
        </p:nvSpPr>
        <p:spPr>
          <a:xfrm>
            <a:off x="6291072" y="2395728"/>
            <a:ext cx="5669280" cy="960120"/>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3" name="Rectangle 22"/>
          <p:cNvSpPr/>
          <p:nvPr/>
        </p:nvSpPr>
        <p:spPr>
          <a:xfrm>
            <a:off x="6291072" y="2395728"/>
            <a:ext cx="45720" cy="960120"/>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4" name="TextBox 23"/>
          <p:cNvSpPr txBox="1"/>
          <p:nvPr/>
        </p:nvSpPr>
        <p:spPr>
          <a:xfrm>
            <a:off x="6473952" y="2478024"/>
            <a:ext cx="2743200" cy="400110"/>
          </a:xfrm>
          <a:prstGeom prst="rect">
            <a:avLst/>
          </a:prstGeom>
          <a:noFill/>
        </p:spPr>
        <p:txBody>
          <a:bodyPr wrap="square">
            <a:spAutoFit/>
          </a:bodyPr>
          <a:lstStyle/>
          <a:p>
            <a:pPr algn="l"/>
            <a:r>
              <a:rPr lang="fr-FR" sz="2000" b="1" i="0" noProof="0" dirty="0">
                <a:solidFill>
                  <a:srgbClr val="FFFFFF"/>
                </a:solidFill>
              </a:rPr>
              <a:t>Marche</a:t>
            </a:r>
          </a:p>
        </p:txBody>
      </p:sp>
      <p:sp>
        <p:nvSpPr>
          <p:cNvPr id="26" name="TextBox 25"/>
          <p:cNvSpPr txBox="1"/>
          <p:nvPr/>
        </p:nvSpPr>
        <p:spPr>
          <a:xfrm>
            <a:off x="10503802" y="2505456"/>
            <a:ext cx="1319389" cy="323165"/>
          </a:xfrm>
          <a:prstGeom prst="rect">
            <a:avLst/>
          </a:prstGeom>
          <a:solidFill>
            <a:srgbClr val="00B050"/>
          </a:solidFill>
        </p:spPr>
        <p:txBody>
          <a:bodyPr wrap="square">
            <a:spAutoFit/>
          </a:bodyPr>
          <a:lstStyle/>
          <a:p>
            <a:pPr algn="ctr"/>
            <a:r>
              <a:rPr lang="fr-FR" sz="1500" b="1" i="0" noProof="0" dirty="0">
                <a:solidFill>
                  <a:srgbClr val="FFFFFF"/>
                </a:solidFill>
              </a:rPr>
              <a:t>Favorable</a:t>
            </a:r>
          </a:p>
        </p:txBody>
      </p:sp>
      <p:sp>
        <p:nvSpPr>
          <p:cNvPr id="27" name="TextBox 26"/>
          <p:cNvSpPr txBox="1"/>
          <p:nvPr/>
        </p:nvSpPr>
        <p:spPr>
          <a:xfrm>
            <a:off x="6473952" y="2916935"/>
            <a:ext cx="5394960" cy="323165"/>
          </a:xfrm>
          <a:prstGeom prst="rect">
            <a:avLst/>
          </a:prstGeom>
          <a:noFill/>
        </p:spPr>
        <p:txBody>
          <a:bodyPr wrap="square">
            <a:spAutoFit/>
          </a:bodyPr>
          <a:lstStyle/>
          <a:p>
            <a:pPr algn="l"/>
            <a:r>
              <a:rPr lang="fr-FR" sz="1500" b="0" i="1" noProof="0" dirty="0">
                <a:solidFill>
                  <a:srgbClr val="E8EFF8"/>
                </a:solidFill>
              </a:rPr>
              <a:t>700 K licencies FFE, niche peu concurrentielle</a:t>
            </a:r>
          </a:p>
        </p:txBody>
      </p:sp>
      <p:sp>
        <p:nvSpPr>
          <p:cNvPr id="28" name="Rectangle 27"/>
          <p:cNvSpPr/>
          <p:nvPr/>
        </p:nvSpPr>
        <p:spPr>
          <a:xfrm>
            <a:off x="365760" y="3474720"/>
            <a:ext cx="5669280" cy="960120"/>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9" name="Rectangle 28"/>
          <p:cNvSpPr/>
          <p:nvPr/>
        </p:nvSpPr>
        <p:spPr>
          <a:xfrm>
            <a:off x="365760" y="3474720"/>
            <a:ext cx="45720" cy="960120"/>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0" name="TextBox 29"/>
          <p:cNvSpPr txBox="1"/>
          <p:nvPr/>
        </p:nvSpPr>
        <p:spPr>
          <a:xfrm>
            <a:off x="548640" y="3557016"/>
            <a:ext cx="2743200" cy="400110"/>
          </a:xfrm>
          <a:prstGeom prst="rect">
            <a:avLst/>
          </a:prstGeom>
          <a:noFill/>
        </p:spPr>
        <p:txBody>
          <a:bodyPr wrap="square">
            <a:spAutoFit/>
          </a:bodyPr>
          <a:lstStyle/>
          <a:p>
            <a:pPr algn="l"/>
            <a:r>
              <a:rPr lang="fr-FR" sz="2000" b="1" i="0" noProof="0" dirty="0">
                <a:solidFill>
                  <a:srgbClr val="FFFFFF"/>
                </a:solidFill>
              </a:rPr>
              <a:t>Budget</a:t>
            </a:r>
          </a:p>
        </p:txBody>
      </p:sp>
      <p:sp>
        <p:nvSpPr>
          <p:cNvPr id="32" name="TextBox 31"/>
          <p:cNvSpPr txBox="1"/>
          <p:nvPr/>
        </p:nvSpPr>
        <p:spPr>
          <a:xfrm>
            <a:off x="4709652" y="3584448"/>
            <a:ext cx="1188228" cy="323165"/>
          </a:xfrm>
          <a:prstGeom prst="rect">
            <a:avLst/>
          </a:prstGeom>
          <a:solidFill>
            <a:srgbClr val="00B050"/>
          </a:solidFill>
        </p:spPr>
        <p:txBody>
          <a:bodyPr wrap="square">
            <a:spAutoFit/>
          </a:bodyPr>
          <a:lstStyle/>
          <a:p>
            <a:pPr algn="ctr"/>
            <a:r>
              <a:rPr lang="fr-FR" sz="1500" b="1" i="0" noProof="0" dirty="0">
                <a:solidFill>
                  <a:srgbClr val="FFFFFF"/>
                </a:solidFill>
              </a:rPr>
              <a:t>Favorable</a:t>
            </a:r>
          </a:p>
        </p:txBody>
      </p:sp>
      <p:sp>
        <p:nvSpPr>
          <p:cNvPr id="33" name="TextBox 32"/>
          <p:cNvSpPr txBox="1"/>
          <p:nvPr/>
        </p:nvSpPr>
        <p:spPr>
          <a:xfrm>
            <a:off x="548640" y="3995927"/>
            <a:ext cx="5394960" cy="323165"/>
          </a:xfrm>
          <a:prstGeom prst="rect">
            <a:avLst/>
          </a:prstGeom>
          <a:noFill/>
        </p:spPr>
        <p:txBody>
          <a:bodyPr wrap="square">
            <a:spAutoFit/>
          </a:bodyPr>
          <a:lstStyle/>
          <a:p>
            <a:pPr algn="l"/>
            <a:r>
              <a:rPr lang="fr-FR" sz="1000" b="0" i="0" noProof="0" dirty="0">
                <a:solidFill>
                  <a:srgbClr val="E8EFF8"/>
                </a:solidFill>
              </a:rPr>
              <a:t>~</a:t>
            </a:r>
            <a:r>
              <a:rPr lang="fr-FR" sz="1500" b="0" i="1" noProof="0" dirty="0">
                <a:solidFill>
                  <a:srgbClr val="E8EFF8"/>
                </a:solidFill>
              </a:rPr>
              <a:t>70-515 $ / mois, ROI possible des 50 abonnes a 15 EUR</a:t>
            </a:r>
          </a:p>
        </p:txBody>
      </p:sp>
      <p:sp>
        <p:nvSpPr>
          <p:cNvPr id="34" name="Rectangle 33"/>
          <p:cNvSpPr/>
          <p:nvPr/>
        </p:nvSpPr>
        <p:spPr>
          <a:xfrm>
            <a:off x="6291072" y="3474720"/>
            <a:ext cx="5669280" cy="960120"/>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5" name="Rectangle 34"/>
          <p:cNvSpPr/>
          <p:nvPr/>
        </p:nvSpPr>
        <p:spPr>
          <a:xfrm>
            <a:off x="6291072" y="3474720"/>
            <a:ext cx="45720" cy="960120"/>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6" name="TextBox 35"/>
          <p:cNvSpPr txBox="1"/>
          <p:nvPr/>
        </p:nvSpPr>
        <p:spPr>
          <a:xfrm>
            <a:off x="6473952" y="3557016"/>
            <a:ext cx="2743200" cy="400110"/>
          </a:xfrm>
          <a:prstGeom prst="rect">
            <a:avLst/>
          </a:prstGeom>
          <a:noFill/>
        </p:spPr>
        <p:txBody>
          <a:bodyPr wrap="square">
            <a:spAutoFit/>
          </a:bodyPr>
          <a:lstStyle/>
          <a:p>
            <a:pPr algn="l"/>
            <a:r>
              <a:rPr lang="fr-FR" sz="2000" b="1" i="0" noProof="0" dirty="0">
                <a:solidFill>
                  <a:srgbClr val="FFFFFF"/>
                </a:solidFill>
              </a:rPr>
              <a:t>Données</a:t>
            </a:r>
          </a:p>
        </p:txBody>
      </p:sp>
      <p:sp>
        <p:nvSpPr>
          <p:cNvPr id="38" name="TextBox 37"/>
          <p:cNvSpPr txBox="1"/>
          <p:nvPr/>
        </p:nvSpPr>
        <p:spPr>
          <a:xfrm>
            <a:off x="10515600" y="3584448"/>
            <a:ext cx="1307592" cy="323165"/>
          </a:xfrm>
          <a:prstGeom prst="rect">
            <a:avLst/>
          </a:prstGeom>
          <a:solidFill>
            <a:srgbClr val="00B050"/>
          </a:solidFill>
        </p:spPr>
        <p:txBody>
          <a:bodyPr wrap="square">
            <a:spAutoFit/>
          </a:bodyPr>
          <a:lstStyle/>
          <a:p>
            <a:pPr algn="ctr"/>
            <a:r>
              <a:rPr lang="fr-FR" sz="1500" b="1" i="0" noProof="0" dirty="0">
                <a:solidFill>
                  <a:srgbClr val="FFFFFF"/>
                </a:solidFill>
              </a:rPr>
              <a:t>Favorable</a:t>
            </a:r>
          </a:p>
        </p:txBody>
      </p:sp>
      <p:sp>
        <p:nvSpPr>
          <p:cNvPr id="39" name="TextBox 38"/>
          <p:cNvSpPr txBox="1"/>
          <p:nvPr/>
        </p:nvSpPr>
        <p:spPr>
          <a:xfrm>
            <a:off x="6473952" y="3995927"/>
            <a:ext cx="5394960" cy="323165"/>
          </a:xfrm>
          <a:prstGeom prst="rect">
            <a:avLst/>
          </a:prstGeom>
          <a:noFill/>
        </p:spPr>
        <p:txBody>
          <a:bodyPr wrap="square">
            <a:spAutoFit/>
          </a:bodyPr>
          <a:lstStyle/>
          <a:p>
            <a:pPr algn="l"/>
            <a:r>
              <a:rPr lang="fr-FR" sz="1500" b="0" i="1" noProof="0" dirty="0">
                <a:solidFill>
                  <a:srgbClr val="E8EFF8"/>
                </a:solidFill>
              </a:rPr>
              <a:t>Base </a:t>
            </a:r>
            <a:r>
              <a:rPr lang="fr-FR" sz="1500" b="0" i="1" noProof="0" dirty="0" err="1">
                <a:solidFill>
                  <a:srgbClr val="E8EFF8"/>
                </a:solidFill>
              </a:rPr>
              <a:t>generatable</a:t>
            </a:r>
            <a:r>
              <a:rPr lang="fr-FR" sz="1500" b="0" i="1" noProof="0" dirty="0">
                <a:solidFill>
                  <a:srgbClr val="E8EFF8"/>
                </a:solidFill>
              </a:rPr>
              <a:t> par IA + curation initiale 100 exercices</a:t>
            </a:r>
          </a:p>
        </p:txBody>
      </p:sp>
      <p:sp>
        <p:nvSpPr>
          <p:cNvPr id="40" name="Rectangle 39"/>
          <p:cNvSpPr/>
          <p:nvPr/>
        </p:nvSpPr>
        <p:spPr>
          <a:xfrm>
            <a:off x="365760" y="4553712"/>
            <a:ext cx="5669280" cy="960120"/>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1" name="Rectangle 40"/>
          <p:cNvSpPr/>
          <p:nvPr/>
        </p:nvSpPr>
        <p:spPr>
          <a:xfrm>
            <a:off x="365760" y="4553712"/>
            <a:ext cx="45720" cy="960120"/>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2" name="TextBox 41"/>
          <p:cNvSpPr txBox="1"/>
          <p:nvPr/>
        </p:nvSpPr>
        <p:spPr>
          <a:xfrm>
            <a:off x="548640" y="4636008"/>
            <a:ext cx="2743200" cy="400110"/>
          </a:xfrm>
          <a:prstGeom prst="rect">
            <a:avLst/>
          </a:prstGeom>
          <a:noFill/>
        </p:spPr>
        <p:txBody>
          <a:bodyPr wrap="square">
            <a:spAutoFit/>
          </a:bodyPr>
          <a:lstStyle/>
          <a:p>
            <a:pPr algn="l"/>
            <a:r>
              <a:rPr lang="fr-FR" sz="2000" b="1" i="0" noProof="0" dirty="0">
                <a:solidFill>
                  <a:srgbClr val="FFFFFF"/>
                </a:solidFill>
              </a:rPr>
              <a:t>Juridique</a:t>
            </a:r>
          </a:p>
        </p:txBody>
      </p:sp>
      <p:sp>
        <p:nvSpPr>
          <p:cNvPr id="44" name="TextBox 43"/>
          <p:cNvSpPr txBox="1"/>
          <p:nvPr/>
        </p:nvSpPr>
        <p:spPr>
          <a:xfrm>
            <a:off x="4709652" y="4663440"/>
            <a:ext cx="1188228" cy="323165"/>
          </a:xfrm>
          <a:prstGeom prst="rect">
            <a:avLst/>
          </a:prstGeom>
          <a:solidFill>
            <a:schemeClr val="accent6">
              <a:lumMod val="75000"/>
            </a:schemeClr>
          </a:solidFill>
        </p:spPr>
        <p:txBody>
          <a:bodyPr wrap="square">
            <a:spAutoFit/>
          </a:bodyPr>
          <a:lstStyle/>
          <a:p>
            <a:pPr algn="ctr"/>
            <a:r>
              <a:rPr lang="fr-FR" sz="1500" b="1" i="0" noProof="0" dirty="0">
                <a:solidFill>
                  <a:srgbClr val="FFFFFF"/>
                </a:solidFill>
              </a:rPr>
              <a:t>Attention</a:t>
            </a:r>
          </a:p>
        </p:txBody>
      </p:sp>
      <p:sp>
        <p:nvSpPr>
          <p:cNvPr id="45" name="TextBox 44"/>
          <p:cNvSpPr txBox="1"/>
          <p:nvPr/>
        </p:nvSpPr>
        <p:spPr>
          <a:xfrm>
            <a:off x="548640" y="5074919"/>
            <a:ext cx="5394960" cy="323165"/>
          </a:xfrm>
          <a:prstGeom prst="rect">
            <a:avLst/>
          </a:prstGeom>
          <a:noFill/>
        </p:spPr>
        <p:txBody>
          <a:bodyPr wrap="square">
            <a:spAutoFit/>
          </a:bodyPr>
          <a:lstStyle/>
          <a:p>
            <a:pPr algn="l"/>
            <a:r>
              <a:rPr lang="fr-FR" sz="1500" b="0" i="1" noProof="0" dirty="0">
                <a:solidFill>
                  <a:srgbClr val="E8EFF8"/>
                </a:solidFill>
              </a:rPr>
              <a:t>Droits images risques — génération IA = solution principale</a:t>
            </a:r>
          </a:p>
        </p:txBody>
      </p:sp>
      <p:sp>
        <p:nvSpPr>
          <p:cNvPr id="46" name="Rectangle 45"/>
          <p:cNvSpPr/>
          <p:nvPr/>
        </p:nvSpPr>
        <p:spPr>
          <a:xfrm>
            <a:off x="6291072" y="4553712"/>
            <a:ext cx="5669280" cy="960120"/>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7" name="Rectangle 46"/>
          <p:cNvSpPr/>
          <p:nvPr/>
        </p:nvSpPr>
        <p:spPr>
          <a:xfrm>
            <a:off x="6291072" y="4553712"/>
            <a:ext cx="45720" cy="960120"/>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8" name="TextBox 47"/>
          <p:cNvSpPr txBox="1"/>
          <p:nvPr/>
        </p:nvSpPr>
        <p:spPr>
          <a:xfrm>
            <a:off x="6473952" y="4636008"/>
            <a:ext cx="2743200" cy="400110"/>
          </a:xfrm>
          <a:prstGeom prst="rect">
            <a:avLst/>
          </a:prstGeom>
          <a:noFill/>
        </p:spPr>
        <p:txBody>
          <a:bodyPr wrap="square">
            <a:spAutoFit/>
          </a:bodyPr>
          <a:lstStyle/>
          <a:p>
            <a:pPr algn="l"/>
            <a:r>
              <a:rPr lang="fr-FR" sz="2000" b="1" i="0" noProof="0" dirty="0">
                <a:solidFill>
                  <a:srgbClr val="FFFFFF"/>
                </a:solidFill>
              </a:rPr>
              <a:t>Qualité</a:t>
            </a:r>
          </a:p>
        </p:txBody>
      </p:sp>
      <p:sp>
        <p:nvSpPr>
          <p:cNvPr id="50" name="TextBox 49"/>
          <p:cNvSpPr txBox="1"/>
          <p:nvPr/>
        </p:nvSpPr>
        <p:spPr>
          <a:xfrm>
            <a:off x="10515600" y="4663440"/>
            <a:ext cx="1307592" cy="323165"/>
          </a:xfrm>
          <a:prstGeom prst="rect">
            <a:avLst/>
          </a:prstGeom>
          <a:solidFill>
            <a:schemeClr val="accent6">
              <a:lumMod val="75000"/>
            </a:schemeClr>
          </a:solidFill>
        </p:spPr>
        <p:txBody>
          <a:bodyPr wrap="square">
            <a:spAutoFit/>
          </a:bodyPr>
          <a:lstStyle/>
          <a:p>
            <a:pPr algn="ctr"/>
            <a:r>
              <a:rPr lang="fr-FR" sz="1500" b="1" i="0" noProof="0" dirty="0">
                <a:solidFill>
                  <a:srgbClr val="FFFFFF"/>
                </a:solidFill>
              </a:rPr>
              <a:t>Attention</a:t>
            </a:r>
          </a:p>
        </p:txBody>
      </p:sp>
      <p:sp>
        <p:nvSpPr>
          <p:cNvPr id="51" name="TextBox 50"/>
          <p:cNvSpPr txBox="1"/>
          <p:nvPr/>
        </p:nvSpPr>
        <p:spPr>
          <a:xfrm>
            <a:off x="6473952" y="5074919"/>
            <a:ext cx="5394960" cy="323165"/>
          </a:xfrm>
          <a:prstGeom prst="rect">
            <a:avLst/>
          </a:prstGeom>
          <a:noFill/>
        </p:spPr>
        <p:txBody>
          <a:bodyPr wrap="square">
            <a:spAutoFit/>
          </a:bodyPr>
          <a:lstStyle/>
          <a:p>
            <a:pPr algn="l"/>
            <a:r>
              <a:rPr lang="fr-FR" sz="1500" b="0" i="1" noProof="0" dirty="0">
                <a:solidFill>
                  <a:srgbClr val="E8EFF8"/>
                </a:solidFill>
              </a:rPr>
              <a:t>Validation instructeurs certifies obligatoire</a:t>
            </a:r>
          </a:p>
        </p:txBody>
      </p:sp>
      <p:sp>
        <p:nvSpPr>
          <p:cNvPr id="52" name="Rectangle 51"/>
          <p:cNvSpPr/>
          <p:nvPr/>
        </p:nvSpPr>
        <p:spPr>
          <a:xfrm>
            <a:off x="365760" y="5632704"/>
            <a:ext cx="5669280" cy="960120"/>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3" name="Rectangle 52"/>
          <p:cNvSpPr/>
          <p:nvPr/>
        </p:nvSpPr>
        <p:spPr>
          <a:xfrm>
            <a:off x="365760" y="5632704"/>
            <a:ext cx="45720" cy="960120"/>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4" name="TextBox 53"/>
          <p:cNvSpPr txBox="1"/>
          <p:nvPr/>
        </p:nvSpPr>
        <p:spPr>
          <a:xfrm>
            <a:off x="548640" y="5715000"/>
            <a:ext cx="2743200" cy="400110"/>
          </a:xfrm>
          <a:prstGeom prst="rect">
            <a:avLst/>
          </a:prstGeom>
          <a:noFill/>
        </p:spPr>
        <p:txBody>
          <a:bodyPr wrap="square">
            <a:spAutoFit/>
          </a:bodyPr>
          <a:lstStyle/>
          <a:p>
            <a:pPr algn="l"/>
            <a:r>
              <a:rPr lang="fr-FR" sz="2000" b="1" i="0" noProof="0" dirty="0">
                <a:solidFill>
                  <a:srgbClr val="FFFFFF"/>
                </a:solidFill>
              </a:rPr>
              <a:t>Adoption</a:t>
            </a:r>
          </a:p>
        </p:txBody>
      </p:sp>
      <p:sp>
        <p:nvSpPr>
          <p:cNvPr id="56" name="TextBox 55"/>
          <p:cNvSpPr txBox="1"/>
          <p:nvPr/>
        </p:nvSpPr>
        <p:spPr>
          <a:xfrm>
            <a:off x="4709652" y="5751574"/>
            <a:ext cx="1188228" cy="323165"/>
          </a:xfrm>
          <a:prstGeom prst="rect">
            <a:avLst/>
          </a:prstGeom>
          <a:solidFill>
            <a:schemeClr val="accent6">
              <a:lumMod val="75000"/>
            </a:schemeClr>
          </a:solidFill>
        </p:spPr>
        <p:txBody>
          <a:bodyPr wrap="square">
            <a:spAutoFit/>
          </a:bodyPr>
          <a:lstStyle/>
          <a:p>
            <a:pPr algn="ctr"/>
            <a:r>
              <a:rPr lang="fr-FR" sz="1500" b="1" i="0" noProof="0" dirty="0">
                <a:solidFill>
                  <a:srgbClr val="FFFFFF"/>
                </a:solidFill>
              </a:rPr>
              <a:t>Attention</a:t>
            </a:r>
          </a:p>
        </p:txBody>
      </p:sp>
      <p:sp>
        <p:nvSpPr>
          <p:cNvPr id="57" name="TextBox 56"/>
          <p:cNvSpPr txBox="1"/>
          <p:nvPr/>
        </p:nvSpPr>
        <p:spPr>
          <a:xfrm>
            <a:off x="548640" y="6153911"/>
            <a:ext cx="5394960" cy="323165"/>
          </a:xfrm>
          <a:prstGeom prst="rect">
            <a:avLst/>
          </a:prstGeom>
          <a:noFill/>
        </p:spPr>
        <p:txBody>
          <a:bodyPr wrap="square">
            <a:spAutoFit/>
          </a:bodyPr>
          <a:lstStyle/>
          <a:p>
            <a:pPr algn="l"/>
            <a:r>
              <a:rPr lang="fr-FR" sz="1500" b="0" i="1" noProof="0" dirty="0">
                <a:solidFill>
                  <a:srgbClr val="E8EFF8"/>
                </a:solidFill>
              </a:rPr>
              <a:t>UX critique, cavaliers peu tech — </a:t>
            </a:r>
            <a:r>
              <a:rPr lang="fr-FR" sz="1500" b="0" i="1" noProof="0" dirty="0" err="1">
                <a:solidFill>
                  <a:srgbClr val="E8EFF8"/>
                </a:solidFill>
              </a:rPr>
              <a:t>onboarding</a:t>
            </a:r>
            <a:r>
              <a:rPr lang="fr-FR" sz="1500" b="0" i="1" noProof="0" dirty="0">
                <a:solidFill>
                  <a:srgbClr val="E8EFF8"/>
                </a:solidFill>
              </a:rPr>
              <a:t> </a:t>
            </a:r>
            <a:r>
              <a:rPr lang="fr-FR" sz="1500" i="1" dirty="0">
                <a:solidFill>
                  <a:srgbClr val="E8EFF8"/>
                </a:solidFill>
              </a:rPr>
              <a:t>CLE</a:t>
            </a:r>
            <a:endParaRPr lang="fr-FR" sz="1500" b="0" i="1" noProof="0" dirty="0">
              <a:solidFill>
                <a:srgbClr val="E8EFF8"/>
              </a:solidFill>
            </a:endParaRPr>
          </a:p>
        </p:txBody>
      </p:sp>
      <p:sp>
        <p:nvSpPr>
          <p:cNvPr id="58" name="Rectangle 57"/>
          <p:cNvSpPr/>
          <p:nvPr/>
        </p:nvSpPr>
        <p:spPr>
          <a:xfrm>
            <a:off x="6291072" y="5632704"/>
            <a:ext cx="5669280" cy="960120"/>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9" name="Rectangle 58"/>
          <p:cNvSpPr/>
          <p:nvPr/>
        </p:nvSpPr>
        <p:spPr>
          <a:xfrm>
            <a:off x="6291072" y="5632704"/>
            <a:ext cx="45720" cy="960120"/>
          </a:xfrm>
          <a:prstGeom prst="rect">
            <a:avLst/>
          </a:prstGeom>
          <a:solidFill>
            <a:srgbClr val="FF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60" name="TextBox 59"/>
          <p:cNvSpPr txBox="1"/>
          <p:nvPr/>
        </p:nvSpPr>
        <p:spPr>
          <a:xfrm>
            <a:off x="6473952" y="5715000"/>
            <a:ext cx="2743200" cy="400110"/>
          </a:xfrm>
          <a:prstGeom prst="rect">
            <a:avLst/>
          </a:prstGeom>
          <a:noFill/>
        </p:spPr>
        <p:txBody>
          <a:bodyPr wrap="square">
            <a:spAutoFit/>
          </a:bodyPr>
          <a:lstStyle/>
          <a:p>
            <a:pPr algn="l"/>
            <a:r>
              <a:rPr lang="fr-FR" sz="2000" b="1" i="0" noProof="0" dirty="0">
                <a:solidFill>
                  <a:srgbClr val="FFFFFF"/>
                </a:solidFill>
              </a:rPr>
              <a:t>Vidéo temps réel</a:t>
            </a:r>
          </a:p>
        </p:txBody>
      </p:sp>
      <p:sp>
        <p:nvSpPr>
          <p:cNvPr id="62" name="TextBox 61"/>
          <p:cNvSpPr txBox="1"/>
          <p:nvPr/>
        </p:nvSpPr>
        <p:spPr>
          <a:xfrm>
            <a:off x="10503802" y="5751574"/>
            <a:ext cx="1319390" cy="323165"/>
          </a:xfrm>
          <a:prstGeom prst="rect">
            <a:avLst/>
          </a:prstGeom>
          <a:solidFill>
            <a:srgbClr val="FF0000"/>
          </a:solidFill>
        </p:spPr>
        <p:txBody>
          <a:bodyPr wrap="square">
            <a:spAutoFit/>
          </a:bodyPr>
          <a:lstStyle/>
          <a:p>
            <a:pPr algn="ctr"/>
            <a:r>
              <a:rPr lang="fr-FR" sz="1500" b="1" i="0" noProof="0" dirty="0">
                <a:solidFill>
                  <a:srgbClr val="FFFFFF"/>
                </a:solidFill>
              </a:rPr>
              <a:t>Hors scope V1</a:t>
            </a:r>
          </a:p>
        </p:txBody>
      </p:sp>
      <p:sp>
        <p:nvSpPr>
          <p:cNvPr id="63" name="TextBox 62"/>
          <p:cNvSpPr txBox="1"/>
          <p:nvPr/>
        </p:nvSpPr>
        <p:spPr>
          <a:xfrm>
            <a:off x="6473952" y="6153911"/>
            <a:ext cx="5394960" cy="323165"/>
          </a:xfrm>
          <a:prstGeom prst="rect">
            <a:avLst/>
          </a:prstGeom>
          <a:noFill/>
        </p:spPr>
        <p:txBody>
          <a:bodyPr wrap="square">
            <a:spAutoFit/>
          </a:bodyPr>
          <a:lstStyle/>
          <a:p>
            <a:pPr algn="l"/>
            <a:r>
              <a:rPr lang="fr-FR" sz="1500" b="0" i="1" noProof="0" dirty="0">
                <a:solidFill>
                  <a:srgbClr val="E8EFF8"/>
                </a:solidFill>
              </a:rPr>
              <a:t>Trop complexe et couteux en V1 — prévu V2</a:t>
            </a:r>
          </a:p>
        </p:txBody>
      </p:sp>
    </p:spTree>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2654BAC1-01CD-2386-6D38-B0788DCF18D3}"/>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6" name="TextBox 5"/>
          <p:cNvSpPr txBox="1"/>
          <p:nvPr/>
        </p:nvSpPr>
        <p:spPr>
          <a:xfrm>
            <a:off x="674493" y="289069"/>
            <a:ext cx="8229600" cy="1169551"/>
          </a:xfrm>
          <a:prstGeom prst="rect">
            <a:avLst/>
          </a:prstGeom>
          <a:noFill/>
        </p:spPr>
        <p:txBody>
          <a:bodyPr wrap="square">
            <a:spAutoFit/>
          </a:bodyPr>
          <a:lstStyle/>
          <a:p>
            <a:pPr algn="l"/>
            <a:r>
              <a:rPr lang="fr-FR" sz="7000" b="1" i="0" noProof="0" dirty="0">
                <a:solidFill>
                  <a:srgbClr val="FFFFFF"/>
                </a:solidFill>
              </a:rPr>
              <a:t>Roadmap complète</a:t>
            </a:r>
          </a:p>
        </p:txBody>
      </p:sp>
      <p:pic>
        <p:nvPicPr>
          <p:cNvPr id="6146" name="Picture 2" descr="Road Maintenance in Ireland - TOBIN">
            <a:extLst>
              <a:ext uri="{FF2B5EF4-FFF2-40B4-BE49-F238E27FC236}">
                <a16:creationId xmlns:a16="http://schemas.microsoft.com/office/drawing/2014/main" id="{3BD9395D-C9FC-A560-0F06-BAAB24F2B85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223" r="12134"/>
          <a:stretch>
            <a:fillRect/>
          </a:stretch>
        </p:blipFill>
        <p:spPr bwMode="auto">
          <a:xfrm>
            <a:off x="2320413" y="1747690"/>
            <a:ext cx="7233747" cy="43428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9E8DB571-B3A1-02FB-FF92-6B559E8979C2}"/>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5" name="TextBox 4"/>
          <p:cNvSpPr txBox="1"/>
          <p:nvPr/>
        </p:nvSpPr>
        <p:spPr>
          <a:xfrm>
            <a:off x="367726" y="167265"/>
            <a:ext cx="11225096" cy="707886"/>
          </a:xfrm>
          <a:prstGeom prst="rect">
            <a:avLst/>
          </a:prstGeom>
          <a:noFill/>
        </p:spPr>
        <p:txBody>
          <a:bodyPr wrap="square">
            <a:spAutoFit/>
          </a:bodyPr>
          <a:lstStyle/>
          <a:p>
            <a:pPr algn="l"/>
            <a:r>
              <a:rPr lang="fr-FR" sz="4000" b="1" i="0" noProof="0" dirty="0">
                <a:solidFill>
                  <a:srgbClr val="FFFFFF"/>
                </a:solidFill>
              </a:rPr>
              <a:t>Roadmap — plan de développement en 6 mois</a:t>
            </a:r>
          </a:p>
        </p:txBody>
      </p:sp>
      <p:sp>
        <p:nvSpPr>
          <p:cNvPr id="10" name="Rectangle 9"/>
          <p:cNvSpPr/>
          <p:nvPr/>
        </p:nvSpPr>
        <p:spPr>
          <a:xfrm>
            <a:off x="320040" y="1060704"/>
            <a:ext cx="2834640" cy="4524019"/>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1" name="Rectangle 10"/>
          <p:cNvSpPr/>
          <p:nvPr/>
        </p:nvSpPr>
        <p:spPr>
          <a:xfrm>
            <a:off x="320040" y="1115568"/>
            <a:ext cx="73152" cy="4469155"/>
          </a:xfrm>
          <a:prstGeom prst="rect">
            <a:avLst/>
          </a:prstGeom>
          <a:solidFill>
            <a:srgbClr val="29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2" name="Rectangle 11"/>
          <p:cNvSpPr/>
          <p:nvPr/>
        </p:nvSpPr>
        <p:spPr>
          <a:xfrm>
            <a:off x="320040" y="1115568"/>
            <a:ext cx="2834640" cy="658368"/>
          </a:xfrm>
          <a:prstGeom prst="rect">
            <a:avLst/>
          </a:prstGeom>
          <a:solidFill>
            <a:srgbClr val="29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3" name="TextBox 12"/>
          <p:cNvSpPr txBox="1"/>
          <p:nvPr/>
        </p:nvSpPr>
        <p:spPr>
          <a:xfrm>
            <a:off x="320040" y="1152144"/>
            <a:ext cx="2834640" cy="477054"/>
          </a:xfrm>
          <a:prstGeom prst="rect">
            <a:avLst/>
          </a:prstGeom>
          <a:noFill/>
        </p:spPr>
        <p:txBody>
          <a:bodyPr wrap="square">
            <a:spAutoFit/>
          </a:bodyPr>
          <a:lstStyle/>
          <a:p>
            <a:pPr algn="ctr"/>
            <a:r>
              <a:rPr lang="fr-FR" sz="2500" b="1" i="0" noProof="0" dirty="0">
                <a:solidFill>
                  <a:srgbClr val="FFFFFF"/>
                </a:solidFill>
              </a:rPr>
              <a:t>Mois 1 — Mois 2</a:t>
            </a:r>
          </a:p>
        </p:txBody>
      </p:sp>
      <p:sp>
        <p:nvSpPr>
          <p:cNvPr id="14" name="TextBox 13"/>
          <p:cNvSpPr txBox="1"/>
          <p:nvPr/>
        </p:nvSpPr>
        <p:spPr>
          <a:xfrm>
            <a:off x="457200" y="1883664"/>
            <a:ext cx="2633472" cy="400110"/>
          </a:xfrm>
          <a:prstGeom prst="rect">
            <a:avLst/>
          </a:prstGeom>
          <a:noFill/>
        </p:spPr>
        <p:txBody>
          <a:bodyPr wrap="square">
            <a:spAutoFit/>
          </a:bodyPr>
          <a:lstStyle/>
          <a:p>
            <a:pPr algn="l"/>
            <a:r>
              <a:rPr lang="fr-FR" sz="2000" b="1" i="0" noProof="0" dirty="0">
                <a:solidFill>
                  <a:srgbClr val="2978FF"/>
                </a:solidFill>
              </a:rPr>
              <a:t>Fondation</a:t>
            </a:r>
          </a:p>
        </p:txBody>
      </p:sp>
      <p:sp>
        <p:nvSpPr>
          <p:cNvPr id="15" name="TextBox 14"/>
          <p:cNvSpPr txBox="1"/>
          <p:nvPr/>
        </p:nvSpPr>
        <p:spPr>
          <a:xfrm>
            <a:off x="457200" y="2395728"/>
            <a:ext cx="2633472" cy="323165"/>
          </a:xfrm>
          <a:prstGeom prst="rect">
            <a:avLst/>
          </a:prstGeom>
          <a:noFill/>
        </p:spPr>
        <p:txBody>
          <a:bodyPr wrap="square">
            <a:spAutoFit/>
          </a:bodyPr>
          <a:lstStyle/>
          <a:p>
            <a:pPr algn="l"/>
            <a:r>
              <a:rPr lang="fr-FR" sz="1500" b="0" i="0" noProof="0" dirty="0">
                <a:solidFill>
                  <a:srgbClr val="E8EFF8"/>
                </a:solidFill>
              </a:rPr>
              <a:t>Curation 100+ exercices valides</a:t>
            </a:r>
          </a:p>
        </p:txBody>
      </p:sp>
      <p:sp>
        <p:nvSpPr>
          <p:cNvPr id="16" name="TextBox 15"/>
          <p:cNvSpPr txBox="1"/>
          <p:nvPr/>
        </p:nvSpPr>
        <p:spPr>
          <a:xfrm>
            <a:off x="457200" y="2898648"/>
            <a:ext cx="2633472" cy="323165"/>
          </a:xfrm>
          <a:prstGeom prst="rect">
            <a:avLst/>
          </a:prstGeom>
          <a:noFill/>
        </p:spPr>
        <p:txBody>
          <a:bodyPr wrap="square">
            <a:spAutoFit/>
          </a:bodyPr>
          <a:lstStyle/>
          <a:p>
            <a:pPr algn="l"/>
            <a:r>
              <a:rPr lang="fr-FR" sz="1500" b="0" i="0" noProof="0" dirty="0">
                <a:solidFill>
                  <a:srgbClr val="E8EFF8"/>
                </a:solidFill>
              </a:rPr>
              <a:t>Schéma PostgreSQL + </a:t>
            </a:r>
            <a:r>
              <a:rPr lang="fr-FR" sz="1500" b="0" i="0" noProof="0" dirty="0" err="1">
                <a:solidFill>
                  <a:srgbClr val="E8EFF8"/>
                </a:solidFill>
              </a:rPr>
              <a:t>pgvector</a:t>
            </a:r>
            <a:endParaRPr lang="fr-FR" sz="1500" b="0" i="0" noProof="0" dirty="0">
              <a:solidFill>
                <a:srgbClr val="E8EFF8"/>
              </a:solidFill>
            </a:endParaRPr>
          </a:p>
        </p:txBody>
      </p:sp>
      <p:sp>
        <p:nvSpPr>
          <p:cNvPr id="17" name="TextBox 16"/>
          <p:cNvSpPr txBox="1"/>
          <p:nvPr/>
        </p:nvSpPr>
        <p:spPr>
          <a:xfrm>
            <a:off x="457200" y="3401568"/>
            <a:ext cx="2633472" cy="323165"/>
          </a:xfrm>
          <a:prstGeom prst="rect">
            <a:avLst/>
          </a:prstGeom>
          <a:noFill/>
        </p:spPr>
        <p:txBody>
          <a:bodyPr wrap="square">
            <a:spAutoFit/>
          </a:bodyPr>
          <a:lstStyle/>
          <a:p>
            <a:pPr algn="l"/>
            <a:r>
              <a:rPr lang="fr-FR" sz="1500" b="0" i="0" noProof="0" dirty="0">
                <a:solidFill>
                  <a:srgbClr val="E8EFF8"/>
                </a:solidFill>
              </a:rPr>
              <a:t>API </a:t>
            </a:r>
            <a:r>
              <a:rPr lang="fr-FR" sz="1500" b="0" i="0" noProof="0" dirty="0" err="1">
                <a:solidFill>
                  <a:srgbClr val="E8EFF8"/>
                </a:solidFill>
              </a:rPr>
              <a:t>FastAPI</a:t>
            </a:r>
            <a:r>
              <a:rPr lang="fr-FR" sz="1500" b="0" i="0" noProof="0" dirty="0">
                <a:solidFill>
                  <a:srgbClr val="E8EFF8"/>
                </a:solidFill>
              </a:rPr>
              <a:t> (CRUD exercices)</a:t>
            </a:r>
          </a:p>
        </p:txBody>
      </p:sp>
      <p:sp>
        <p:nvSpPr>
          <p:cNvPr id="18" name="TextBox 17"/>
          <p:cNvSpPr txBox="1"/>
          <p:nvPr/>
        </p:nvSpPr>
        <p:spPr>
          <a:xfrm>
            <a:off x="457200" y="3904488"/>
            <a:ext cx="2633472" cy="323165"/>
          </a:xfrm>
          <a:prstGeom prst="rect">
            <a:avLst/>
          </a:prstGeom>
          <a:noFill/>
        </p:spPr>
        <p:txBody>
          <a:bodyPr wrap="square">
            <a:spAutoFit/>
          </a:bodyPr>
          <a:lstStyle/>
          <a:p>
            <a:pPr algn="l"/>
            <a:r>
              <a:rPr lang="fr-FR" sz="1500" b="0" i="0" noProof="0" dirty="0" err="1">
                <a:solidFill>
                  <a:srgbClr val="E8EFF8"/>
                </a:solidFill>
              </a:rPr>
              <a:t>Auth</a:t>
            </a:r>
            <a:r>
              <a:rPr lang="fr-FR" sz="1500" b="0" i="0" noProof="0" dirty="0">
                <a:solidFill>
                  <a:srgbClr val="E8EFF8"/>
                </a:solidFill>
              </a:rPr>
              <a:t> utilisateur Supabase</a:t>
            </a:r>
          </a:p>
        </p:txBody>
      </p:sp>
      <p:sp>
        <p:nvSpPr>
          <p:cNvPr id="19" name="TextBox 18"/>
          <p:cNvSpPr txBox="1"/>
          <p:nvPr/>
        </p:nvSpPr>
        <p:spPr>
          <a:xfrm>
            <a:off x="457200" y="4407408"/>
            <a:ext cx="2633472" cy="323165"/>
          </a:xfrm>
          <a:prstGeom prst="rect">
            <a:avLst/>
          </a:prstGeom>
          <a:noFill/>
        </p:spPr>
        <p:txBody>
          <a:bodyPr wrap="square">
            <a:spAutoFit/>
          </a:bodyPr>
          <a:lstStyle/>
          <a:p>
            <a:pPr algn="l"/>
            <a:r>
              <a:rPr lang="fr-FR" sz="1500" b="0" i="0" noProof="0" dirty="0">
                <a:solidFill>
                  <a:srgbClr val="E8EFF8"/>
                </a:solidFill>
              </a:rPr>
              <a:t>Interface cavalier basique</a:t>
            </a:r>
          </a:p>
        </p:txBody>
      </p:sp>
      <p:sp>
        <p:nvSpPr>
          <p:cNvPr id="20" name="TextBox 19"/>
          <p:cNvSpPr txBox="1"/>
          <p:nvPr/>
        </p:nvSpPr>
        <p:spPr>
          <a:xfrm>
            <a:off x="457200" y="4910328"/>
            <a:ext cx="2633472" cy="323165"/>
          </a:xfrm>
          <a:prstGeom prst="rect">
            <a:avLst/>
          </a:prstGeom>
          <a:noFill/>
        </p:spPr>
        <p:txBody>
          <a:bodyPr wrap="square">
            <a:spAutoFit/>
          </a:bodyPr>
          <a:lstStyle/>
          <a:p>
            <a:pPr algn="l"/>
            <a:r>
              <a:rPr lang="fr-FR" sz="1500" b="0" i="0" noProof="0" dirty="0" err="1">
                <a:solidFill>
                  <a:srgbClr val="E8EFF8"/>
                </a:solidFill>
              </a:rPr>
              <a:t>Embeddings</a:t>
            </a:r>
            <a:r>
              <a:rPr lang="fr-FR" sz="1500" b="0" i="0" noProof="0" dirty="0">
                <a:solidFill>
                  <a:srgbClr val="E8EFF8"/>
                </a:solidFill>
              </a:rPr>
              <a:t> &amp; vectorisation</a:t>
            </a:r>
          </a:p>
        </p:txBody>
      </p:sp>
      <p:sp>
        <p:nvSpPr>
          <p:cNvPr id="21" name="Rectangle 20"/>
          <p:cNvSpPr/>
          <p:nvPr/>
        </p:nvSpPr>
        <p:spPr>
          <a:xfrm>
            <a:off x="320040" y="5566435"/>
            <a:ext cx="2834640" cy="73152"/>
          </a:xfrm>
          <a:prstGeom prst="rect">
            <a:avLst/>
          </a:prstGeom>
          <a:solidFill>
            <a:srgbClr val="29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3" name="Rectangle 22"/>
          <p:cNvSpPr/>
          <p:nvPr/>
        </p:nvSpPr>
        <p:spPr>
          <a:xfrm>
            <a:off x="3310128" y="1115568"/>
            <a:ext cx="2834640" cy="4524019"/>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4" name="Rectangle 23"/>
          <p:cNvSpPr/>
          <p:nvPr/>
        </p:nvSpPr>
        <p:spPr>
          <a:xfrm>
            <a:off x="3310128" y="1115568"/>
            <a:ext cx="73152" cy="4450867"/>
          </a:xfrm>
          <a:prstGeom prst="rect">
            <a:avLst/>
          </a:prstGeom>
          <a:solidFill>
            <a:srgbClr val="38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5" name="Rectangle 24"/>
          <p:cNvSpPr/>
          <p:nvPr/>
        </p:nvSpPr>
        <p:spPr>
          <a:xfrm>
            <a:off x="3310128" y="1115568"/>
            <a:ext cx="2834640" cy="658368"/>
          </a:xfrm>
          <a:prstGeom prst="rect">
            <a:avLst/>
          </a:prstGeom>
          <a:solidFill>
            <a:srgbClr val="38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6" name="TextBox 25"/>
          <p:cNvSpPr txBox="1"/>
          <p:nvPr/>
        </p:nvSpPr>
        <p:spPr>
          <a:xfrm>
            <a:off x="3310128" y="1152144"/>
            <a:ext cx="2834640" cy="477054"/>
          </a:xfrm>
          <a:prstGeom prst="rect">
            <a:avLst/>
          </a:prstGeom>
          <a:noFill/>
        </p:spPr>
        <p:txBody>
          <a:bodyPr wrap="square">
            <a:spAutoFit/>
          </a:bodyPr>
          <a:lstStyle/>
          <a:p>
            <a:pPr algn="ctr"/>
            <a:r>
              <a:rPr lang="fr-FR" sz="2500" b="1" i="0" noProof="0" dirty="0">
                <a:solidFill>
                  <a:srgbClr val="FFFFFF"/>
                </a:solidFill>
              </a:rPr>
              <a:t>Mois 3 — Mois 4</a:t>
            </a:r>
          </a:p>
        </p:txBody>
      </p:sp>
      <p:sp>
        <p:nvSpPr>
          <p:cNvPr id="27" name="TextBox 26"/>
          <p:cNvSpPr txBox="1"/>
          <p:nvPr/>
        </p:nvSpPr>
        <p:spPr>
          <a:xfrm>
            <a:off x="3447288" y="1883664"/>
            <a:ext cx="2633472" cy="400110"/>
          </a:xfrm>
          <a:prstGeom prst="rect">
            <a:avLst/>
          </a:prstGeom>
          <a:noFill/>
        </p:spPr>
        <p:txBody>
          <a:bodyPr wrap="square">
            <a:spAutoFit/>
          </a:bodyPr>
          <a:lstStyle/>
          <a:p>
            <a:pPr algn="l"/>
            <a:r>
              <a:rPr lang="fr-FR" sz="2000" b="1" i="0" noProof="0" dirty="0">
                <a:solidFill>
                  <a:srgbClr val="38D4FF"/>
                </a:solidFill>
              </a:rPr>
              <a:t>IA </a:t>
            </a:r>
            <a:r>
              <a:rPr lang="fr-FR" sz="2000" b="1" i="0" noProof="0" dirty="0" err="1">
                <a:solidFill>
                  <a:srgbClr val="38D4FF"/>
                </a:solidFill>
              </a:rPr>
              <a:t>Core</a:t>
            </a:r>
            <a:endParaRPr lang="fr-FR" sz="2000" b="1" i="0" noProof="0" dirty="0">
              <a:solidFill>
                <a:srgbClr val="38D4FF"/>
              </a:solidFill>
            </a:endParaRPr>
          </a:p>
        </p:txBody>
      </p:sp>
      <p:sp>
        <p:nvSpPr>
          <p:cNvPr id="28" name="TextBox 27"/>
          <p:cNvSpPr txBox="1"/>
          <p:nvPr/>
        </p:nvSpPr>
        <p:spPr>
          <a:xfrm>
            <a:off x="3447288" y="2395728"/>
            <a:ext cx="2633472" cy="323165"/>
          </a:xfrm>
          <a:prstGeom prst="rect">
            <a:avLst/>
          </a:prstGeom>
          <a:noFill/>
        </p:spPr>
        <p:txBody>
          <a:bodyPr wrap="square">
            <a:spAutoFit/>
          </a:bodyPr>
          <a:lstStyle/>
          <a:p>
            <a:pPr algn="l"/>
            <a:r>
              <a:rPr lang="fr-FR" sz="1500" b="0" i="0" noProof="0" dirty="0">
                <a:solidFill>
                  <a:srgbClr val="E8EFF8"/>
                </a:solidFill>
              </a:rPr>
              <a:t>Intégration Claude 3.5 Sonnet</a:t>
            </a:r>
          </a:p>
        </p:txBody>
      </p:sp>
      <p:sp>
        <p:nvSpPr>
          <p:cNvPr id="29" name="TextBox 28"/>
          <p:cNvSpPr txBox="1"/>
          <p:nvPr/>
        </p:nvSpPr>
        <p:spPr>
          <a:xfrm>
            <a:off x="3447288" y="2932569"/>
            <a:ext cx="2633472" cy="323165"/>
          </a:xfrm>
          <a:prstGeom prst="rect">
            <a:avLst/>
          </a:prstGeom>
          <a:noFill/>
        </p:spPr>
        <p:txBody>
          <a:bodyPr wrap="square">
            <a:spAutoFit/>
          </a:bodyPr>
          <a:lstStyle/>
          <a:p>
            <a:pPr algn="l"/>
            <a:r>
              <a:rPr lang="fr-FR" sz="1500" b="0" i="0" noProof="0" dirty="0">
                <a:solidFill>
                  <a:srgbClr val="E8EFF8"/>
                </a:solidFill>
              </a:rPr>
              <a:t>Pipeline RAG complet</a:t>
            </a:r>
          </a:p>
        </p:txBody>
      </p:sp>
      <p:sp>
        <p:nvSpPr>
          <p:cNvPr id="30" name="TextBox 29"/>
          <p:cNvSpPr txBox="1"/>
          <p:nvPr/>
        </p:nvSpPr>
        <p:spPr>
          <a:xfrm>
            <a:off x="3447288" y="3401568"/>
            <a:ext cx="3484454" cy="323165"/>
          </a:xfrm>
          <a:prstGeom prst="rect">
            <a:avLst/>
          </a:prstGeom>
          <a:noFill/>
        </p:spPr>
        <p:txBody>
          <a:bodyPr wrap="square">
            <a:spAutoFit/>
          </a:bodyPr>
          <a:lstStyle/>
          <a:p>
            <a:pPr algn="l"/>
            <a:r>
              <a:rPr lang="fr-FR" sz="1500" b="0" i="0" noProof="0" dirty="0">
                <a:solidFill>
                  <a:srgbClr val="E8EFF8"/>
                </a:solidFill>
              </a:rPr>
              <a:t>Génération séances perso</a:t>
            </a:r>
          </a:p>
        </p:txBody>
      </p:sp>
      <p:sp>
        <p:nvSpPr>
          <p:cNvPr id="31" name="TextBox 30"/>
          <p:cNvSpPr txBox="1"/>
          <p:nvPr/>
        </p:nvSpPr>
        <p:spPr>
          <a:xfrm>
            <a:off x="3447288" y="3904488"/>
            <a:ext cx="2633472" cy="323165"/>
          </a:xfrm>
          <a:prstGeom prst="rect">
            <a:avLst/>
          </a:prstGeom>
          <a:noFill/>
        </p:spPr>
        <p:txBody>
          <a:bodyPr wrap="square">
            <a:spAutoFit/>
          </a:bodyPr>
          <a:lstStyle/>
          <a:p>
            <a:pPr algn="l"/>
            <a:r>
              <a:rPr lang="fr-FR" sz="1500" b="0" i="0" noProof="0" dirty="0">
                <a:solidFill>
                  <a:srgbClr val="E8EFF8"/>
                </a:solidFill>
              </a:rPr>
              <a:t>Mémoire persistante Mem0</a:t>
            </a:r>
          </a:p>
        </p:txBody>
      </p:sp>
      <p:sp>
        <p:nvSpPr>
          <p:cNvPr id="32" name="TextBox 31"/>
          <p:cNvSpPr txBox="1"/>
          <p:nvPr/>
        </p:nvSpPr>
        <p:spPr>
          <a:xfrm>
            <a:off x="3447288" y="4407408"/>
            <a:ext cx="2633472" cy="323165"/>
          </a:xfrm>
          <a:prstGeom prst="rect">
            <a:avLst/>
          </a:prstGeom>
          <a:noFill/>
        </p:spPr>
        <p:txBody>
          <a:bodyPr wrap="square">
            <a:spAutoFit/>
          </a:bodyPr>
          <a:lstStyle/>
          <a:p>
            <a:pPr algn="l"/>
            <a:r>
              <a:rPr lang="fr-FR" sz="1500" b="0" i="0" noProof="0" dirty="0">
                <a:solidFill>
                  <a:srgbClr val="E8EFF8"/>
                </a:solidFill>
              </a:rPr>
              <a:t>Tests par instructeurs</a:t>
            </a:r>
          </a:p>
        </p:txBody>
      </p:sp>
      <p:sp>
        <p:nvSpPr>
          <p:cNvPr id="33" name="TextBox 32"/>
          <p:cNvSpPr txBox="1"/>
          <p:nvPr/>
        </p:nvSpPr>
        <p:spPr>
          <a:xfrm>
            <a:off x="3447288" y="4910328"/>
            <a:ext cx="2633472" cy="323165"/>
          </a:xfrm>
          <a:prstGeom prst="rect">
            <a:avLst/>
          </a:prstGeom>
          <a:noFill/>
        </p:spPr>
        <p:txBody>
          <a:bodyPr wrap="square">
            <a:spAutoFit/>
          </a:bodyPr>
          <a:lstStyle/>
          <a:p>
            <a:pPr algn="l"/>
            <a:r>
              <a:rPr lang="fr-FR" sz="1500" b="0" i="0" noProof="0" dirty="0">
                <a:solidFill>
                  <a:srgbClr val="E8EFF8"/>
                </a:solidFill>
              </a:rPr>
              <a:t>Beta fermée 20-50 </a:t>
            </a:r>
            <a:r>
              <a:rPr lang="fr-FR" sz="1500" b="0" i="0" noProof="0" dirty="0" err="1">
                <a:solidFill>
                  <a:srgbClr val="E8EFF8"/>
                </a:solidFill>
              </a:rPr>
              <a:t>users</a:t>
            </a:r>
            <a:endParaRPr lang="fr-FR" sz="1500" b="0" i="0" noProof="0" dirty="0">
              <a:solidFill>
                <a:srgbClr val="E8EFF8"/>
              </a:solidFill>
            </a:endParaRPr>
          </a:p>
        </p:txBody>
      </p:sp>
      <p:sp>
        <p:nvSpPr>
          <p:cNvPr id="34" name="Rectangle 33"/>
          <p:cNvSpPr/>
          <p:nvPr/>
        </p:nvSpPr>
        <p:spPr>
          <a:xfrm>
            <a:off x="3310128" y="5558750"/>
            <a:ext cx="2834640" cy="73152"/>
          </a:xfrm>
          <a:prstGeom prst="rect">
            <a:avLst/>
          </a:prstGeom>
          <a:solidFill>
            <a:srgbClr val="38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6" name="Rectangle 35"/>
          <p:cNvSpPr/>
          <p:nvPr/>
        </p:nvSpPr>
        <p:spPr>
          <a:xfrm>
            <a:off x="6300216" y="1115568"/>
            <a:ext cx="2834640" cy="4507991"/>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7" name="Rectangle 36"/>
          <p:cNvSpPr/>
          <p:nvPr/>
        </p:nvSpPr>
        <p:spPr>
          <a:xfrm>
            <a:off x="6300216" y="1115568"/>
            <a:ext cx="73152" cy="4419224"/>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8" name="Rectangle 37"/>
          <p:cNvSpPr/>
          <p:nvPr/>
        </p:nvSpPr>
        <p:spPr>
          <a:xfrm>
            <a:off x="6300216" y="1115568"/>
            <a:ext cx="2834640" cy="658368"/>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9" name="TextBox 38"/>
          <p:cNvSpPr txBox="1"/>
          <p:nvPr/>
        </p:nvSpPr>
        <p:spPr>
          <a:xfrm>
            <a:off x="6300216" y="1152144"/>
            <a:ext cx="2834640" cy="477054"/>
          </a:xfrm>
          <a:prstGeom prst="rect">
            <a:avLst/>
          </a:prstGeom>
          <a:noFill/>
        </p:spPr>
        <p:txBody>
          <a:bodyPr wrap="square">
            <a:spAutoFit/>
          </a:bodyPr>
          <a:lstStyle/>
          <a:p>
            <a:pPr algn="ctr"/>
            <a:r>
              <a:rPr lang="fr-FR" sz="2500" b="1" i="0" noProof="0" dirty="0">
                <a:solidFill>
                  <a:srgbClr val="FFFFFF"/>
                </a:solidFill>
              </a:rPr>
              <a:t>Mois 5</a:t>
            </a:r>
          </a:p>
        </p:txBody>
      </p:sp>
      <p:sp>
        <p:nvSpPr>
          <p:cNvPr id="40" name="TextBox 39"/>
          <p:cNvSpPr txBox="1"/>
          <p:nvPr/>
        </p:nvSpPr>
        <p:spPr>
          <a:xfrm>
            <a:off x="6437376" y="1883664"/>
            <a:ext cx="2633472" cy="400110"/>
          </a:xfrm>
          <a:prstGeom prst="rect">
            <a:avLst/>
          </a:prstGeom>
          <a:noFill/>
        </p:spPr>
        <p:txBody>
          <a:bodyPr wrap="square">
            <a:spAutoFit/>
          </a:bodyPr>
          <a:lstStyle/>
          <a:p>
            <a:pPr algn="l"/>
            <a:r>
              <a:rPr lang="fr-FR" sz="2000" b="1" i="0" noProof="0" dirty="0">
                <a:solidFill>
                  <a:srgbClr val="3CE88E"/>
                </a:solidFill>
              </a:rPr>
              <a:t>UX &amp; Images</a:t>
            </a:r>
          </a:p>
        </p:txBody>
      </p:sp>
      <p:sp>
        <p:nvSpPr>
          <p:cNvPr id="41" name="TextBox 40"/>
          <p:cNvSpPr txBox="1"/>
          <p:nvPr/>
        </p:nvSpPr>
        <p:spPr>
          <a:xfrm>
            <a:off x="6437376" y="2395728"/>
            <a:ext cx="2633472" cy="323165"/>
          </a:xfrm>
          <a:prstGeom prst="rect">
            <a:avLst/>
          </a:prstGeom>
          <a:noFill/>
        </p:spPr>
        <p:txBody>
          <a:bodyPr wrap="square">
            <a:spAutoFit/>
          </a:bodyPr>
          <a:lstStyle/>
          <a:p>
            <a:pPr algn="l"/>
            <a:r>
              <a:rPr lang="fr-FR" sz="1500" b="0" i="0" noProof="0" dirty="0">
                <a:solidFill>
                  <a:srgbClr val="E8EFF8"/>
                </a:solidFill>
              </a:rPr>
              <a:t>Génération schémas DALL-E 3</a:t>
            </a:r>
          </a:p>
        </p:txBody>
      </p:sp>
      <p:sp>
        <p:nvSpPr>
          <p:cNvPr id="42" name="TextBox 41"/>
          <p:cNvSpPr txBox="1"/>
          <p:nvPr/>
        </p:nvSpPr>
        <p:spPr>
          <a:xfrm>
            <a:off x="6437376" y="2898648"/>
            <a:ext cx="2633472" cy="323165"/>
          </a:xfrm>
          <a:prstGeom prst="rect">
            <a:avLst/>
          </a:prstGeom>
          <a:noFill/>
        </p:spPr>
        <p:txBody>
          <a:bodyPr wrap="square">
            <a:spAutoFit/>
          </a:bodyPr>
          <a:lstStyle/>
          <a:p>
            <a:pPr algn="l"/>
            <a:r>
              <a:rPr lang="fr-FR" sz="1500" b="0" i="0" noProof="0" dirty="0">
                <a:solidFill>
                  <a:srgbClr val="E8EFF8"/>
                </a:solidFill>
              </a:rPr>
              <a:t>UX améliorée (retours beta)</a:t>
            </a:r>
          </a:p>
        </p:txBody>
      </p:sp>
      <p:sp>
        <p:nvSpPr>
          <p:cNvPr id="43" name="TextBox 42"/>
          <p:cNvSpPr txBox="1"/>
          <p:nvPr/>
        </p:nvSpPr>
        <p:spPr>
          <a:xfrm>
            <a:off x="6437376" y="3401568"/>
            <a:ext cx="2633472" cy="323165"/>
          </a:xfrm>
          <a:prstGeom prst="rect">
            <a:avLst/>
          </a:prstGeom>
          <a:noFill/>
        </p:spPr>
        <p:txBody>
          <a:bodyPr wrap="square">
            <a:spAutoFit/>
          </a:bodyPr>
          <a:lstStyle/>
          <a:p>
            <a:pPr algn="l"/>
            <a:r>
              <a:rPr lang="fr-FR" sz="1500" b="0" i="0" noProof="0" dirty="0">
                <a:solidFill>
                  <a:srgbClr val="E8EFF8"/>
                </a:solidFill>
              </a:rPr>
              <a:t>Historique &amp; visualisation</a:t>
            </a:r>
          </a:p>
        </p:txBody>
      </p:sp>
      <p:sp>
        <p:nvSpPr>
          <p:cNvPr id="44" name="TextBox 43"/>
          <p:cNvSpPr txBox="1"/>
          <p:nvPr/>
        </p:nvSpPr>
        <p:spPr>
          <a:xfrm>
            <a:off x="6437376" y="3904488"/>
            <a:ext cx="2633472" cy="323165"/>
          </a:xfrm>
          <a:prstGeom prst="rect">
            <a:avLst/>
          </a:prstGeom>
          <a:noFill/>
        </p:spPr>
        <p:txBody>
          <a:bodyPr wrap="square">
            <a:spAutoFit/>
          </a:bodyPr>
          <a:lstStyle/>
          <a:p>
            <a:pPr algn="l"/>
            <a:r>
              <a:rPr lang="fr-FR" sz="1500" b="0" i="0" noProof="0" dirty="0">
                <a:solidFill>
                  <a:srgbClr val="E8EFF8"/>
                </a:solidFill>
              </a:rPr>
              <a:t>Mobile responsive complet</a:t>
            </a:r>
          </a:p>
        </p:txBody>
      </p:sp>
      <p:sp>
        <p:nvSpPr>
          <p:cNvPr id="45" name="TextBox 44"/>
          <p:cNvSpPr txBox="1"/>
          <p:nvPr/>
        </p:nvSpPr>
        <p:spPr>
          <a:xfrm>
            <a:off x="6437376" y="4407408"/>
            <a:ext cx="2633472" cy="323165"/>
          </a:xfrm>
          <a:prstGeom prst="rect">
            <a:avLst/>
          </a:prstGeom>
          <a:noFill/>
        </p:spPr>
        <p:txBody>
          <a:bodyPr wrap="square">
            <a:spAutoFit/>
          </a:bodyPr>
          <a:lstStyle/>
          <a:p>
            <a:pPr algn="l"/>
            <a:r>
              <a:rPr lang="fr-FR" sz="1500" b="0" i="0" noProof="0" dirty="0">
                <a:solidFill>
                  <a:srgbClr val="E8EFF8"/>
                </a:solidFill>
              </a:rPr>
              <a:t>Dashboard instructeur</a:t>
            </a:r>
          </a:p>
        </p:txBody>
      </p:sp>
      <p:sp>
        <p:nvSpPr>
          <p:cNvPr id="46" name="TextBox 45"/>
          <p:cNvSpPr txBox="1"/>
          <p:nvPr/>
        </p:nvSpPr>
        <p:spPr>
          <a:xfrm>
            <a:off x="6437376" y="4910328"/>
            <a:ext cx="2633472" cy="323165"/>
          </a:xfrm>
          <a:prstGeom prst="rect">
            <a:avLst/>
          </a:prstGeom>
          <a:noFill/>
        </p:spPr>
        <p:txBody>
          <a:bodyPr wrap="square">
            <a:spAutoFit/>
          </a:bodyPr>
          <a:lstStyle/>
          <a:p>
            <a:pPr algn="l"/>
            <a:r>
              <a:rPr lang="fr-FR" sz="1500" b="0" i="0" noProof="0" dirty="0">
                <a:solidFill>
                  <a:srgbClr val="E8EFF8"/>
                </a:solidFill>
              </a:rPr>
              <a:t>Cache Redis (latence)</a:t>
            </a:r>
          </a:p>
        </p:txBody>
      </p:sp>
      <p:sp>
        <p:nvSpPr>
          <p:cNvPr id="47" name="Rectangle 46"/>
          <p:cNvSpPr/>
          <p:nvPr/>
        </p:nvSpPr>
        <p:spPr>
          <a:xfrm>
            <a:off x="6300216" y="5534792"/>
            <a:ext cx="2834640" cy="88767"/>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9" name="Rectangle 48"/>
          <p:cNvSpPr/>
          <p:nvPr/>
        </p:nvSpPr>
        <p:spPr>
          <a:xfrm>
            <a:off x="9290304" y="1115568"/>
            <a:ext cx="2633472" cy="4507991"/>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0" name="Rectangle 49"/>
          <p:cNvSpPr/>
          <p:nvPr/>
        </p:nvSpPr>
        <p:spPr>
          <a:xfrm>
            <a:off x="9290304" y="1115568"/>
            <a:ext cx="73152" cy="4450867"/>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1" name="Rectangle 50"/>
          <p:cNvSpPr/>
          <p:nvPr/>
        </p:nvSpPr>
        <p:spPr>
          <a:xfrm>
            <a:off x="9290304" y="1115568"/>
            <a:ext cx="2633472" cy="658368"/>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2" name="TextBox 51"/>
          <p:cNvSpPr txBox="1"/>
          <p:nvPr/>
        </p:nvSpPr>
        <p:spPr>
          <a:xfrm>
            <a:off x="9290304" y="1152144"/>
            <a:ext cx="2834640" cy="477054"/>
          </a:xfrm>
          <a:prstGeom prst="rect">
            <a:avLst/>
          </a:prstGeom>
          <a:noFill/>
        </p:spPr>
        <p:txBody>
          <a:bodyPr wrap="square">
            <a:spAutoFit/>
          </a:bodyPr>
          <a:lstStyle/>
          <a:p>
            <a:pPr algn="ctr"/>
            <a:r>
              <a:rPr lang="fr-FR" sz="2500" b="1" i="0" noProof="0" dirty="0">
                <a:solidFill>
                  <a:srgbClr val="FFFFFF"/>
                </a:solidFill>
              </a:rPr>
              <a:t>Mois 6</a:t>
            </a:r>
          </a:p>
        </p:txBody>
      </p:sp>
      <p:sp>
        <p:nvSpPr>
          <p:cNvPr id="53" name="TextBox 52"/>
          <p:cNvSpPr txBox="1"/>
          <p:nvPr/>
        </p:nvSpPr>
        <p:spPr>
          <a:xfrm>
            <a:off x="9427464" y="1883664"/>
            <a:ext cx="2633472" cy="400110"/>
          </a:xfrm>
          <a:prstGeom prst="rect">
            <a:avLst/>
          </a:prstGeom>
          <a:noFill/>
        </p:spPr>
        <p:txBody>
          <a:bodyPr wrap="square">
            <a:spAutoFit/>
          </a:bodyPr>
          <a:lstStyle/>
          <a:p>
            <a:pPr algn="l"/>
            <a:r>
              <a:rPr lang="fr-FR" sz="2000" b="1" i="0" noProof="0" dirty="0">
                <a:solidFill>
                  <a:srgbClr val="FFA040"/>
                </a:solidFill>
              </a:rPr>
              <a:t>Lancement</a:t>
            </a:r>
          </a:p>
        </p:txBody>
      </p:sp>
      <p:sp>
        <p:nvSpPr>
          <p:cNvPr id="54" name="TextBox 53"/>
          <p:cNvSpPr txBox="1"/>
          <p:nvPr/>
        </p:nvSpPr>
        <p:spPr>
          <a:xfrm>
            <a:off x="9427464" y="2395728"/>
            <a:ext cx="2633472" cy="323165"/>
          </a:xfrm>
          <a:prstGeom prst="rect">
            <a:avLst/>
          </a:prstGeom>
          <a:noFill/>
        </p:spPr>
        <p:txBody>
          <a:bodyPr wrap="square">
            <a:spAutoFit/>
          </a:bodyPr>
          <a:lstStyle/>
          <a:p>
            <a:pPr algn="l"/>
            <a:r>
              <a:rPr lang="fr-FR" sz="1500" b="0" i="0" noProof="0" dirty="0">
                <a:solidFill>
                  <a:srgbClr val="E8EFF8"/>
                </a:solidFill>
              </a:rPr>
              <a:t>Tests de charge</a:t>
            </a:r>
          </a:p>
        </p:txBody>
      </p:sp>
      <p:sp>
        <p:nvSpPr>
          <p:cNvPr id="55" name="TextBox 54"/>
          <p:cNvSpPr txBox="1"/>
          <p:nvPr/>
        </p:nvSpPr>
        <p:spPr>
          <a:xfrm>
            <a:off x="9427464" y="2898648"/>
            <a:ext cx="2633472" cy="323165"/>
          </a:xfrm>
          <a:prstGeom prst="rect">
            <a:avLst/>
          </a:prstGeom>
          <a:noFill/>
        </p:spPr>
        <p:txBody>
          <a:bodyPr wrap="square">
            <a:spAutoFit/>
          </a:bodyPr>
          <a:lstStyle/>
          <a:p>
            <a:pPr algn="l"/>
            <a:r>
              <a:rPr lang="fr-FR" sz="1500" b="0" i="0" noProof="0" dirty="0">
                <a:solidFill>
                  <a:srgbClr val="E8EFF8"/>
                </a:solidFill>
              </a:rPr>
              <a:t>RGPD, CGU, mentions légales</a:t>
            </a:r>
          </a:p>
        </p:txBody>
      </p:sp>
      <p:sp>
        <p:nvSpPr>
          <p:cNvPr id="56" name="TextBox 55"/>
          <p:cNvSpPr txBox="1"/>
          <p:nvPr/>
        </p:nvSpPr>
        <p:spPr>
          <a:xfrm>
            <a:off x="9427464" y="3401568"/>
            <a:ext cx="2633472" cy="323165"/>
          </a:xfrm>
          <a:prstGeom prst="rect">
            <a:avLst/>
          </a:prstGeom>
          <a:noFill/>
        </p:spPr>
        <p:txBody>
          <a:bodyPr wrap="square">
            <a:spAutoFit/>
          </a:bodyPr>
          <a:lstStyle/>
          <a:p>
            <a:pPr algn="l"/>
            <a:r>
              <a:rPr lang="fr-FR" sz="1500" b="0" i="0" noProof="0" dirty="0" err="1">
                <a:solidFill>
                  <a:srgbClr val="E8EFF8"/>
                </a:solidFill>
              </a:rPr>
              <a:t>Onboarding</a:t>
            </a:r>
            <a:r>
              <a:rPr lang="fr-FR" sz="1500" b="0" i="0" noProof="0" dirty="0">
                <a:solidFill>
                  <a:srgbClr val="E8EFF8"/>
                </a:solidFill>
              </a:rPr>
              <a:t> instructeurs</a:t>
            </a:r>
          </a:p>
        </p:txBody>
      </p:sp>
      <p:sp>
        <p:nvSpPr>
          <p:cNvPr id="57" name="TextBox 56"/>
          <p:cNvSpPr txBox="1"/>
          <p:nvPr/>
        </p:nvSpPr>
        <p:spPr>
          <a:xfrm>
            <a:off x="9427464" y="3904488"/>
            <a:ext cx="2633472" cy="323165"/>
          </a:xfrm>
          <a:prstGeom prst="rect">
            <a:avLst/>
          </a:prstGeom>
          <a:noFill/>
        </p:spPr>
        <p:txBody>
          <a:bodyPr wrap="square">
            <a:spAutoFit/>
          </a:bodyPr>
          <a:lstStyle/>
          <a:p>
            <a:pPr algn="l"/>
            <a:r>
              <a:rPr lang="fr-FR" sz="1500" b="0" i="0" noProof="0" dirty="0">
                <a:solidFill>
                  <a:srgbClr val="E8EFF8"/>
                </a:solidFill>
              </a:rPr>
              <a:t>Analytics (</a:t>
            </a:r>
            <a:r>
              <a:rPr lang="fr-FR" sz="1500" b="0" i="0" noProof="0" dirty="0" err="1">
                <a:solidFill>
                  <a:srgbClr val="E8EFF8"/>
                </a:solidFill>
              </a:rPr>
              <a:t>Posthog</a:t>
            </a:r>
            <a:r>
              <a:rPr lang="fr-FR" sz="1500" b="0" i="0" noProof="0" dirty="0">
                <a:solidFill>
                  <a:srgbClr val="E8EFF8"/>
                </a:solidFill>
              </a:rPr>
              <a:t>)</a:t>
            </a:r>
          </a:p>
        </p:txBody>
      </p:sp>
      <p:sp>
        <p:nvSpPr>
          <p:cNvPr id="58" name="TextBox 57"/>
          <p:cNvSpPr txBox="1"/>
          <p:nvPr/>
        </p:nvSpPr>
        <p:spPr>
          <a:xfrm>
            <a:off x="9427464" y="4407408"/>
            <a:ext cx="2633472" cy="323165"/>
          </a:xfrm>
          <a:prstGeom prst="rect">
            <a:avLst/>
          </a:prstGeom>
          <a:noFill/>
        </p:spPr>
        <p:txBody>
          <a:bodyPr wrap="square">
            <a:spAutoFit/>
          </a:bodyPr>
          <a:lstStyle/>
          <a:p>
            <a:pPr algn="l"/>
            <a:r>
              <a:rPr lang="fr-FR" sz="1500" b="0" i="0" noProof="0" dirty="0">
                <a:solidFill>
                  <a:srgbClr val="E8EFF8"/>
                </a:solidFill>
              </a:rPr>
              <a:t>Monitoring </a:t>
            </a:r>
            <a:r>
              <a:rPr lang="fr-FR" sz="1500" b="0" i="0" noProof="0" dirty="0" err="1">
                <a:solidFill>
                  <a:srgbClr val="E8EFF8"/>
                </a:solidFill>
              </a:rPr>
              <a:t>LangSmith</a:t>
            </a:r>
            <a:r>
              <a:rPr lang="fr-FR" sz="1500" b="0" i="0" noProof="0" dirty="0">
                <a:solidFill>
                  <a:srgbClr val="E8EFF8"/>
                </a:solidFill>
              </a:rPr>
              <a:t> prod.</a:t>
            </a:r>
          </a:p>
        </p:txBody>
      </p:sp>
      <p:sp>
        <p:nvSpPr>
          <p:cNvPr id="59" name="TextBox 58"/>
          <p:cNvSpPr txBox="1"/>
          <p:nvPr/>
        </p:nvSpPr>
        <p:spPr>
          <a:xfrm>
            <a:off x="9427464" y="4910328"/>
            <a:ext cx="2633472" cy="323165"/>
          </a:xfrm>
          <a:prstGeom prst="rect">
            <a:avLst/>
          </a:prstGeom>
          <a:noFill/>
        </p:spPr>
        <p:txBody>
          <a:bodyPr wrap="square">
            <a:spAutoFit/>
          </a:bodyPr>
          <a:lstStyle/>
          <a:p>
            <a:pPr algn="l"/>
            <a:r>
              <a:rPr lang="fr-FR" sz="1500" b="0" i="0" noProof="0" dirty="0">
                <a:solidFill>
                  <a:srgbClr val="E8EFF8"/>
                </a:solidFill>
              </a:rPr>
              <a:t>Beta publique</a:t>
            </a:r>
          </a:p>
        </p:txBody>
      </p:sp>
      <p:sp>
        <p:nvSpPr>
          <p:cNvPr id="60" name="Rectangle 59"/>
          <p:cNvSpPr/>
          <p:nvPr/>
        </p:nvSpPr>
        <p:spPr>
          <a:xfrm>
            <a:off x="9290304" y="5534792"/>
            <a:ext cx="2633472" cy="68219"/>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Tree>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B3FC8478-C824-C8FB-B779-525E584D3582}"/>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6" name="TextBox 5"/>
          <p:cNvSpPr txBox="1"/>
          <p:nvPr/>
        </p:nvSpPr>
        <p:spPr>
          <a:xfrm>
            <a:off x="544313" y="770849"/>
            <a:ext cx="9366209" cy="2246769"/>
          </a:xfrm>
          <a:prstGeom prst="rect">
            <a:avLst/>
          </a:prstGeom>
          <a:noFill/>
        </p:spPr>
        <p:txBody>
          <a:bodyPr wrap="square">
            <a:spAutoFit/>
          </a:bodyPr>
          <a:lstStyle/>
          <a:p>
            <a:pPr algn="l"/>
            <a:r>
              <a:rPr lang="fr-FR" sz="7000" b="1" i="0" noProof="0" dirty="0" err="1">
                <a:solidFill>
                  <a:srgbClr val="FFFFFF"/>
                </a:solidFill>
              </a:rPr>
              <a:t>Happie</a:t>
            </a:r>
            <a:r>
              <a:rPr lang="fr-FR" sz="7000" b="1" i="0" noProof="0" dirty="0">
                <a:solidFill>
                  <a:srgbClr val="FFFFFF"/>
                </a:solidFill>
              </a:rPr>
              <a:t> Animals
</a:t>
            </a:r>
          </a:p>
        </p:txBody>
      </p:sp>
      <p:pic>
        <p:nvPicPr>
          <p:cNvPr id="8" name="Picture 4" descr="Happie Horse - Management - Apps on Google Play">
            <a:extLst>
              <a:ext uri="{FF2B5EF4-FFF2-40B4-BE49-F238E27FC236}">
                <a16:creationId xmlns:a16="http://schemas.microsoft.com/office/drawing/2014/main" id="{30EC9F68-F37A-89A2-31BF-00A65C54FC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1623" y="1543666"/>
            <a:ext cx="4279600" cy="427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Image 56" descr="The image depicts a dark, abstract pattern resembling swirling, fluid oceanic or cosmic motions.&#10;&#10;Le contenu généré par l’IA peut être incorrect.">
            <a:extLst>
              <a:ext uri="{FF2B5EF4-FFF2-40B4-BE49-F238E27FC236}">
                <a16:creationId xmlns:a16="http://schemas.microsoft.com/office/drawing/2014/main" id="{B06520A8-8ED1-81C3-2C80-E079EC5BC0F5}"/>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5" name="TextBox 4"/>
          <p:cNvSpPr txBox="1"/>
          <p:nvPr/>
        </p:nvSpPr>
        <p:spPr>
          <a:xfrm>
            <a:off x="365760" y="217486"/>
            <a:ext cx="12414799" cy="707886"/>
          </a:xfrm>
          <a:prstGeom prst="rect">
            <a:avLst/>
          </a:prstGeom>
          <a:noFill/>
        </p:spPr>
        <p:txBody>
          <a:bodyPr wrap="square">
            <a:spAutoFit/>
          </a:bodyPr>
          <a:lstStyle/>
          <a:p>
            <a:pPr algn="l"/>
            <a:r>
              <a:rPr lang="fr-FR" sz="4000" b="1" i="0" noProof="0" dirty="0" err="1">
                <a:solidFill>
                  <a:srgbClr val="FFFFFF"/>
                </a:solidFill>
              </a:rPr>
              <a:t>Happie</a:t>
            </a:r>
            <a:r>
              <a:rPr lang="fr-FR" sz="4000" b="1" i="0" noProof="0" dirty="0">
                <a:solidFill>
                  <a:srgbClr val="FFFFFF"/>
                </a:solidFill>
              </a:rPr>
              <a:t> Animals — la fiche entreprise</a:t>
            </a:r>
          </a:p>
        </p:txBody>
      </p:sp>
      <p:sp>
        <p:nvSpPr>
          <p:cNvPr id="12" name="Rectangle 11"/>
          <p:cNvSpPr/>
          <p:nvPr/>
        </p:nvSpPr>
        <p:spPr>
          <a:xfrm>
            <a:off x="365760" y="1115568"/>
            <a:ext cx="5394960" cy="5186909"/>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3" name="Rectangle 12"/>
          <p:cNvSpPr/>
          <p:nvPr/>
        </p:nvSpPr>
        <p:spPr>
          <a:xfrm>
            <a:off x="365760" y="1115568"/>
            <a:ext cx="54864" cy="5186909"/>
          </a:xfrm>
          <a:prstGeom prst="rect">
            <a:avLst/>
          </a:prstGeom>
          <a:solidFill>
            <a:srgbClr val="2C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4" name="TextBox 13"/>
          <p:cNvSpPr txBox="1"/>
          <p:nvPr/>
        </p:nvSpPr>
        <p:spPr>
          <a:xfrm>
            <a:off x="548640" y="1207008"/>
            <a:ext cx="5029200" cy="400110"/>
          </a:xfrm>
          <a:prstGeom prst="rect">
            <a:avLst/>
          </a:prstGeom>
          <a:noFill/>
        </p:spPr>
        <p:txBody>
          <a:bodyPr wrap="square">
            <a:spAutoFit/>
          </a:bodyPr>
          <a:lstStyle/>
          <a:p>
            <a:pPr algn="l"/>
            <a:r>
              <a:rPr lang="fr-FR" sz="2000" b="1" i="0" noProof="0" dirty="0">
                <a:solidFill>
                  <a:srgbClr val="2CE0C8"/>
                </a:solidFill>
              </a:rPr>
              <a:t>Identité</a:t>
            </a:r>
          </a:p>
        </p:txBody>
      </p:sp>
      <p:sp>
        <p:nvSpPr>
          <p:cNvPr id="15" name="TextBox 14"/>
          <p:cNvSpPr txBox="1"/>
          <p:nvPr/>
        </p:nvSpPr>
        <p:spPr>
          <a:xfrm>
            <a:off x="548640" y="1627632"/>
            <a:ext cx="1874519" cy="369332"/>
          </a:xfrm>
          <a:prstGeom prst="rect">
            <a:avLst/>
          </a:prstGeom>
          <a:noFill/>
        </p:spPr>
        <p:txBody>
          <a:bodyPr wrap="square">
            <a:spAutoFit/>
          </a:bodyPr>
          <a:lstStyle/>
          <a:p>
            <a:pPr algn="l"/>
            <a:r>
              <a:rPr lang="fr-FR" b="1" i="0" noProof="0" dirty="0">
                <a:solidFill>
                  <a:schemeClr val="bg1"/>
                </a:solidFill>
              </a:rPr>
              <a:t>Nom légal</a:t>
            </a:r>
          </a:p>
        </p:txBody>
      </p:sp>
      <p:sp>
        <p:nvSpPr>
          <p:cNvPr id="16" name="TextBox 15"/>
          <p:cNvSpPr txBox="1"/>
          <p:nvPr/>
        </p:nvSpPr>
        <p:spPr>
          <a:xfrm>
            <a:off x="2578608" y="1627632"/>
            <a:ext cx="3063240" cy="369332"/>
          </a:xfrm>
          <a:prstGeom prst="rect">
            <a:avLst/>
          </a:prstGeom>
          <a:noFill/>
        </p:spPr>
        <p:txBody>
          <a:bodyPr wrap="square">
            <a:spAutoFit/>
          </a:bodyPr>
          <a:lstStyle/>
          <a:p>
            <a:pPr algn="l"/>
            <a:r>
              <a:rPr lang="fr-FR" b="0" i="0" noProof="0" dirty="0" err="1">
                <a:solidFill>
                  <a:srgbClr val="FFFFFF"/>
                </a:solidFill>
              </a:rPr>
              <a:t>Animalytics</a:t>
            </a:r>
            <a:r>
              <a:rPr lang="fr-FR" b="0" i="0" noProof="0" dirty="0">
                <a:solidFill>
                  <a:srgbClr val="FFFFFF"/>
                </a:solidFill>
              </a:rPr>
              <a:t> </a:t>
            </a:r>
            <a:r>
              <a:rPr lang="fr-FR" b="0" i="0" noProof="0" dirty="0" err="1">
                <a:solidFill>
                  <a:srgbClr val="FFFFFF"/>
                </a:solidFill>
              </a:rPr>
              <a:t>GmbH</a:t>
            </a:r>
            <a:endParaRPr lang="fr-FR" b="0" i="0" noProof="0" dirty="0">
              <a:solidFill>
                <a:srgbClr val="FFFFFF"/>
              </a:solidFill>
            </a:endParaRPr>
          </a:p>
        </p:txBody>
      </p:sp>
      <p:sp>
        <p:nvSpPr>
          <p:cNvPr id="17" name="Rectangle 16"/>
          <p:cNvSpPr/>
          <p:nvPr/>
        </p:nvSpPr>
        <p:spPr>
          <a:xfrm>
            <a:off x="502920" y="1993392"/>
            <a:ext cx="5120640" cy="10972"/>
          </a:xfrm>
          <a:prstGeom prst="rect">
            <a:avLst/>
          </a:prstGeom>
          <a:solidFill>
            <a:srgbClr val="103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8" name="TextBox 17"/>
          <p:cNvSpPr txBox="1"/>
          <p:nvPr/>
        </p:nvSpPr>
        <p:spPr>
          <a:xfrm>
            <a:off x="548640" y="2233922"/>
            <a:ext cx="1874519" cy="369332"/>
          </a:xfrm>
          <a:prstGeom prst="rect">
            <a:avLst/>
          </a:prstGeom>
          <a:noFill/>
        </p:spPr>
        <p:txBody>
          <a:bodyPr wrap="square">
            <a:spAutoFit/>
          </a:bodyPr>
          <a:lstStyle/>
          <a:p>
            <a:pPr algn="l"/>
            <a:r>
              <a:rPr lang="fr-FR" b="1" i="0" noProof="0" dirty="0">
                <a:solidFill>
                  <a:schemeClr val="bg1"/>
                </a:solidFill>
              </a:rPr>
              <a:t>Marque</a:t>
            </a:r>
          </a:p>
        </p:txBody>
      </p:sp>
      <p:sp>
        <p:nvSpPr>
          <p:cNvPr id="19" name="TextBox 18"/>
          <p:cNvSpPr txBox="1"/>
          <p:nvPr/>
        </p:nvSpPr>
        <p:spPr>
          <a:xfrm>
            <a:off x="2578608" y="2230222"/>
            <a:ext cx="3410712" cy="376732"/>
          </a:xfrm>
          <a:prstGeom prst="rect">
            <a:avLst/>
          </a:prstGeom>
          <a:noFill/>
        </p:spPr>
        <p:txBody>
          <a:bodyPr wrap="square">
            <a:spAutoFit/>
          </a:bodyPr>
          <a:lstStyle/>
          <a:p>
            <a:pPr algn="l"/>
            <a:r>
              <a:rPr lang="fr-FR" b="0" i="0" noProof="0" dirty="0" err="1">
                <a:solidFill>
                  <a:srgbClr val="FFFFFF"/>
                </a:solidFill>
              </a:rPr>
              <a:t>Happie</a:t>
            </a:r>
            <a:r>
              <a:rPr lang="fr-FR" b="0" i="0" noProof="0" dirty="0">
                <a:solidFill>
                  <a:srgbClr val="FFFFFF"/>
                </a:solidFill>
              </a:rPr>
              <a:t> Animals / </a:t>
            </a:r>
            <a:r>
              <a:rPr lang="fr-FR" b="0" i="0" noProof="0" dirty="0" err="1">
                <a:solidFill>
                  <a:srgbClr val="FFFFFF"/>
                </a:solidFill>
              </a:rPr>
              <a:t>Happie</a:t>
            </a:r>
            <a:r>
              <a:rPr lang="fr-FR" b="0" i="0" noProof="0" dirty="0">
                <a:solidFill>
                  <a:srgbClr val="FFFFFF"/>
                </a:solidFill>
              </a:rPr>
              <a:t> Horse </a:t>
            </a:r>
          </a:p>
        </p:txBody>
      </p:sp>
      <p:sp>
        <p:nvSpPr>
          <p:cNvPr id="20" name="Rectangle 19"/>
          <p:cNvSpPr/>
          <p:nvPr/>
        </p:nvSpPr>
        <p:spPr>
          <a:xfrm>
            <a:off x="502920" y="2651760"/>
            <a:ext cx="5120640" cy="10972"/>
          </a:xfrm>
          <a:prstGeom prst="rect">
            <a:avLst/>
          </a:prstGeom>
          <a:solidFill>
            <a:srgbClr val="103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1" name="TextBox 20"/>
          <p:cNvSpPr txBox="1"/>
          <p:nvPr/>
        </p:nvSpPr>
        <p:spPr>
          <a:xfrm>
            <a:off x="548640" y="2874163"/>
            <a:ext cx="1874519" cy="369332"/>
          </a:xfrm>
          <a:prstGeom prst="rect">
            <a:avLst/>
          </a:prstGeom>
          <a:noFill/>
        </p:spPr>
        <p:txBody>
          <a:bodyPr wrap="square">
            <a:spAutoFit/>
          </a:bodyPr>
          <a:lstStyle/>
          <a:p>
            <a:pPr algn="l"/>
            <a:r>
              <a:rPr lang="fr-FR" b="1" i="0" noProof="0" dirty="0">
                <a:solidFill>
                  <a:schemeClr val="bg1"/>
                </a:solidFill>
              </a:rPr>
              <a:t>Fondateurs</a:t>
            </a:r>
          </a:p>
        </p:txBody>
      </p:sp>
      <p:sp>
        <p:nvSpPr>
          <p:cNvPr id="22" name="TextBox 21"/>
          <p:cNvSpPr txBox="1"/>
          <p:nvPr/>
        </p:nvSpPr>
        <p:spPr>
          <a:xfrm>
            <a:off x="2563057" y="2904667"/>
            <a:ext cx="3531354" cy="323165"/>
          </a:xfrm>
          <a:prstGeom prst="rect">
            <a:avLst/>
          </a:prstGeom>
          <a:noFill/>
        </p:spPr>
        <p:txBody>
          <a:bodyPr wrap="square">
            <a:spAutoFit/>
          </a:bodyPr>
          <a:lstStyle/>
          <a:p>
            <a:pPr algn="l"/>
            <a:r>
              <a:rPr lang="fr-FR" sz="1500" b="0" i="0" noProof="0" dirty="0">
                <a:solidFill>
                  <a:srgbClr val="FFFFFF"/>
                </a:solidFill>
              </a:rPr>
              <a:t>David Harder &amp; </a:t>
            </a:r>
            <a:r>
              <a:rPr lang="fr-FR" sz="1500" b="0" i="0" noProof="0" dirty="0" err="1">
                <a:solidFill>
                  <a:srgbClr val="FFFFFF"/>
                </a:solidFill>
              </a:rPr>
              <a:t>Enri</a:t>
            </a:r>
            <a:r>
              <a:rPr lang="fr-FR" sz="1500" b="0" i="0" noProof="0" dirty="0">
                <a:solidFill>
                  <a:srgbClr val="FFFFFF"/>
                </a:solidFill>
              </a:rPr>
              <a:t> Chantal </a:t>
            </a:r>
            <a:r>
              <a:rPr lang="fr-FR" sz="1500" b="0" i="0" noProof="0" dirty="0" err="1">
                <a:solidFill>
                  <a:srgbClr val="FFFFFF"/>
                </a:solidFill>
              </a:rPr>
              <a:t>Strobel</a:t>
            </a:r>
            <a:endParaRPr lang="fr-FR" sz="1500" b="0" i="0" noProof="0" dirty="0">
              <a:solidFill>
                <a:srgbClr val="FFFFFF"/>
              </a:solidFill>
            </a:endParaRPr>
          </a:p>
        </p:txBody>
      </p:sp>
      <p:sp>
        <p:nvSpPr>
          <p:cNvPr id="23" name="Rectangle 22"/>
          <p:cNvSpPr/>
          <p:nvPr/>
        </p:nvSpPr>
        <p:spPr>
          <a:xfrm>
            <a:off x="502920" y="3310128"/>
            <a:ext cx="5120640" cy="10972"/>
          </a:xfrm>
          <a:prstGeom prst="rect">
            <a:avLst/>
          </a:prstGeom>
          <a:solidFill>
            <a:srgbClr val="103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4" name="TextBox 23"/>
          <p:cNvSpPr txBox="1"/>
          <p:nvPr/>
        </p:nvSpPr>
        <p:spPr>
          <a:xfrm>
            <a:off x="555129" y="3530540"/>
            <a:ext cx="1874519" cy="369332"/>
          </a:xfrm>
          <a:prstGeom prst="rect">
            <a:avLst/>
          </a:prstGeom>
          <a:noFill/>
        </p:spPr>
        <p:txBody>
          <a:bodyPr wrap="square">
            <a:spAutoFit/>
          </a:bodyPr>
          <a:lstStyle/>
          <a:p>
            <a:pPr algn="l"/>
            <a:r>
              <a:rPr lang="fr-FR" b="1" i="0" noProof="0" dirty="0">
                <a:solidFill>
                  <a:schemeClr val="bg1"/>
                </a:solidFill>
              </a:rPr>
              <a:t>Création</a:t>
            </a:r>
          </a:p>
        </p:txBody>
      </p:sp>
      <p:sp>
        <p:nvSpPr>
          <p:cNvPr id="25" name="TextBox 24"/>
          <p:cNvSpPr txBox="1"/>
          <p:nvPr/>
        </p:nvSpPr>
        <p:spPr>
          <a:xfrm>
            <a:off x="2578608" y="3530540"/>
            <a:ext cx="3063240" cy="369332"/>
          </a:xfrm>
          <a:prstGeom prst="rect">
            <a:avLst/>
          </a:prstGeom>
          <a:noFill/>
        </p:spPr>
        <p:txBody>
          <a:bodyPr wrap="square">
            <a:spAutoFit/>
          </a:bodyPr>
          <a:lstStyle/>
          <a:p>
            <a:pPr algn="l"/>
            <a:r>
              <a:rPr lang="fr-FR" b="0" i="0" noProof="0" dirty="0">
                <a:solidFill>
                  <a:srgbClr val="FFFFFF"/>
                </a:solidFill>
              </a:rPr>
              <a:t>2016</a:t>
            </a:r>
          </a:p>
        </p:txBody>
      </p:sp>
      <p:sp>
        <p:nvSpPr>
          <p:cNvPr id="26" name="Rectangle 25"/>
          <p:cNvSpPr/>
          <p:nvPr/>
        </p:nvSpPr>
        <p:spPr>
          <a:xfrm>
            <a:off x="502920" y="3968496"/>
            <a:ext cx="5120640" cy="10972"/>
          </a:xfrm>
          <a:prstGeom prst="rect">
            <a:avLst/>
          </a:prstGeom>
          <a:solidFill>
            <a:srgbClr val="103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7" name="TextBox 26"/>
          <p:cNvSpPr txBox="1"/>
          <p:nvPr/>
        </p:nvSpPr>
        <p:spPr>
          <a:xfrm>
            <a:off x="566929" y="4182482"/>
            <a:ext cx="1874519" cy="369332"/>
          </a:xfrm>
          <a:prstGeom prst="rect">
            <a:avLst/>
          </a:prstGeom>
          <a:noFill/>
        </p:spPr>
        <p:txBody>
          <a:bodyPr wrap="square">
            <a:spAutoFit/>
          </a:bodyPr>
          <a:lstStyle/>
          <a:p>
            <a:pPr algn="l"/>
            <a:r>
              <a:rPr lang="fr-FR" b="1" i="0" noProof="0" dirty="0" err="1">
                <a:solidFill>
                  <a:schemeClr val="bg1"/>
                </a:solidFill>
              </a:rPr>
              <a:t>Siége</a:t>
            </a:r>
            <a:endParaRPr lang="fr-FR" b="1" i="0" noProof="0" dirty="0">
              <a:solidFill>
                <a:schemeClr val="bg1"/>
              </a:solidFill>
            </a:endParaRPr>
          </a:p>
        </p:txBody>
      </p:sp>
      <p:sp>
        <p:nvSpPr>
          <p:cNvPr id="28" name="TextBox 27"/>
          <p:cNvSpPr txBox="1"/>
          <p:nvPr/>
        </p:nvSpPr>
        <p:spPr>
          <a:xfrm>
            <a:off x="2569464" y="4196001"/>
            <a:ext cx="3063240" cy="369332"/>
          </a:xfrm>
          <a:prstGeom prst="rect">
            <a:avLst/>
          </a:prstGeom>
          <a:noFill/>
        </p:spPr>
        <p:txBody>
          <a:bodyPr wrap="square">
            <a:spAutoFit/>
          </a:bodyPr>
          <a:lstStyle/>
          <a:p>
            <a:pPr algn="l"/>
            <a:r>
              <a:rPr lang="fr-FR" b="0" i="0" noProof="0" dirty="0">
                <a:solidFill>
                  <a:srgbClr val="FFFFFF"/>
                </a:solidFill>
              </a:rPr>
              <a:t>Hambourg, Allemagne</a:t>
            </a:r>
          </a:p>
        </p:txBody>
      </p:sp>
      <p:sp>
        <p:nvSpPr>
          <p:cNvPr id="29" name="Rectangle 28"/>
          <p:cNvSpPr/>
          <p:nvPr/>
        </p:nvSpPr>
        <p:spPr>
          <a:xfrm>
            <a:off x="502920" y="4626864"/>
            <a:ext cx="5120640" cy="10972"/>
          </a:xfrm>
          <a:prstGeom prst="rect">
            <a:avLst/>
          </a:prstGeom>
          <a:solidFill>
            <a:srgbClr val="103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0" name="TextBox 29"/>
          <p:cNvSpPr txBox="1"/>
          <p:nvPr/>
        </p:nvSpPr>
        <p:spPr>
          <a:xfrm>
            <a:off x="557784" y="4891126"/>
            <a:ext cx="1874519" cy="369332"/>
          </a:xfrm>
          <a:prstGeom prst="rect">
            <a:avLst/>
          </a:prstGeom>
          <a:noFill/>
        </p:spPr>
        <p:txBody>
          <a:bodyPr wrap="square">
            <a:spAutoFit/>
          </a:bodyPr>
          <a:lstStyle/>
          <a:p>
            <a:pPr algn="l"/>
            <a:r>
              <a:rPr lang="fr-FR" b="1" noProof="0" dirty="0">
                <a:solidFill>
                  <a:schemeClr val="bg1"/>
                </a:solidFill>
              </a:rPr>
              <a:t>Positionnement</a:t>
            </a:r>
          </a:p>
        </p:txBody>
      </p:sp>
      <p:sp>
        <p:nvSpPr>
          <p:cNvPr id="31" name="TextBox 30"/>
          <p:cNvSpPr txBox="1"/>
          <p:nvPr/>
        </p:nvSpPr>
        <p:spPr>
          <a:xfrm>
            <a:off x="2578608" y="4919472"/>
            <a:ext cx="3063240" cy="323165"/>
          </a:xfrm>
          <a:prstGeom prst="rect">
            <a:avLst/>
          </a:prstGeom>
          <a:noFill/>
        </p:spPr>
        <p:txBody>
          <a:bodyPr wrap="square">
            <a:spAutoFit/>
          </a:bodyPr>
          <a:lstStyle/>
          <a:p>
            <a:pPr algn="l"/>
            <a:r>
              <a:rPr lang="fr-FR" sz="1500" b="0" i="0" noProof="0" dirty="0">
                <a:solidFill>
                  <a:srgbClr val="FFFFFF"/>
                </a:solidFill>
              </a:rPr>
              <a:t>Animal </a:t>
            </a:r>
            <a:r>
              <a:rPr lang="fr-FR" sz="1500" b="0" i="0" noProof="0" dirty="0" err="1">
                <a:solidFill>
                  <a:srgbClr val="FFFFFF"/>
                </a:solidFill>
              </a:rPr>
              <a:t>Insurtech</a:t>
            </a:r>
            <a:r>
              <a:rPr lang="fr-FR" sz="1500" b="0" i="0" noProof="0" dirty="0">
                <a:solidFill>
                  <a:srgbClr val="FFFFFF"/>
                </a:solidFill>
              </a:rPr>
              <a:t> x </a:t>
            </a:r>
            <a:r>
              <a:rPr lang="fr-FR" sz="1500" b="0" i="0" noProof="0" dirty="0" err="1">
                <a:solidFill>
                  <a:srgbClr val="FFFFFF"/>
                </a:solidFill>
              </a:rPr>
              <a:t>mHealth</a:t>
            </a:r>
            <a:r>
              <a:rPr lang="fr-FR" sz="1500" b="0" i="0" noProof="0" dirty="0">
                <a:solidFill>
                  <a:srgbClr val="FFFFFF"/>
                </a:solidFill>
              </a:rPr>
              <a:t> Startup</a:t>
            </a:r>
          </a:p>
        </p:txBody>
      </p:sp>
      <p:sp>
        <p:nvSpPr>
          <p:cNvPr id="32" name="Rectangle 31"/>
          <p:cNvSpPr/>
          <p:nvPr/>
        </p:nvSpPr>
        <p:spPr>
          <a:xfrm>
            <a:off x="502920" y="5285232"/>
            <a:ext cx="5120640" cy="10972"/>
          </a:xfrm>
          <a:prstGeom prst="rect">
            <a:avLst/>
          </a:prstGeom>
          <a:solidFill>
            <a:srgbClr val="103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3" name="TextBox 32"/>
          <p:cNvSpPr txBox="1"/>
          <p:nvPr/>
        </p:nvSpPr>
        <p:spPr>
          <a:xfrm>
            <a:off x="548640" y="5577840"/>
            <a:ext cx="1874519" cy="369332"/>
          </a:xfrm>
          <a:prstGeom prst="rect">
            <a:avLst/>
          </a:prstGeom>
          <a:noFill/>
        </p:spPr>
        <p:txBody>
          <a:bodyPr wrap="square">
            <a:spAutoFit/>
          </a:bodyPr>
          <a:lstStyle/>
          <a:p>
            <a:pPr algn="l"/>
            <a:r>
              <a:rPr lang="fr-FR" b="1" dirty="0">
                <a:solidFill>
                  <a:schemeClr val="bg1"/>
                </a:solidFill>
              </a:rPr>
              <a:t>Moto</a:t>
            </a:r>
            <a:endParaRPr lang="fr-FR" b="1" i="0" noProof="0" dirty="0">
              <a:solidFill>
                <a:schemeClr val="bg1"/>
              </a:solidFill>
            </a:endParaRPr>
          </a:p>
        </p:txBody>
      </p:sp>
      <p:sp>
        <p:nvSpPr>
          <p:cNvPr id="34" name="TextBox 33"/>
          <p:cNvSpPr txBox="1"/>
          <p:nvPr/>
        </p:nvSpPr>
        <p:spPr>
          <a:xfrm>
            <a:off x="2578608" y="5419266"/>
            <a:ext cx="3063240" cy="646331"/>
          </a:xfrm>
          <a:prstGeom prst="rect">
            <a:avLst/>
          </a:prstGeom>
          <a:noFill/>
        </p:spPr>
        <p:txBody>
          <a:bodyPr wrap="square">
            <a:spAutoFit/>
          </a:bodyPr>
          <a:lstStyle/>
          <a:p>
            <a:pPr algn="l"/>
            <a:r>
              <a:rPr lang="fr-FR" b="0" i="0" noProof="0" dirty="0" err="1">
                <a:solidFill>
                  <a:srgbClr val="FFFFFF"/>
                </a:solidFill>
              </a:rPr>
              <a:t>Creating</a:t>
            </a:r>
            <a:r>
              <a:rPr lang="fr-FR" b="0" i="0" noProof="0" dirty="0">
                <a:solidFill>
                  <a:srgbClr val="FFFFFF"/>
                </a:solidFill>
              </a:rPr>
              <a:t> a </a:t>
            </a:r>
            <a:r>
              <a:rPr lang="fr-FR" b="0" i="0" noProof="0" dirty="0" err="1">
                <a:solidFill>
                  <a:srgbClr val="FFFFFF"/>
                </a:solidFill>
              </a:rPr>
              <a:t>happier</a:t>
            </a:r>
            <a:r>
              <a:rPr lang="fr-FR" b="0" i="0" noProof="0" dirty="0">
                <a:solidFill>
                  <a:srgbClr val="FFFFFF"/>
                </a:solidFill>
              </a:rPr>
              <a:t> world for </a:t>
            </a:r>
            <a:r>
              <a:rPr lang="fr-FR" b="0" i="0" noProof="0" dirty="0" err="1">
                <a:solidFill>
                  <a:srgbClr val="FFFFFF"/>
                </a:solidFill>
              </a:rPr>
              <a:t>horses</a:t>
            </a:r>
            <a:r>
              <a:rPr lang="fr-FR" b="0" i="0" noProof="0" dirty="0">
                <a:solidFill>
                  <a:srgbClr val="FFFFFF"/>
                </a:solidFill>
              </a:rPr>
              <a:t>, pets and people</a:t>
            </a:r>
          </a:p>
        </p:txBody>
      </p:sp>
      <p:sp>
        <p:nvSpPr>
          <p:cNvPr id="35" name="Rectangle 34"/>
          <p:cNvSpPr/>
          <p:nvPr/>
        </p:nvSpPr>
        <p:spPr>
          <a:xfrm>
            <a:off x="5943600" y="1115568"/>
            <a:ext cx="5897880" cy="2606040"/>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6" name="Rectangle 35"/>
          <p:cNvSpPr/>
          <p:nvPr/>
        </p:nvSpPr>
        <p:spPr>
          <a:xfrm>
            <a:off x="5943600" y="1115568"/>
            <a:ext cx="45720" cy="2606040"/>
          </a:xfrm>
          <a:prstGeom prst="rect">
            <a:avLst/>
          </a:prstGeom>
          <a:solidFill>
            <a:srgbClr val="38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7" name="TextBox 36"/>
          <p:cNvSpPr txBox="1"/>
          <p:nvPr/>
        </p:nvSpPr>
        <p:spPr>
          <a:xfrm>
            <a:off x="6126480" y="1207008"/>
            <a:ext cx="5486400" cy="400110"/>
          </a:xfrm>
          <a:prstGeom prst="rect">
            <a:avLst/>
          </a:prstGeom>
          <a:noFill/>
        </p:spPr>
        <p:txBody>
          <a:bodyPr wrap="square">
            <a:spAutoFit/>
          </a:bodyPr>
          <a:lstStyle/>
          <a:p>
            <a:pPr algn="l"/>
            <a:r>
              <a:rPr lang="fr-FR" sz="2000" b="1" i="0" noProof="0" dirty="0">
                <a:solidFill>
                  <a:srgbClr val="38D4FF"/>
                </a:solidFill>
              </a:rPr>
              <a:t>Chiffres clés</a:t>
            </a:r>
          </a:p>
        </p:txBody>
      </p:sp>
      <p:sp>
        <p:nvSpPr>
          <p:cNvPr id="38" name="TextBox 37"/>
          <p:cNvSpPr txBox="1"/>
          <p:nvPr/>
        </p:nvSpPr>
        <p:spPr>
          <a:xfrm>
            <a:off x="6126480" y="1645920"/>
            <a:ext cx="2651760" cy="548640"/>
          </a:xfrm>
          <a:prstGeom prst="rect">
            <a:avLst/>
          </a:prstGeom>
          <a:noFill/>
        </p:spPr>
        <p:txBody>
          <a:bodyPr wrap="square">
            <a:spAutoFit/>
          </a:bodyPr>
          <a:lstStyle/>
          <a:p>
            <a:pPr algn="ctr"/>
            <a:r>
              <a:rPr lang="fr-FR" sz="2400" b="1" i="0" noProof="0" dirty="0">
                <a:solidFill>
                  <a:srgbClr val="38D4FF"/>
                </a:solidFill>
              </a:rPr>
              <a:t>135 000+</a:t>
            </a:r>
          </a:p>
        </p:txBody>
      </p:sp>
      <p:sp>
        <p:nvSpPr>
          <p:cNvPr id="39" name="TextBox 38"/>
          <p:cNvSpPr txBox="1"/>
          <p:nvPr/>
        </p:nvSpPr>
        <p:spPr>
          <a:xfrm>
            <a:off x="6126480" y="2176272"/>
            <a:ext cx="2651760" cy="323165"/>
          </a:xfrm>
          <a:prstGeom prst="rect">
            <a:avLst/>
          </a:prstGeom>
          <a:noFill/>
        </p:spPr>
        <p:txBody>
          <a:bodyPr wrap="square">
            <a:spAutoFit/>
          </a:bodyPr>
          <a:lstStyle/>
          <a:p>
            <a:pPr algn="ctr"/>
            <a:r>
              <a:rPr lang="fr-FR" sz="1500" b="0" i="1" noProof="0" dirty="0">
                <a:solidFill>
                  <a:schemeClr val="bg1"/>
                </a:solidFill>
              </a:rPr>
              <a:t>Utilisateurs enregistrés</a:t>
            </a:r>
          </a:p>
        </p:txBody>
      </p:sp>
      <p:sp>
        <p:nvSpPr>
          <p:cNvPr id="40" name="TextBox 39"/>
          <p:cNvSpPr txBox="1"/>
          <p:nvPr/>
        </p:nvSpPr>
        <p:spPr>
          <a:xfrm>
            <a:off x="8961120" y="1645920"/>
            <a:ext cx="2651760" cy="461665"/>
          </a:xfrm>
          <a:prstGeom prst="rect">
            <a:avLst/>
          </a:prstGeom>
          <a:noFill/>
        </p:spPr>
        <p:txBody>
          <a:bodyPr wrap="square">
            <a:spAutoFit/>
          </a:bodyPr>
          <a:lstStyle/>
          <a:p>
            <a:pPr algn="ctr"/>
            <a:r>
              <a:rPr lang="fr-FR" sz="2400" b="1" dirty="0">
                <a:solidFill>
                  <a:srgbClr val="38D4FF"/>
                </a:solidFill>
              </a:rPr>
              <a:t>20</a:t>
            </a:r>
            <a:r>
              <a:rPr lang="fr-FR" sz="2400" b="1" i="0" noProof="0" dirty="0">
                <a:solidFill>
                  <a:srgbClr val="38D4FF"/>
                </a:solidFill>
              </a:rPr>
              <a:t> 000+</a:t>
            </a:r>
          </a:p>
        </p:txBody>
      </p:sp>
      <p:sp>
        <p:nvSpPr>
          <p:cNvPr id="41" name="TextBox 40"/>
          <p:cNvSpPr txBox="1"/>
          <p:nvPr/>
        </p:nvSpPr>
        <p:spPr>
          <a:xfrm>
            <a:off x="8961120" y="2176272"/>
            <a:ext cx="2651760" cy="323165"/>
          </a:xfrm>
          <a:prstGeom prst="rect">
            <a:avLst/>
          </a:prstGeom>
          <a:noFill/>
        </p:spPr>
        <p:txBody>
          <a:bodyPr wrap="square">
            <a:spAutoFit/>
          </a:bodyPr>
          <a:lstStyle/>
          <a:p>
            <a:pPr algn="ctr"/>
            <a:r>
              <a:rPr lang="fr-FR" sz="1500" b="0" i="1" noProof="0" dirty="0">
                <a:solidFill>
                  <a:schemeClr val="bg1"/>
                </a:solidFill>
              </a:rPr>
              <a:t>Abonnés Instagram</a:t>
            </a:r>
          </a:p>
        </p:txBody>
      </p:sp>
      <p:sp>
        <p:nvSpPr>
          <p:cNvPr id="42" name="TextBox 41"/>
          <p:cNvSpPr txBox="1"/>
          <p:nvPr/>
        </p:nvSpPr>
        <p:spPr>
          <a:xfrm>
            <a:off x="6126480" y="2697480"/>
            <a:ext cx="2651760" cy="461665"/>
          </a:xfrm>
          <a:prstGeom prst="rect">
            <a:avLst/>
          </a:prstGeom>
          <a:noFill/>
        </p:spPr>
        <p:txBody>
          <a:bodyPr wrap="square">
            <a:spAutoFit/>
          </a:bodyPr>
          <a:lstStyle/>
          <a:p>
            <a:pPr algn="ctr"/>
            <a:r>
              <a:rPr lang="fr-FR" sz="2400" b="1" i="0" noProof="0" dirty="0">
                <a:solidFill>
                  <a:srgbClr val="38D4FF"/>
                </a:solidFill>
              </a:rPr>
              <a:t>250+ exos</a:t>
            </a:r>
          </a:p>
        </p:txBody>
      </p:sp>
      <p:sp>
        <p:nvSpPr>
          <p:cNvPr id="43" name="TextBox 42"/>
          <p:cNvSpPr txBox="1"/>
          <p:nvPr/>
        </p:nvSpPr>
        <p:spPr>
          <a:xfrm>
            <a:off x="6126480" y="3227832"/>
            <a:ext cx="2651760" cy="323165"/>
          </a:xfrm>
          <a:prstGeom prst="rect">
            <a:avLst/>
          </a:prstGeom>
          <a:noFill/>
        </p:spPr>
        <p:txBody>
          <a:bodyPr wrap="square">
            <a:spAutoFit/>
          </a:bodyPr>
          <a:lstStyle/>
          <a:p>
            <a:pPr algn="ctr"/>
            <a:r>
              <a:rPr lang="fr-FR" sz="1500" b="0" i="1" noProof="0" dirty="0">
                <a:solidFill>
                  <a:schemeClr val="bg1"/>
                </a:solidFill>
              </a:rPr>
              <a:t>Exercices dans l'académie</a:t>
            </a:r>
          </a:p>
        </p:txBody>
      </p:sp>
      <p:sp>
        <p:nvSpPr>
          <p:cNvPr id="44" name="TextBox 43"/>
          <p:cNvSpPr txBox="1"/>
          <p:nvPr/>
        </p:nvSpPr>
        <p:spPr>
          <a:xfrm>
            <a:off x="8961120" y="2697480"/>
            <a:ext cx="2651760" cy="461665"/>
          </a:xfrm>
          <a:prstGeom prst="rect">
            <a:avLst/>
          </a:prstGeom>
          <a:noFill/>
        </p:spPr>
        <p:txBody>
          <a:bodyPr wrap="square">
            <a:spAutoFit/>
          </a:bodyPr>
          <a:lstStyle/>
          <a:p>
            <a:pPr algn="ctr"/>
            <a:r>
              <a:rPr lang="fr-FR" sz="2400" b="1" i="0" noProof="0" dirty="0">
                <a:solidFill>
                  <a:srgbClr val="38D4FF"/>
                </a:solidFill>
              </a:rPr>
              <a:t>3 langues</a:t>
            </a:r>
          </a:p>
        </p:txBody>
      </p:sp>
      <p:sp>
        <p:nvSpPr>
          <p:cNvPr id="46" name="Rectangle 45"/>
          <p:cNvSpPr/>
          <p:nvPr/>
        </p:nvSpPr>
        <p:spPr>
          <a:xfrm>
            <a:off x="5943600" y="3840480"/>
            <a:ext cx="5897880" cy="2461997"/>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7" name="Rectangle 46"/>
          <p:cNvSpPr/>
          <p:nvPr/>
        </p:nvSpPr>
        <p:spPr>
          <a:xfrm>
            <a:off x="5943600" y="3840480"/>
            <a:ext cx="45719" cy="2461997"/>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8" name="TextBox 47"/>
          <p:cNvSpPr txBox="1"/>
          <p:nvPr/>
        </p:nvSpPr>
        <p:spPr>
          <a:xfrm>
            <a:off x="6126480" y="3931920"/>
            <a:ext cx="5486400" cy="400110"/>
          </a:xfrm>
          <a:prstGeom prst="rect">
            <a:avLst/>
          </a:prstGeom>
          <a:noFill/>
        </p:spPr>
        <p:txBody>
          <a:bodyPr wrap="square">
            <a:spAutoFit/>
          </a:bodyPr>
          <a:lstStyle/>
          <a:p>
            <a:pPr algn="l"/>
            <a:r>
              <a:rPr lang="fr-FR" sz="2000" b="1" i="0" noProof="0" dirty="0">
                <a:solidFill>
                  <a:srgbClr val="3CE88E"/>
                </a:solidFill>
              </a:rPr>
              <a:t>Modèle économique</a:t>
            </a:r>
          </a:p>
        </p:txBody>
      </p:sp>
      <p:sp>
        <p:nvSpPr>
          <p:cNvPr id="49" name="TextBox 48"/>
          <p:cNvSpPr txBox="1"/>
          <p:nvPr/>
        </p:nvSpPr>
        <p:spPr>
          <a:xfrm>
            <a:off x="6126480" y="4370832"/>
            <a:ext cx="1645920" cy="369332"/>
          </a:xfrm>
          <a:prstGeom prst="rect">
            <a:avLst/>
          </a:prstGeom>
          <a:noFill/>
        </p:spPr>
        <p:txBody>
          <a:bodyPr wrap="square">
            <a:spAutoFit/>
          </a:bodyPr>
          <a:lstStyle/>
          <a:p>
            <a:pPr algn="l"/>
            <a:r>
              <a:rPr lang="fr-FR" b="1" i="0" noProof="0" dirty="0">
                <a:solidFill>
                  <a:schemeClr val="bg1"/>
                </a:solidFill>
              </a:rPr>
              <a:t>Freemium</a:t>
            </a:r>
          </a:p>
        </p:txBody>
      </p:sp>
      <p:sp>
        <p:nvSpPr>
          <p:cNvPr id="50" name="TextBox 49"/>
          <p:cNvSpPr txBox="1"/>
          <p:nvPr/>
        </p:nvSpPr>
        <p:spPr>
          <a:xfrm>
            <a:off x="7882126" y="4370832"/>
            <a:ext cx="4221383" cy="323165"/>
          </a:xfrm>
          <a:prstGeom prst="rect">
            <a:avLst/>
          </a:prstGeom>
          <a:noFill/>
        </p:spPr>
        <p:txBody>
          <a:bodyPr wrap="square">
            <a:spAutoFit/>
          </a:bodyPr>
          <a:lstStyle/>
          <a:p>
            <a:pPr algn="l"/>
            <a:r>
              <a:rPr lang="fr-FR" sz="1500" b="0" i="0" noProof="0" dirty="0">
                <a:solidFill>
                  <a:srgbClr val="E8EFF8"/>
                </a:solidFill>
              </a:rPr>
              <a:t>App gratuite + Premium mensuel / annuel / à vie</a:t>
            </a:r>
          </a:p>
        </p:txBody>
      </p:sp>
      <p:sp>
        <p:nvSpPr>
          <p:cNvPr id="51" name="TextBox 50"/>
          <p:cNvSpPr txBox="1"/>
          <p:nvPr/>
        </p:nvSpPr>
        <p:spPr>
          <a:xfrm>
            <a:off x="6126480" y="4846320"/>
            <a:ext cx="1645920" cy="369332"/>
          </a:xfrm>
          <a:prstGeom prst="rect">
            <a:avLst/>
          </a:prstGeom>
          <a:noFill/>
        </p:spPr>
        <p:txBody>
          <a:bodyPr wrap="square">
            <a:spAutoFit/>
          </a:bodyPr>
          <a:lstStyle/>
          <a:p>
            <a:pPr algn="l"/>
            <a:r>
              <a:rPr lang="fr-FR" b="1" i="0" noProof="0" dirty="0">
                <a:solidFill>
                  <a:schemeClr val="bg1"/>
                </a:solidFill>
              </a:rPr>
              <a:t>B2C principal</a:t>
            </a:r>
          </a:p>
        </p:txBody>
      </p:sp>
      <p:sp>
        <p:nvSpPr>
          <p:cNvPr id="52" name="TextBox 51"/>
          <p:cNvSpPr txBox="1"/>
          <p:nvPr/>
        </p:nvSpPr>
        <p:spPr>
          <a:xfrm>
            <a:off x="7889451" y="4865725"/>
            <a:ext cx="4898432" cy="323165"/>
          </a:xfrm>
          <a:prstGeom prst="rect">
            <a:avLst/>
          </a:prstGeom>
          <a:noFill/>
        </p:spPr>
        <p:txBody>
          <a:bodyPr wrap="square">
            <a:spAutoFit/>
          </a:bodyPr>
          <a:lstStyle/>
          <a:p>
            <a:pPr algn="l"/>
            <a:r>
              <a:rPr lang="fr-FR" sz="1500" b="0" i="0" noProof="0" dirty="0">
                <a:solidFill>
                  <a:srgbClr val="E8EFF8"/>
                </a:solidFill>
              </a:rPr>
              <a:t>Propriétaires de chevaux, centres équestres</a:t>
            </a:r>
          </a:p>
        </p:txBody>
      </p:sp>
      <p:sp>
        <p:nvSpPr>
          <p:cNvPr id="53" name="TextBox 52"/>
          <p:cNvSpPr txBox="1"/>
          <p:nvPr/>
        </p:nvSpPr>
        <p:spPr>
          <a:xfrm>
            <a:off x="6126480" y="5321808"/>
            <a:ext cx="1645920" cy="369332"/>
          </a:xfrm>
          <a:prstGeom prst="rect">
            <a:avLst/>
          </a:prstGeom>
          <a:noFill/>
        </p:spPr>
        <p:txBody>
          <a:bodyPr wrap="square">
            <a:spAutoFit/>
          </a:bodyPr>
          <a:lstStyle/>
          <a:p>
            <a:pPr algn="l"/>
            <a:r>
              <a:rPr lang="fr-FR" b="1" i="0" noProof="0" dirty="0">
                <a:solidFill>
                  <a:schemeClr val="bg1"/>
                </a:solidFill>
              </a:rPr>
              <a:t>B2B émergent</a:t>
            </a:r>
          </a:p>
        </p:txBody>
      </p:sp>
      <p:sp>
        <p:nvSpPr>
          <p:cNvPr id="54" name="TextBox 53"/>
          <p:cNvSpPr txBox="1"/>
          <p:nvPr/>
        </p:nvSpPr>
        <p:spPr>
          <a:xfrm>
            <a:off x="7882127" y="5343221"/>
            <a:ext cx="3794760" cy="323165"/>
          </a:xfrm>
          <a:prstGeom prst="rect">
            <a:avLst/>
          </a:prstGeom>
          <a:noFill/>
        </p:spPr>
        <p:txBody>
          <a:bodyPr wrap="square">
            <a:spAutoFit/>
          </a:bodyPr>
          <a:lstStyle/>
          <a:p>
            <a:pPr algn="l"/>
            <a:r>
              <a:rPr lang="fr-FR" sz="1500" b="0" i="0" noProof="0" dirty="0">
                <a:solidFill>
                  <a:srgbClr val="E8EFF8"/>
                </a:solidFill>
              </a:rPr>
              <a:t>Différentes </a:t>
            </a:r>
            <a:r>
              <a:rPr lang="fr-FR" sz="1500" dirty="0">
                <a:solidFill>
                  <a:srgbClr val="E8EFF8"/>
                </a:solidFill>
              </a:rPr>
              <a:t>a</a:t>
            </a:r>
            <a:r>
              <a:rPr lang="fr-FR" sz="1500" b="0" i="0" noProof="0" dirty="0" err="1">
                <a:solidFill>
                  <a:srgbClr val="E8EFF8"/>
                </a:solidFill>
              </a:rPr>
              <a:t>ssurances</a:t>
            </a:r>
            <a:r>
              <a:rPr lang="fr-FR" sz="1500" b="0" i="0" noProof="0" dirty="0">
                <a:solidFill>
                  <a:srgbClr val="E8EFF8"/>
                </a:solidFill>
              </a:rPr>
              <a:t> animales (</a:t>
            </a:r>
            <a:r>
              <a:rPr lang="fr-FR" sz="1500" b="0" i="0" noProof="0" dirty="0" err="1">
                <a:solidFill>
                  <a:srgbClr val="E8EFF8"/>
                </a:solidFill>
              </a:rPr>
              <a:t>Insurtech</a:t>
            </a:r>
            <a:r>
              <a:rPr lang="fr-FR" sz="1500" b="0" i="0" noProof="0" dirty="0">
                <a:solidFill>
                  <a:srgbClr val="E8EFF8"/>
                </a:solidFill>
              </a:rPr>
              <a:t>)</a:t>
            </a:r>
          </a:p>
        </p:txBody>
      </p:sp>
      <p:sp>
        <p:nvSpPr>
          <p:cNvPr id="55" name="TextBox 54"/>
          <p:cNvSpPr txBox="1"/>
          <p:nvPr/>
        </p:nvSpPr>
        <p:spPr>
          <a:xfrm>
            <a:off x="6126480" y="5797296"/>
            <a:ext cx="1645920" cy="369332"/>
          </a:xfrm>
          <a:prstGeom prst="rect">
            <a:avLst/>
          </a:prstGeom>
          <a:noFill/>
        </p:spPr>
        <p:txBody>
          <a:bodyPr wrap="square">
            <a:spAutoFit/>
          </a:bodyPr>
          <a:lstStyle/>
          <a:p>
            <a:pPr algn="l"/>
            <a:r>
              <a:rPr lang="fr-FR" b="1" i="0" noProof="0" dirty="0">
                <a:solidFill>
                  <a:schemeClr val="bg1"/>
                </a:solidFill>
              </a:rPr>
              <a:t>Shop</a:t>
            </a:r>
          </a:p>
        </p:txBody>
      </p:sp>
      <p:sp>
        <p:nvSpPr>
          <p:cNvPr id="56" name="TextBox 55"/>
          <p:cNvSpPr txBox="1"/>
          <p:nvPr/>
        </p:nvSpPr>
        <p:spPr>
          <a:xfrm>
            <a:off x="7882126" y="5797296"/>
            <a:ext cx="4142233" cy="323165"/>
          </a:xfrm>
          <a:prstGeom prst="rect">
            <a:avLst/>
          </a:prstGeom>
          <a:noFill/>
        </p:spPr>
        <p:txBody>
          <a:bodyPr wrap="square">
            <a:spAutoFit/>
          </a:bodyPr>
          <a:lstStyle/>
          <a:p>
            <a:pPr algn="l"/>
            <a:r>
              <a:rPr lang="fr-FR" sz="1500" b="0" i="0" noProof="0" dirty="0">
                <a:solidFill>
                  <a:srgbClr val="E8EFF8"/>
                </a:solidFill>
              </a:rPr>
              <a:t>Produits physiques équestres ()</a:t>
            </a:r>
          </a:p>
        </p:txBody>
      </p:sp>
      <p:pic>
        <p:nvPicPr>
          <p:cNvPr id="1028" name="Picture 4" descr="Drapeau flag Anglais, Royaume Unis, Grande Bretagne, Angleterre ,150*90cm  tissus 100% polyester neuf,Multicolor,Multicolor,150CM X 90CM : Amazon.fr:  ...">
            <a:extLst>
              <a:ext uri="{FF2B5EF4-FFF2-40B4-BE49-F238E27FC236}">
                <a16:creationId xmlns:a16="http://schemas.microsoft.com/office/drawing/2014/main" id="{AF708B77-E81A-E517-5571-ADC821DCB0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09857" y="3267534"/>
            <a:ext cx="399544" cy="19977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llemagne : Politique, Relations avec l'UE, Géographie, Economie,  Histoire... - Touteleurope.eu">
            <a:extLst>
              <a:ext uri="{FF2B5EF4-FFF2-40B4-BE49-F238E27FC236}">
                <a16:creationId xmlns:a16="http://schemas.microsoft.com/office/drawing/2014/main" id="{EAE197E6-E89A-6FE5-4359-537BB24CA1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92281" y="3250585"/>
            <a:ext cx="399544" cy="22037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BB5D9549-9DBF-C580-FE59-241532ED08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74705" y="3250585"/>
            <a:ext cx="339469" cy="2264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Image 38" descr="The image depicts a dark, abstract pattern resembling swirling, fluid oceanic or cosmic motions.&#10;&#10;Le contenu généré par l’IA peut être incorrect.">
            <a:extLst>
              <a:ext uri="{FF2B5EF4-FFF2-40B4-BE49-F238E27FC236}">
                <a16:creationId xmlns:a16="http://schemas.microsoft.com/office/drawing/2014/main" id="{921099FB-C4BA-4EA3-E143-8E18FBA6571D}"/>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5" name="TextBox 4"/>
          <p:cNvSpPr txBox="1"/>
          <p:nvPr/>
        </p:nvSpPr>
        <p:spPr>
          <a:xfrm>
            <a:off x="383950" y="270522"/>
            <a:ext cx="9326880" cy="707886"/>
          </a:xfrm>
          <a:prstGeom prst="rect">
            <a:avLst/>
          </a:prstGeom>
          <a:noFill/>
        </p:spPr>
        <p:txBody>
          <a:bodyPr wrap="square">
            <a:spAutoFit/>
          </a:bodyPr>
          <a:lstStyle/>
          <a:p>
            <a:pPr algn="l"/>
            <a:r>
              <a:rPr lang="fr-FR" sz="4000" b="1" i="0" noProof="0" dirty="0">
                <a:solidFill>
                  <a:srgbClr val="FFFFFF"/>
                </a:solidFill>
              </a:rPr>
              <a:t>Architecture du site happieanimals.com</a:t>
            </a:r>
          </a:p>
        </p:txBody>
      </p:sp>
      <p:graphicFrame>
        <p:nvGraphicFramePr>
          <p:cNvPr id="13" name="Table 12"/>
          <p:cNvGraphicFramePr>
            <a:graphicFrameLocks noGrp="1"/>
          </p:cNvGraphicFramePr>
          <p:nvPr>
            <p:extLst>
              <p:ext uri="{D42A27DB-BD31-4B8C-83A1-F6EECF244321}">
                <p14:modId xmlns:p14="http://schemas.microsoft.com/office/powerpoint/2010/main" val="3003254382"/>
              </p:ext>
            </p:extLst>
          </p:nvPr>
        </p:nvGraphicFramePr>
        <p:xfrm>
          <a:off x="365760" y="1481328"/>
          <a:ext cx="5760720" cy="5074920"/>
        </p:xfrm>
        <a:graphic>
          <a:graphicData uri="http://schemas.openxmlformats.org/drawingml/2006/table">
            <a:tbl>
              <a:tblPr firstRow="1" bandRow="1">
                <a:tableStyleId>{5C22544A-7EE6-4342-B048-85BDC9FD1C3A}</a:tableStyleId>
              </a:tblPr>
              <a:tblGrid>
                <a:gridCol w="12344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724988">
                <a:tc>
                  <a:txBody>
                    <a:bodyPr/>
                    <a:lstStyle/>
                    <a:p>
                      <a:pPr algn="ctr"/>
                      <a:r>
                        <a:rPr lang="fr-FR" sz="1500" b="1" noProof="0" dirty="0">
                          <a:solidFill>
                            <a:srgbClr val="38D4FF"/>
                          </a:solidFill>
                        </a:rPr>
                        <a:t>Couche</a:t>
                      </a:r>
                    </a:p>
                  </a:txBody>
                  <a:tcPr marT="63500" marB="63500">
                    <a:solidFill>
                      <a:srgbClr val="051A42"/>
                    </a:solidFill>
                  </a:tcPr>
                </a:tc>
                <a:tc>
                  <a:txBody>
                    <a:bodyPr/>
                    <a:lstStyle/>
                    <a:p>
                      <a:pPr algn="ctr"/>
                      <a:r>
                        <a:rPr lang="fr-FR" sz="1500" b="1" noProof="0" dirty="0">
                          <a:solidFill>
                            <a:srgbClr val="38D4FF"/>
                          </a:solidFill>
                        </a:rPr>
                        <a:t>Technologie détectée</a:t>
                      </a:r>
                    </a:p>
                  </a:txBody>
                  <a:tcPr marT="63500" marB="63500">
                    <a:solidFill>
                      <a:srgbClr val="051A42"/>
                    </a:solidFill>
                  </a:tcPr>
                </a:tc>
                <a:tc>
                  <a:txBody>
                    <a:bodyPr/>
                    <a:lstStyle/>
                    <a:p>
                      <a:pPr algn="ctr"/>
                      <a:r>
                        <a:rPr lang="fr-FR" sz="1500" b="1" noProof="0" dirty="0">
                          <a:solidFill>
                            <a:srgbClr val="38D4FF"/>
                          </a:solidFill>
                        </a:rPr>
                        <a:t>Observation</a:t>
                      </a:r>
                    </a:p>
                  </a:txBody>
                  <a:tcPr marT="63500" marB="63500">
                    <a:solidFill>
                      <a:srgbClr val="051A42"/>
                    </a:solidFill>
                  </a:tcPr>
                </a:tc>
                <a:extLst>
                  <a:ext uri="{0D108BD9-81ED-4DB2-BD59-A6C34878D82A}">
                    <a16:rowId xmlns:a16="http://schemas.microsoft.com/office/drawing/2014/main" val="10000"/>
                  </a:ext>
                </a:extLst>
              </a:tr>
              <a:tr h="724988">
                <a:tc>
                  <a:txBody>
                    <a:bodyPr/>
                    <a:lstStyle/>
                    <a:p>
                      <a:pPr algn="l"/>
                      <a:r>
                        <a:rPr lang="fr-FR" sz="1300" noProof="0" dirty="0">
                          <a:solidFill>
                            <a:srgbClr val="E8EFF8"/>
                          </a:solidFill>
                        </a:rPr>
                        <a:t>CMS</a:t>
                      </a:r>
                    </a:p>
                  </a:txBody>
                  <a:tcPr marT="50800" marB="50800">
                    <a:solidFill>
                      <a:srgbClr val="061430"/>
                    </a:solidFill>
                  </a:tcPr>
                </a:tc>
                <a:tc>
                  <a:txBody>
                    <a:bodyPr/>
                    <a:lstStyle/>
                    <a:p>
                      <a:pPr algn="ctr"/>
                      <a:r>
                        <a:rPr lang="fr-FR" sz="1300" noProof="0" dirty="0">
                          <a:solidFill>
                            <a:srgbClr val="E8EFF8"/>
                          </a:solidFill>
                        </a:rPr>
                        <a:t>WordPress</a:t>
                      </a:r>
                    </a:p>
                  </a:txBody>
                  <a:tcPr marT="50800" marB="50800">
                    <a:solidFill>
                      <a:srgbClr val="061430"/>
                    </a:solidFill>
                  </a:tcPr>
                </a:tc>
                <a:tc>
                  <a:txBody>
                    <a:bodyPr/>
                    <a:lstStyle/>
                    <a:p>
                      <a:pPr algn="ctr"/>
                      <a:r>
                        <a:rPr lang="fr-FR" sz="1300" noProof="0" dirty="0">
                          <a:solidFill>
                            <a:srgbClr val="E8EFF8"/>
                          </a:solidFill>
                        </a:rPr>
                        <a:t>Visible via /</a:t>
                      </a:r>
                      <a:r>
                        <a:rPr lang="fr-FR" sz="1300" noProof="0" dirty="0" err="1">
                          <a:solidFill>
                            <a:srgbClr val="E8EFF8"/>
                          </a:solidFill>
                        </a:rPr>
                        <a:t>wp</a:t>
                      </a:r>
                      <a:r>
                        <a:rPr lang="fr-FR" sz="1300" noProof="0" dirty="0">
                          <a:solidFill>
                            <a:srgbClr val="E8EFF8"/>
                          </a:solidFill>
                        </a:rPr>
                        <a:t>-content/ dans les URLs</a:t>
                      </a:r>
                    </a:p>
                  </a:txBody>
                  <a:tcPr marT="50800" marB="50800">
                    <a:solidFill>
                      <a:srgbClr val="061430"/>
                    </a:solidFill>
                  </a:tcPr>
                </a:tc>
                <a:extLst>
                  <a:ext uri="{0D108BD9-81ED-4DB2-BD59-A6C34878D82A}">
                    <a16:rowId xmlns:a16="http://schemas.microsoft.com/office/drawing/2014/main" val="10001"/>
                  </a:ext>
                </a:extLst>
              </a:tr>
              <a:tr h="724988">
                <a:tc>
                  <a:txBody>
                    <a:bodyPr/>
                    <a:lstStyle/>
                    <a:p>
                      <a:pPr algn="l"/>
                      <a:r>
                        <a:rPr lang="fr-FR" sz="1300" noProof="0" dirty="0">
                          <a:solidFill>
                            <a:srgbClr val="E8EFF8"/>
                          </a:solidFill>
                        </a:rPr>
                        <a:t>Multilingue</a:t>
                      </a:r>
                    </a:p>
                  </a:txBody>
                  <a:tcPr marT="50800" marB="50800">
                    <a:solidFill>
                      <a:srgbClr val="041028"/>
                    </a:solidFill>
                  </a:tcPr>
                </a:tc>
                <a:tc>
                  <a:txBody>
                    <a:bodyPr/>
                    <a:lstStyle/>
                    <a:p>
                      <a:pPr algn="ctr"/>
                      <a:r>
                        <a:rPr lang="fr-FR" sz="1300" noProof="0" dirty="0">
                          <a:solidFill>
                            <a:srgbClr val="E8EFF8"/>
                          </a:solidFill>
                        </a:rPr>
                        <a:t>WPML Plugin</a:t>
                      </a:r>
                    </a:p>
                  </a:txBody>
                  <a:tcPr marT="50800" marB="50800">
                    <a:solidFill>
                      <a:srgbClr val="041028"/>
                    </a:solidFill>
                  </a:tcPr>
                </a:tc>
                <a:tc>
                  <a:txBody>
                    <a:bodyPr/>
                    <a:lstStyle/>
                    <a:p>
                      <a:pPr algn="ctr"/>
                      <a:r>
                        <a:rPr lang="fr-FR" sz="1300" noProof="0" dirty="0">
                          <a:solidFill>
                            <a:srgbClr val="E8EFF8"/>
                          </a:solidFill>
                        </a:rPr>
                        <a:t>3 langues — EN / DE / ES, sous-répertoires</a:t>
                      </a:r>
                    </a:p>
                  </a:txBody>
                  <a:tcPr marT="50800" marB="50800">
                    <a:solidFill>
                      <a:srgbClr val="041028"/>
                    </a:solidFill>
                  </a:tcPr>
                </a:tc>
                <a:extLst>
                  <a:ext uri="{0D108BD9-81ED-4DB2-BD59-A6C34878D82A}">
                    <a16:rowId xmlns:a16="http://schemas.microsoft.com/office/drawing/2014/main" val="10002"/>
                  </a:ext>
                </a:extLst>
              </a:tr>
              <a:tr h="724988">
                <a:tc>
                  <a:txBody>
                    <a:bodyPr/>
                    <a:lstStyle/>
                    <a:p>
                      <a:pPr algn="l"/>
                      <a:r>
                        <a:rPr lang="fr-FR" sz="1300" noProof="0" dirty="0">
                          <a:solidFill>
                            <a:srgbClr val="E8EFF8"/>
                          </a:solidFill>
                        </a:rPr>
                        <a:t>E-commerce</a:t>
                      </a:r>
                    </a:p>
                  </a:txBody>
                  <a:tcPr marT="50800" marB="50800">
                    <a:solidFill>
                      <a:srgbClr val="061430"/>
                    </a:solidFill>
                  </a:tcPr>
                </a:tc>
                <a:tc>
                  <a:txBody>
                    <a:bodyPr/>
                    <a:lstStyle/>
                    <a:p>
                      <a:pPr algn="ctr"/>
                      <a:r>
                        <a:rPr lang="fr-FR" sz="1300" noProof="0" dirty="0" err="1">
                          <a:solidFill>
                            <a:srgbClr val="E8EFF8"/>
                          </a:solidFill>
                        </a:rPr>
                        <a:t>WooCommerce</a:t>
                      </a:r>
                      <a:r>
                        <a:rPr lang="fr-FR" sz="1300" noProof="0" dirty="0">
                          <a:solidFill>
                            <a:srgbClr val="E8EFF8"/>
                          </a:solidFill>
                        </a:rPr>
                        <a:t> (probable)</a:t>
                      </a:r>
                    </a:p>
                  </a:txBody>
                  <a:tcPr marT="50800" marB="50800">
                    <a:solidFill>
                      <a:srgbClr val="061430"/>
                    </a:solidFill>
                  </a:tcPr>
                </a:tc>
                <a:tc>
                  <a:txBody>
                    <a:bodyPr/>
                    <a:lstStyle/>
                    <a:p>
                      <a:pPr algn="ctr"/>
                      <a:r>
                        <a:rPr lang="fr-FR" sz="1300" noProof="0" dirty="0">
                          <a:solidFill>
                            <a:srgbClr val="E8EFF8"/>
                          </a:solidFill>
                        </a:rPr>
                        <a:t>Gestion panier, </a:t>
                      </a:r>
                      <a:r>
                        <a:rPr lang="fr-FR" sz="1300" noProof="0" dirty="0" err="1">
                          <a:solidFill>
                            <a:srgbClr val="E8EFF8"/>
                          </a:solidFill>
                        </a:rPr>
                        <a:t>checkout</a:t>
                      </a:r>
                      <a:r>
                        <a:rPr lang="fr-FR" sz="1300" noProof="0" dirty="0">
                          <a:solidFill>
                            <a:srgbClr val="E8EFF8"/>
                          </a:solidFill>
                        </a:rPr>
                        <a:t>, produits physiques</a:t>
                      </a:r>
                    </a:p>
                  </a:txBody>
                  <a:tcPr marT="50800" marB="50800">
                    <a:solidFill>
                      <a:srgbClr val="061430"/>
                    </a:solidFill>
                  </a:tcPr>
                </a:tc>
                <a:extLst>
                  <a:ext uri="{0D108BD9-81ED-4DB2-BD59-A6C34878D82A}">
                    <a16:rowId xmlns:a16="http://schemas.microsoft.com/office/drawing/2014/main" val="10003"/>
                  </a:ext>
                </a:extLst>
              </a:tr>
              <a:tr h="724988">
                <a:tc>
                  <a:txBody>
                    <a:bodyPr/>
                    <a:lstStyle/>
                    <a:p>
                      <a:pPr algn="l"/>
                      <a:r>
                        <a:rPr lang="fr-FR" sz="1300" noProof="0" dirty="0">
                          <a:solidFill>
                            <a:srgbClr val="E8EFF8"/>
                          </a:solidFill>
                        </a:rPr>
                        <a:t>FAQ</a:t>
                      </a:r>
                    </a:p>
                  </a:txBody>
                  <a:tcPr marT="50800" marB="50800">
                    <a:solidFill>
                      <a:srgbClr val="041028"/>
                    </a:solidFill>
                  </a:tcPr>
                </a:tc>
                <a:tc>
                  <a:txBody>
                    <a:bodyPr/>
                    <a:lstStyle/>
                    <a:p>
                      <a:pPr algn="ctr"/>
                      <a:r>
                        <a:rPr lang="fr-FR" sz="1300" noProof="0" dirty="0">
                          <a:solidFill>
                            <a:srgbClr val="E8EFF8"/>
                          </a:solidFill>
                        </a:rPr>
                        <a:t>Sous-domaine faq.happieanimals.com</a:t>
                      </a:r>
                    </a:p>
                  </a:txBody>
                  <a:tcPr marT="50800" marB="50800">
                    <a:solidFill>
                      <a:srgbClr val="041028"/>
                    </a:solidFill>
                  </a:tcPr>
                </a:tc>
                <a:tc>
                  <a:txBody>
                    <a:bodyPr/>
                    <a:lstStyle/>
                    <a:p>
                      <a:pPr algn="ctr"/>
                      <a:r>
                        <a:rPr lang="fr-FR" sz="1300" noProof="0" dirty="0" err="1">
                          <a:solidFill>
                            <a:srgbClr val="E8EFF8"/>
                          </a:solidFill>
                        </a:rPr>
                        <a:t>Separe</a:t>
                      </a:r>
                      <a:r>
                        <a:rPr lang="fr-FR" sz="1300" noProof="0" dirty="0">
                          <a:solidFill>
                            <a:srgbClr val="E8EFF8"/>
                          </a:solidFill>
                        </a:rPr>
                        <a:t> du CMS — </a:t>
                      </a:r>
                      <a:r>
                        <a:rPr lang="fr-FR" sz="1300" noProof="0" dirty="0" err="1">
                          <a:solidFill>
                            <a:srgbClr val="E8EFF8"/>
                          </a:solidFill>
                        </a:rPr>
                        <a:t>likely</a:t>
                      </a:r>
                      <a:r>
                        <a:rPr lang="fr-FR" sz="1300" noProof="0" dirty="0">
                          <a:solidFill>
                            <a:srgbClr val="E8EFF8"/>
                          </a:solidFill>
                        </a:rPr>
                        <a:t> </a:t>
                      </a:r>
                      <a:r>
                        <a:rPr lang="fr-FR" sz="1300" noProof="0" dirty="0" err="1">
                          <a:solidFill>
                            <a:srgbClr val="E8EFF8"/>
                          </a:solidFill>
                        </a:rPr>
                        <a:t>Zendesk</a:t>
                      </a:r>
                      <a:r>
                        <a:rPr lang="fr-FR" sz="1300" noProof="0" dirty="0">
                          <a:solidFill>
                            <a:srgbClr val="E8EFF8"/>
                          </a:solidFill>
                        </a:rPr>
                        <a:t> / Notion</a:t>
                      </a:r>
                    </a:p>
                  </a:txBody>
                  <a:tcPr marT="50800" marB="50800">
                    <a:solidFill>
                      <a:srgbClr val="041028"/>
                    </a:solidFill>
                  </a:tcPr>
                </a:tc>
                <a:extLst>
                  <a:ext uri="{0D108BD9-81ED-4DB2-BD59-A6C34878D82A}">
                    <a16:rowId xmlns:a16="http://schemas.microsoft.com/office/drawing/2014/main" val="10004"/>
                  </a:ext>
                </a:extLst>
              </a:tr>
              <a:tr h="724988">
                <a:tc>
                  <a:txBody>
                    <a:bodyPr/>
                    <a:lstStyle/>
                    <a:p>
                      <a:pPr algn="l"/>
                      <a:r>
                        <a:rPr lang="fr-FR" sz="1300" noProof="0" dirty="0">
                          <a:solidFill>
                            <a:srgbClr val="E8EFF8"/>
                          </a:solidFill>
                        </a:rPr>
                        <a:t>Support</a:t>
                      </a:r>
                    </a:p>
                  </a:txBody>
                  <a:tcPr marT="50800" marB="50800">
                    <a:solidFill>
                      <a:srgbClr val="061430"/>
                    </a:solidFill>
                  </a:tcPr>
                </a:tc>
                <a:tc>
                  <a:txBody>
                    <a:bodyPr/>
                    <a:lstStyle/>
                    <a:p>
                      <a:pPr algn="ctr"/>
                      <a:r>
                        <a:rPr lang="fr-FR" sz="1300" noProof="0" dirty="0">
                          <a:solidFill>
                            <a:srgbClr val="E8EFF8"/>
                          </a:solidFill>
                        </a:rPr>
                        <a:t>Chat bouton bleu (Intercom / </a:t>
                      </a:r>
                      <a:r>
                        <a:rPr lang="fr-FR" sz="1300" noProof="0" dirty="0" err="1">
                          <a:solidFill>
                            <a:srgbClr val="E8EFF8"/>
                          </a:solidFill>
                        </a:rPr>
                        <a:t>Crisp</a:t>
                      </a:r>
                      <a:r>
                        <a:rPr lang="fr-FR" sz="1300" noProof="0" dirty="0">
                          <a:solidFill>
                            <a:srgbClr val="E8EFF8"/>
                          </a:solidFill>
                        </a:rPr>
                        <a:t>)</a:t>
                      </a:r>
                    </a:p>
                  </a:txBody>
                  <a:tcPr marT="50800" marB="50800">
                    <a:solidFill>
                      <a:srgbClr val="061430"/>
                    </a:solidFill>
                  </a:tcPr>
                </a:tc>
                <a:tc>
                  <a:txBody>
                    <a:bodyPr/>
                    <a:lstStyle/>
                    <a:p>
                      <a:pPr algn="ctr"/>
                      <a:r>
                        <a:rPr lang="fr-FR" sz="1300" noProof="0" dirty="0">
                          <a:solidFill>
                            <a:srgbClr val="E8EFF8"/>
                          </a:solidFill>
                        </a:rPr>
                        <a:t>Support en direct sur le site</a:t>
                      </a:r>
                    </a:p>
                  </a:txBody>
                  <a:tcPr marT="50800" marB="50800">
                    <a:solidFill>
                      <a:srgbClr val="061430"/>
                    </a:solidFill>
                  </a:tcPr>
                </a:tc>
                <a:extLst>
                  <a:ext uri="{0D108BD9-81ED-4DB2-BD59-A6C34878D82A}">
                    <a16:rowId xmlns:a16="http://schemas.microsoft.com/office/drawing/2014/main" val="10005"/>
                  </a:ext>
                </a:extLst>
              </a:tr>
              <a:tr h="724992">
                <a:tc>
                  <a:txBody>
                    <a:bodyPr/>
                    <a:lstStyle/>
                    <a:p>
                      <a:pPr algn="l"/>
                      <a:r>
                        <a:rPr lang="fr-FR" sz="1300" noProof="0" dirty="0">
                          <a:solidFill>
                            <a:srgbClr val="E8EFF8"/>
                          </a:solidFill>
                        </a:rPr>
                        <a:t>App mobile</a:t>
                      </a:r>
                    </a:p>
                  </a:txBody>
                  <a:tcPr marT="50800" marB="50800">
                    <a:solidFill>
                      <a:srgbClr val="041028"/>
                    </a:solidFill>
                  </a:tcPr>
                </a:tc>
                <a:tc>
                  <a:txBody>
                    <a:bodyPr/>
                    <a:lstStyle/>
                    <a:p>
                      <a:pPr algn="ctr"/>
                      <a:r>
                        <a:rPr lang="fr-FR" sz="1300" noProof="0" dirty="0">
                          <a:solidFill>
                            <a:srgbClr val="E8EFF8"/>
                          </a:solidFill>
                        </a:rPr>
                        <a:t>iOS + Android natif</a:t>
                      </a:r>
                    </a:p>
                  </a:txBody>
                  <a:tcPr marT="50800" marB="50800">
                    <a:solidFill>
                      <a:srgbClr val="041028"/>
                    </a:solidFill>
                  </a:tcPr>
                </a:tc>
                <a:tc>
                  <a:txBody>
                    <a:bodyPr/>
                    <a:lstStyle/>
                    <a:p>
                      <a:pPr algn="ctr"/>
                      <a:r>
                        <a:rPr lang="fr-FR" sz="1300" noProof="0" dirty="0">
                          <a:solidFill>
                            <a:srgbClr val="E8EFF8"/>
                          </a:solidFill>
                        </a:rPr>
                        <a:t>Publiée Google Play &amp; Apple Store</a:t>
                      </a:r>
                    </a:p>
                  </a:txBody>
                  <a:tcPr marT="50800" marB="50800">
                    <a:solidFill>
                      <a:srgbClr val="041028"/>
                    </a:solidFill>
                  </a:tcPr>
                </a:tc>
                <a:extLst>
                  <a:ext uri="{0D108BD9-81ED-4DB2-BD59-A6C34878D82A}">
                    <a16:rowId xmlns:a16="http://schemas.microsoft.com/office/drawing/2014/main" val="10006"/>
                  </a:ext>
                </a:extLst>
              </a:tr>
            </a:tbl>
          </a:graphicData>
        </a:graphic>
      </p:graphicFrame>
      <p:sp>
        <p:nvSpPr>
          <p:cNvPr id="15" name="Rectangle 14"/>
          <p:cNvSpPr/>
          <p:nvPr/>
        </p:nvSpPr>
        <p:spPr>
          <a:xfrm>
            <a:off x="6446520" y="1481328"/>
            <a:ext cx="5486400" cy="886968"/>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6" name="Rectangle 15"/>
          <p:cNvSpPr/>
          <p:nvPr/>
        </p:nvSpPr>
        <p:spPr>
          <a:xfrm>
            <a:off x="6446520" y="1481328"/>
            <a:ext cx="45720" cy="886968"/>
          </a:xfrm>
          <a:prstGeom prst="rect">
            <a:avLst/>
          </a:prstGeom>
          <a:solidFill>
            <a:srgbClr val="2C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7" name="TextBox 16"/>
          <p:cNvSpPr txBox="1"/>
          <p:nvPr/>
        </p:nvSpPr>
        <p:spPr>
          <a:xfrm>
            <a:off x="6611112" y="1554480"/>
            <a:ext cx="5212080" cy="329184"/>
          </a:xfrm>
          <a:prstGeom prst="rect">
            <a:avLst/>
          </a:prstGeom>
          <a:noFill/>
        </p:spPr>
        <p:txBody>
          <a:bodyPr wrap="square">
            <a:spAutoFit/>
          </a:bodyPr>
          <a:lstStyle/>
          <a:p>
            <a:pPr algn="l"/>
            <a:r>
              <a:rPr lang="fr-FR" sz="1500" b="1" i="0" noProof="0" dirty="0">
                <a:solidFill>
                  <a:srgbClr val="2CE0C8"/>
                </a:solidFill>
              </a:rPr>
              <a:t>Site web WordPress</a:t>
            </a:r>
          </a:p>
        </p:txBody>
      </p:sp>
      <p:sp>
        <p:nvSpPr>
          <p:cNvPr id="18" name="TextBox 17"/>
          <p:cNvSpPr txBox="1"/>
          <p:nvPr/>
        </p:nvSpPr>
        <p:spPr>
          <a:xfrm>
            <a:off x="6611112" y="1938528"/>
            <a:ext cx="5212080" cy="276999"/>
          </a:xfrm>
          <a:prstGeom prst="rect">
            <a:avLst/>
          </a:prstGeom>
          <a:noFill/>
        </p:spPr>
        <p:txBody>
          <a:bodyPr wrap="square">
            <a:spAutoFit/>
          </a:bodyPr>
          <a:lstStyle/>
          <a:p>
            <a:pPr algn="l"/>
            <a:r>
              <a:rPr lang="fr-FR" sz="1200" b="0" i="1" noProof="0" dirty="0">
                <a:solidFill>
                  <a:schemeClr val="bg1"/>
                </a:solidFill>
              </a:rPr>
              <a:t>Marketing, SEO, contenu éducatif, blog, landing pages</a:t>
            </a:r>
          </a:p>
        </p:txBody>
      </p:sp>
      <p:sp>
        <p:nvSpPr>
          <p:cNvPr id="19" name="Rectangle 18"/>
          <p:cNvSpPr/>
          <p:nvPr/>
        </p:nvSpPr>
        <p:spPr>
          <a:xfrm>
            <a:off x="9006840" y="2368296"/>
            <a:ext cx="365760" cy="91440"/>
          </a:xfrm>
          <a:prstGeom prst="rect">
            <a:avLst/>
          </a:prstGeom>
          <a:solidFill>
            <a:srgbClr val="A8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0" name="Rectangle 19"/>
          <p:cNvSpPr/>
          <p:nvPr/>
        </p:nvSpPr>
        <p:spPr>
          <a:xfrm>
            <a:off x="6446520" y="2459736"/>
            <a:ext cx="5486400" cy="886968"/>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1" name="Rectangle 20"/>
          <p:cNvSpPr/>
          <p:nvPr/>
        </p:nvSpPr>
        <p:spPr>
          <a:xfrm>
            <a:off x="6446520" y="2459736"/>
            <a:ext cx="45720" cy="886968"/>
          </a:xfrm>
          <a:prstGeom prst="rect">
            <a:avLst/>
          </a:prstGeom>
          <a:solidFill>
            <a:srgbClr val="29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2" name="TextBox 21"/>
          <p:cNvSpPr txBox="1"/>
          <p:nvPr/>
        </p:nvSpPr>
        <p:spPr>
          <a:xfrm>
            <a:off x="6611112" y="2532888"/>
            <a:ext cx="5212080" cy="329184"/>
          </a:xfrm>
          <a:prstGeom prst="rect">
            <a:avLst/>
          </a:prstGeom>
          <a:noFill/>
        </p:spPr>
        <p:txBody>
          <a:bodyPr wrap="square">
            <a:spAutoFit/>
          </a:bodyPr>
          <a:lstStyle/>
          <a:p>
            <a:pPr algn="l"/>
            <a:r>
              <a:rPr lang="fr-FR" sz="1500" b="1" i="0" noProof="0" dirty="0">
                <a:solidFill>
                  <a:srgbClr val="2978FF"/>
                </a:solidFill>
              </a:rPr>
              <a:t>App mobile iOS / Android</a:t>
            </a:r>
          </a:p>
        </p:txBody>
      </p:sp>
      <p:sp>
        <p:nvSpPr>
          <p:cNvPr id="23" name="TextBox 22"/>
          <p:cNvSpPr txBox="1"/>
          <p:nvPr/>
        </p:nvSpPr>
        <p:spPr>
          <a:xfrm>
            <a:off x="6611112" y="2916936"/>
            <a:ext cx="5212080" cy="276999"/>
          </a:xfrm>
          <a:prstGeom prst="rect">
            <a:avLst/>
          </a:prstGeom>
          <a:noFill/>
        </p:spPr>
        <p:txBody>
          <a:bodyPr wrap="square">
            <a:spAutoFit/>
          </a:bodyPr>
          <a:lstStyle/>
          <a:p>
            <a:pPr algn="l"/>
            <a:r>
              <a:rPr lang="fr-FR" sz="1200" b="0" i="1" noProof="0" dirty="0">
                <a:solidFill>
                  <a:schemeClr val="bg1"/>
                </a:solidFill>
              </a:rPr>
              <a:t>Gestion cheval : sante, entrainement, GPS, alimentation</a:t>
            </a:r>
          </a:p>
        </p:txBody>
      </p:sp>
      <p:sp>
        <p:nvSpPr>
          <p:cNvPr id="24" name="Rectangle 23"/>
          <p:cNvSpPr/>
          <p:nvPr/>
        </p:nvSpPr>
        <p:spPr>
          <a:xfrm>
            <a:off x="9006840" y="3346704"/>
            <a:ext cx="365760" cy="91440"/>
          </a:xfrm>
          <a:prstGeom prst="rect">
            <a:avLst/>
          </a:prstGeom>
          <a:solidFill>
            <a:srgbClr val="A8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5" name="Rectangle 24"/>
          <p:cNvSpPr/>
          <p:nvPr/>
        </p:nvSpPr>
        <p:spPr>
          <a:xfrm>
            <a:off x="6446520" y="3438144"/>
            <a:ext cx="5486400" cy="886968"/>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6" name="Rectangle 25"/>
          <p:cNvSpPr/>
          <p:nvPr/>
        </p:nvSpPr>
        <p:spPr>
          <a:xfrm>
            <a:off x="6446520" y="3438144"/>
            <a:ext cx="45720" cy="886968"/>
          </a:xfrm>
          <a:prstGeom prst="rect">
            <a:avLst/>
          </a:prstGeom>
          <a:solidFill>
            <a:srgbClr val="38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7" name="TextBox 26"/>
          <p:cNvSpPr txBox="1"/>
          <p:nvPr/>
        </p:nvSpPr>
        <p:spPr>
          <a:xfrm>
            <a:off x="6611112" y="3511296"/>
            <a:ext cx="5212080" cy="329184"/>
          </a:xfrm>
          <a:prstGeom prst="rect">
            <a:avLst/>
          </a:prstGeom>
          <a:noFill/>
        </p:spPr>
        <p:txBody>
          <a:bodyPr wrap="square">
            <a:spAutoFit/>
          </a:bodyPr>
          <a:lstStyle/>
          <a:p>
            <a:pPr algn="l"/>
            <a:r>
              <a:rPr lang="fr-FR" sz="1500" b="1" i="0" noProof="0" dirty="0">
                <a:solidFill>
                  <a:srgbClr val="38D4FF"/>
                </a:solidFill>
              </a:rPr>
              <a:t>API backend</a:t>
            </a:r>
          </a:p>
        </p:txBody>
      </p:sp>
      <p:sp>
        <p:nvSpPr>
          <p:cNvPr id="28" name="TextBox 27"/>
          <p:cNvSpPr txBox="1"/>
          <p:nvPr/>
        </p:nvSpPr>
        <p:spPr>
          <a:xfrm>
            <a:off x="6611112" y="3895344"/>
            <a:ext cx="5212080" cy="276999"/>
          </a:xfrm>
          <a:prstGeom prst="rect">
            <a:avLst/>
          </a:prstGeom>
          <a:noFill/>
        </p:spPr>
        <p:txBody>
          <a:bodyPr wrap="square">
            <a:spAutoFit/>
          </a:bodyPr>
          <a:lstStyle/>
          <a:p>
            <a:pPr algn="l"/>
            <a:r>
              <a:rPr lang="fr-FR" sz="1200" b="0" i="1" noProof="0" dirty="0">
                <a:solidFill>
                  <a:srgbClr val="E8EFF8"/>
                </a:solidFill>
              </a:rPr>
              <a:t>Serveur REST — profils, données sante, synchronisation</a:t>
            </a:r>
          </a:p>
        </p:txBody>
      </p:sp>
      <p:sp>
        <p:nvSpPr>
          <p:cNvPr id="29" name="Rectangle 28"/>
          <p:cNvSpPr/>
          <p:nvPr/>
        </p:nvSpPr>
        <p:spPr>
          <a:xfrm>
            <a:off x="9006840" y="4325112"/>
            <a:ext cx="365760" cy="91440"/>
          </a:xfrm>
          <a:prstGeom prst="rect">
            <a:avLst/>
          </a:prstGeom>
          <a:solidFill>
            <a:srgbClr val="A8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0" name="Rectangle 29"/>
          <p:cNvSpPr/>
          <p:nvPr/>
        </p:nvSpPr>
        <p:spPr>
          <a:xfrm>
            <a:off x="6446520" y="4416552"/>
            <a:ext cx="5486400" cy="886968"/>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1" name="Rectangle 30"/>
          <p:cNvSpPr/>
          <p:nvPr/>
        </p:nvSpPr>
        <p:spPr>
          <a:xfrm>
            <a:off x="6446520" y="4416552"/>
            <a:ext cx="45720" cy="886968"/>
          </a:xfrm>
          <a:prstGeom prst="rect">
            <a:avLst/>
          </a:prstGeom>
          <a:solidFill>
            <a:srgbClr val="5BA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2" name="TextBox 31"/>
          <p:cNvSpPr txBox="1"/>
          <p:nvPr/>
        </p:nvSpPr>
        <p:spPr>
          <a:xfrm>
            <a:off x="6611112" y="4489704"/>
            <a:ext cx="5212080" cy="329184"/>
          </a:xfrm>
          <a:prstGeom prst="rect">
            <a:avLst/>
          </a:prstGeom>
          <a:noFill/>
        </p:spPr>
        <p:txBody>
          <a:bodyPr wrap="square">
            <a:spAutoFit/>
          </a:bodyPr>
          <a:lstStyle/>
          <a:p>
            <a:pPr algn="l"/>
            <a:r>
              <a:rPr lang="fr-FR" sz="1500" b="1" i="0" noProof="0" dirty="0">
                <a:solidFill>
                  <a:srgbClr val="5BA8FF"/>
                </a:solidFill>
              </a:rPr>
              <a:t>IA — </a:t>
            </a:r>
            <a:r>
              <a:rPr lang="fr-FR" sz="1500" b="1" i="0" noProof="0" dirty="0" err="1">
                <a:solidFill>
                  <a:srgbClr val="5BA8FF"/>
                </a:solidFill>
              </a:rPr>
              <a:t>Happie</a:t>
            </a:r>
            <a:r>
              <a:rPr lang="fr-FR" sz="1500" b="1" i="0" noProof="0" dirty="0">
                <a:solidFill>
                  <a:srgbClr val="5BA8FF"/>
                </a:solidFill>
              </a:rPr>
              <a:t> Assistant</a:t>
            </a:r>
          </a:p>
        </p:txBody>
      </p:sp>
      <p:sp>
        <p:nvSpPr>
          <p:cNvPr id="33" name="TextBox 32"/>
          <p:cNvSpPr txBox="1"/>
          <p:nvPr/>
        </p:nvSpPr>
        <p:spPr>
          <a:xfrm>
            <a:off x="6611112" y="4873752"/>
            <a:ext cx="5212080" cy="276999"/>
          </a:xfrm>
          <a:prstGeom prst="rect">
            <a:avLst/>
          </a:prstGeom>
          <a:noFill/>
        </p:spPr>
        <p:txBody>
          <a:bodyPr wrap="square">
            <a:spAutoFit/>
          </a:bodyPr>
          <a:lstStyle/>
          <a:p>
            <a:pPr algn="l"/>
            <a:r>
              <a:rPr lang="fr-FR" sz="1200" b="0" i="1" noProof="0" dirty="0">
                <a:solidFill>
                  <a:srgbClr val="E8EFF8"/>
                </a:solidFill>
              </a:rPr>
              <a:t>LLM contextualise (GPT-4o / Claude probable) sur données cheval</a:t>
            </a:r>
          </a:p>
        </p:txBody>
      </p:sp>
      <p:sp>
        <p:nvSpPr>
          <p:cNvPr id="34" name="Rectangle 33"/>
          <p:cNvSpPr/>
          <p:nvPr/>
        </p:nvSpPr>
        <p:spPr>
          <a:xfrm>
            <a:off x="9006840" y="5303520"/>
            <a:ext cx="365760" cy="91440"/>
          </a:xfrm>
          <a:prstGeom prst="rect">
            <a:avLst/>
          </a:prstGeom>
          <a:solidFill>
            <a:srgbClr val="A8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5" name="Rectangle 34"/>
          <p:cNvSpPr/>
          <p:nvPr/>
        </p:nvSpPr>
        <p:spPr>
          <a:xfrm>
            <a:off x="6446520" y="5394960"/>
            <a:ext cx="5486400" cy="886968"/>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6" name="Rectangle 35"/>
          <p:cNvSpPr/>
          <p:nvPr/>
        </p:nvSpPr>
        <p:spPr>
          <a:xfrm>
            <a:off x="6446520" y="5394960"/>
            <a:ext cx="45720" cy="886968"/>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7" name="TextBox 36"/>
          <p:cNvSpPr txBox="1"/>
          <p:nvPr/>
        </p:nvSpPr>
        <p:spPr>
          <a:xfrm>
            <a:off x="6611112" y="5468112"/>
            <a:ext cx="5212080" cy="329184"/>
          </a:xfrm>
          <a:prstGeom prst="rect">
            <a:avLst/>
          </a:prstGeom>
          <a:noFill/>
        </p:spPr>
        <p:txBody>
          <a:bodyPr wrap="square">
            <a:spAutoFit/>
          </a:bodyPr>
          <a:lstStyle/>
          <a:p>
            <a:pPr algn="l"/>
            <a:r>
              <a:rPr lang="fr-FR" sz="1500" b="1" i="0" noProof="0" dirty="0">
                <a:solidFill>
                  <a:srgbClr val="3CE88E"/>
                </a:solidFill>
              </a:rPr>
              <a:t>BDD (Base de données)</a:t>
            </a:r>
          </a:p>
        </p:txBody>
      </p:sp>
      <p:sp>
        <p:nvSpPr>
          <p:cNvPr id="38" name="TextBox 37"/>
          <p:cNvSpPr txBox="1"/>
          <p:nvPr/>
        </p:nvSpPr>
        <p:spPr>
          <a:xfrm>
            <a:off x="6611112" y="5852160"/>
            <a:ext cx="5212080" cy="276999"/>
          </a:xfrm>
          <a:prstGeom prst="rect">
            <a:avLst/>
          </a:prstGeom>
          <a:noFill/>
        </p:spPr>
        <p:txBody>
          <a:bodyPr wrap="square">
            <a:spAutoFit/>
          </a:bodyPr>
          <a:lstStyle/>
          <a:p>
            <a:pPr algn="l"/>
            <a:r>
              <a:rPr lang="fr-FR" sz="1200" b="0" i="1" noProof="0" dirty="0">
                <a:solidFill>
                  <a:schemeClr val="bg1"/>
                </a:solidFill>
              </a:rPr>
              <a:t>Profils chevaux, historiques sante, </a:t>
            </a:r>
            <a:r>
              <a:rPr lang="fr-FR" sz="1200" b="0" i="1" noProof="0" dirty="0" err="1">
                <a:solidFill>
                  <a:schemeClr val="bg1"/>
                </a:solidFill>
              </a:rPr>
              <a:t>embeddings</a:t>
            </a:r>
            <a:r>
              <a:rPr lang="fr-FR" sz="1200" b="0" i="1" noProof="0" dirty="0">
                <a:solidFill>
                  <a:schemeClr val="bg1"/>
                </a:solidFill>
              </a:rPr>
              <a:t> si RAG</a:t>
            </a:r>
          </a:p>
        </p:txBody>
      </p:sp>
    </p:spTree>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descr="The image depicts a dark, abstract pattern resembling swirling, fluid oceanic or cosmic motions.&#10;&#10;Le contenu généré par l’IA peut être incorrect.">
            <a:extLst>
              <a:ext uri="{FF2B5EF4-FFF2-40B4-BE49-F238E27FC236}">
                <a16:creationId xmlns:a16="http://schemas.microsoft.com/office/drawing/2014/main" id="{E5445731-DD7F-5BC7-4738-2628C00C9104}"/>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5" name="TextBox 4"/>
          <p:cNvSpPr txBox="1"/>
          <p:nvPr/>
        </p:nvSpPr>
        <p:spPr>
          <a:xfrm>
            <a:off x="347472" y="210312"/>
            <a:ext cx="11169542" cy="707886"/>
          </a:xfrm>
          <a:prstGeom prst="rect">
            <a:avLst/>
          </a:prstGeom>
          <a:noFill/>
        </p:spPr>
        <p:txBody>
          <a:bodyPr wrap="square">
            <a:spAutoFit/>
          </a:bodyPr>
          <a:lstStyle/>
          <a:p>
            <a:pPr algn="l"/>
            <a:r>
              <a:rPr lang="fr-FR" sz="4000" b="1" i="0" noProof="0" dirty="0">
                <a:solidFill>
                  <a:srgbClr val="FFFFFF"/>
                </a:solidFill>
              </a:rPr>
              <a:t>L'assistant IA </a:t>
            </a:r>
            <a:r>
              <a:rPr lang="fr-FR" sz="4000" b="1" i="0" noProof="0" dirty="0" err="1">
                <a:solidFill>
                  <a:srgbClr val="FFFFFF"/>
                </a:solidFill>
              </a:rPr>
              <a:t>Happie</a:t>
            </a:r>
            <a:r>
              <a:rPr lang="fr-FR" sz="4000" b="1" i="0" noProof="0" dirty="0">
                <a:solidFill>
                  <a:srgbClr val="FFFFFF"/>
                </a:solidFill>
              </a:rPr>
              <a:t> Horse — analyse fonctionnelle</a:t>
            </a:r>
          </a:p>
        </p:txBody>
      </p:sp>
      <p:sp>
        <p:nvSpPr>
          <p:cNvPr id="13" name="Rectangle 12"/>
          <p:cNvSpPr/>
          <p:nvPr/>
        </p:nvSpPr>
        <p:spPr>
          <a:xfrm>
            <a:off x="365760" y="1536192"/>
            <a:ext cx="5669280" cy="1444752"/>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4" name="Rectangle 13"/>
          <p:cNvSpPr/>
          <p:nvPr/>
        </p:nvSpPr>
        <p:spPr>
          <a:xfrm>
            <a:off x="365760" y="1536192"/>
            <a:ext cx="45720" cy="1444752"/>
          </a:xfrm>
          <a:prstGeom prst="rect">
            <a:avLst/>
          </a:prstGeom>
          <a:solidFill>
            <a:srgbClr val="2C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5" name="TextBox 14"/>
          <p:cNvSpPr txBox="1"/>
          <p:nvPr/>
        </p:nvSpPr>
        <p:spPr>
          <a:xfrm>
            <a:off x="548640" y="1627632"/>
            <a:ext cx="5394960" cy="553998"/>
          </a:xfrm>
          <a:prstGeom prst="rect">
            <a:avLst/>
          </a:prstGeom>
          <a:noFill/>
        </p:spPr>
        <p:txBody>
          <a:bodyPr wrap="square">
            <a:spAutoFit/>
          </a:bodyPr>
          <a:lstStyle/>
          <a:p>
            <a:pPr algn="l"/>
            <a:r>
              <a:rPr lang="fr-FR" sz="3000" b="1" i="0" noProof="0" dirty="0">
                <a:solidFill>
                  <a:srgbClr val="2CE0C8"/>
                </a:solidFill>
              </a:rPr>
              <a:t>Sant</a:t>
            </a:r>
            <a:r>
              <a:rPr lang="fr-FR" sz="3000" b="1" dirty="0">
                <a:solidFill>
                  <a:srgbClr val="2CE0C8"/>
                </a:solidFill>
              </a:rPr>
              <a:t>é</a:t>
            </a:r>
            <a:r>
              <a:rPr lang="fr-FR" sz="3000" b="1" i="0" noProof="0" dirty="0">
                <a:solidFill>
                  <a:srgbClr val="2CE0C8"/>
                </a:solidFill>
              </a:rPr>
              <a:t> et symptômes</a:t>
            </a:r>
          </a:p>
        </p:txBody>
      </p:sp>
      <p:sp>
        <p:nvSpPr>
          <p:cNvPr id="16" name="TextBox 15"/>
          <p:cNvSpPr txBox="1"/>
          <p:nvPr/>
        </p:nvSpPr>
        <p:spPr>
          <a:xfrm>
            <a:off x="548640" y="2244237"/>
            <a:ext cx="5742432" cy="492443"/>
          </a:xfrm>
          <a:prstGeom prst="rect">
            <a:avLst/>
          </a:prstGeom>
          <a:noFill/>
        </p:spPr>
        <p:txBody>
          <a:bodyPr wrap="square">
            <a:spAutoFit/>
          </a:bodyPr>
          <a:lstStyle/>
          <a:p>
            <a:pPr algn="l"/>
            <a:r>
              <a:rPr lang="fr-FR" sz="1300" b="0" i="1" noProof="0" dirty="0">
                <a:solidFill>
                  <a:srgbClr val="E8EFF8"/>
                </a:solidFill>
              </a:rPr>
              <a:t>Consultation sur poids, température, pouls, respiration, ACTH / cortisol
Diagnostic d'orientation — pas substitut vétérinaire (disclaimer explicite)</a:t>
            </a:r>
          </a:p>
        </p:txBody>
      </p:sp>
      <p:sp>
        <p:nvSpPr>
          <p:cNvPr id="17" name="Rectangle 16"/>
          <p:cNvSpPr/>
          <p:nvPr/>
        </p:nvSpPr>
        <p:spPr>
          <a:xfrm>
            <a:off x="6291072" y="1536192"/>
            <a:ext cx="5669280" cy="1444752"/>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8" name="Rectangle 17"/>
          <p:cNvSpPr/>
          <p:nvPr/>
        </p:nvSpPr>
        <p:spPr>
          <a:xfrm>
            <a:off x="6291072" y="1536192"/>
            <a:ext cx="45720" cy="1444752"/>
          </a:xfrm>
          <a:prstGeom prst="rect">
            <a:avLst/>
          </a:prstGeom>
          <a:solidFill>
            <a:srgbClr val="2C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9" name="TextBox 18"/>
          <p:cNvSpPr txBox="1"/>
          <p:nvPr/>
        </p:nvSpPr>
        <p:spPr>
          <a:xfrm>
            <a:off x="6473952" y="1627632"/>
            <a:ext cx="5394960" cy="553998"/>
          </a:xfrm>
          <a:prstGeom prst="rect">
            <a:avLst/>
          </a:prstGeom>
          <a:noFill/>
        </p:spPr>
        <p:txBody>
          <a:bodyPr wrap="square">
            <a:spAutoFit/>
          </a:bodyPr>
          <a:lstStyle/>
          <a:p>
            <a:pPr algn="l"/>
            <a:r>
              <a:rPr lang="fr-FR" sz="3000" b="1" i="0" noProof="0" dirty="0">
                <a:solidFill>
                  <a:srgbClr val="2CE0C8"/>
                </a:solidFill>
              </a:rPr>
              <a:t>Gestion nutritionnelle</a:t>
            </a:r>
          </a:p>
        </p:txBody>
      </p:sp>
      <p:sp>
        <p:nvSpPr>
          <p:cNvPr id="20" name="TextBox 19"/>
          <p:cNvSpPr txBox="1"/>
          <p:nvPr/>
        </p:nvSpPr>
        <p:spPr>
          <a:xfrm>
            <a:off x="6547104" y="2244237"/>
            <a:ext cx="5394960" cy="492443"/>
          </a:xfrm>
          <a:prstGeom prst="rect">
            <a:avLst/>
          </a:prstGeom>
          <a:noFill/>
        </p:spPr>
        <p:txBody>
          <a:bodyPr wrap="square">
            <a:spAutoFit/>
          </a:bodyPr>
          <a:lstStyle/>
          <a:p>
            <a:pPr algn="l"/>
            <a:r>
              <a:rPr lang="fr-FR" sz="1300" b="0" i="1" noProof="0" dirty="0">
                <a:solidFill>
                  <a:srgbClr val="E8EFF8"/>
                </a:solidFill>
              </a:rPr>
              <a:t>Suivi alimentation, risques fructane prairies
Conseils adaptes race, poids, âge du cheval</a:t>
            </a:r>
          </a:p>
        </p:txBody>
      </p:sp>
      <p:sp>
        <p:nvSpPr>
          <p:cNvPr id="21" name="Rectangle 20"/>
          <p:cNvSpPr/>
          <p:nvPr/>
        </p:nvSpPr>
        <p:spPr>
          <a:xfrm>
            <a:off x="365760" y="3108960"/>
            <a:ext cx="5669280" cy="1444752"/>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2" name="Rectangle 21"/>
          <p:cNvSpPr/>
          <p:nvPr/>
        </p:nvSpPr>
        <p:spPr>
          <a:xfrm>
            <a:off x="365760" y="3108960"/>
            <a:ext cx="45720" cy="1444752"/>
          </a:xfrm>
          <a:prstGeom prst="rect">
            <a:avLst/>
          </a:prstGeom>
          <a:solidFill>
            <a:srgbClr val="2C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3" name="TextBox 22"/>
          <p:cNvSpPr txBox="1"/>
          <p:nvPr/>
        </p:nvSpPr>
        <p:spPr>
          <a:xfrm>
            <a:off x="548640" y="3200400"/>
            <a:ext cx="5394960" cy="553998"/>
          </a:xfrm>
          <a:prstGeom prst="rect">
            <a:avLst/>
          </a:prstGeom>
          <a:noFill/>
        </p:spPr>
        <p:txBody>
          <a:bodyPr wrap="square">
            <a:spAutoFit/>
          </a:bodyPr>
          <a:lstStyle/>
          <a:p>
            <a:pPr algn="l"/>
            <a:r>
              <a:rPr lang="fr-FR" sz="3000" b="1" i="0" noProof="0" dirty="0">
                <a:solidFill>
                  <a:srgbClr val="2CE0C8"/>
                </a:solidFill>
              </a:rPr>
              <a:t>Entrainement personnalise</a:t>
            </a:r>
          </a:p>
        </p:txBody>
      </p:sp>
      <p:sp>
        <p:nvSpPr>
          <p:cNvPr id="24" name="TextBox 23"/>
          <p:cNvSpPr txBox="1"/>
          <p:nvPr/>
        </p:nvSpPr>
        <p:spPr>
          <a:xfrm>
            <a:off x="588952" y="3831336"/>
            <a:ext cx="5394960" cy="492443"/>
          </a:xfrm>
          <a:prstGeom prst="rect">
            <a:avLst/>
          </a:prstGeom>
          <a:noFill/>
        </p:spPr>
        <p:txBody>
          <a:bodyPr wrap="square">
            <a:spAutoFit/>
          </a:bodyPr>
          <a:lstStyle/>
          <a:p>
            <a:pPr algn="l"/>
            <a:r>
              <a:rPr lang="fr-FR" sz="1300" b="0" i="1" noProof="0" dirty="0">
                <a:solidFill>
                  <a:srgbClr val="E8EFF8"/>
                </a:solidFill>
              </a:rPr>
              <a:t>Plans de séances bases sur les habitudes enregistrées
Recommandations de progression depuis l'historique app</a:t>
            </a:r>
          </a:p>
        </p:txBody>
      </p:sp>
      <p:sp>
        <p:nvSpPr>
          <p:cNvPr id="25" name="Rectangle 24"/>
          <p:cNvSpPr/>
          <p:nvPr/>
        </p:nvSpPr>
        <p:spPr>
          <a:xfrm>
            <a:off x="6291072" y="3108960"/>
            <a:ext cx="5669280" cy="1444752"/>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6" name="Rectangle 25"/>
          <p:cNvSpPr/>
          <p:nvPr/>
        </p:nvSpPr>
        <p:spPr>
          <a:xfrm>
            <a:off x="6291072" y="3108960"/>
            <a:ext cx="45720" cy="1444752"/>
          </a:xfrm>
          <a:prstGeom prst="rect">
            <a:avLst/>
          </a:prstGeom>
          <a:solidFill>
            <a:srgbClr val="2C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7" name="TextBox 26"/>
          <p:cNvSpPr txBox="1"/>
          <p:nvPr/>
        </p:nvSpPr>
        <p:spPr>
          <a:xfrm>
            <a:off x="6473952" y="3200400"/>
            <a:ext cx="5394960" cy="553998"/>
          </a:xfrm>
          <a:prstGeom prst="rect">
            <a:avLst/>
          </a:prstGeom>
          <a:noFill/>
        </p:spPr>
        <p:txBody>
          <a:bodyPr wrap="square">
            <a:spAutoFit/>
          </a:bodyPr>
          <a:lstStyle/>
          <a:p>
            <a:pPr algn="l"/>
            <a:r>
              <a:rPr lang="fr-FR" sz="3000" b="1" i="0" noProof="0" dirty="0">
                <a:solidFill>
                  <a:srgbClr val="2CE0C8"/>
                </a:solidFill>
              </a:rPr>
              <a:t>Contexte cheval spécifique</a:t>
            </a:r>
          </a:p>
        </p:txBody>
      </p:sp>
      <p:sp>
        <p:nvSpPr>
          <p:cNvPr id="28" name="TextBox 27"/>
          <p:cNvSpPr txBox="1"/>
          <p:nvPr/>
        </p:nvSpPr>
        <p:spPr>
          <a:xfrm>
            <a:off x="6547104" y="3790974"/>
            <a:ext cx="5394960" cy="492443"/>
          </a:xfrm>
          <a:prstGeom prst="rect">
            <a:avLst/>
          </a:prstGeom>
          <a:noFill/>
        </p:spPr>
        <p:txBody>
          <a:bodyPr wrap="square">
            <a:spAutoFit/>
          </a:bodyPr>
          <a:lstStyle/>
          <a:p>
            <a:pPr algn="l"/>
            <a:r>
              <a:rPr lang="fr-FR" sz="1300" b="0" i="1" noProof="0" dirty="0">
                <a:solidFill>
                  <a:srgbClr val="E8EFF8"/>
                </a:solidFill>
              </a:rPr>
              <a:t>L'assistant connait race, âge, sexe, valeurs sante
Réponses individualisées — pas des conseils génériques</a:t>
            </a:r>
          </a:p>
        </p:txBody>
      </p:sp>
      <p:sp>
        <p:nvSpPr>
          <p:cNvPr id="30" name="Rectangle 29"/>
          <p:cNvSpPr/>
          <p:nvPr/>
        </p:nvSpPr>
        <p:spPr>
          <a:xfrm>
            <a:off x="365760" y="5138928"/>
            <a:ext cx="2194560" cy="1134053"/>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1" name="Rectangle 30"/>
          <p:cNvSpPr/>
          <p:nvPr/>
        </p:nvSpPr>
        <p:spPr>
          <a:xfrm>
            <a:off x="365760" y="5138928"/>
            <a:ext cx="54864" cy="1134053"/>
          </a:xfrm>
          <a:prstGeom prst="rect">
            <a:avLst/>
          </a:prstGeom>
          <a:solidFill>
            <a:srgbClr val="2C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2" name="TextBox 31"/>
          <p:cNvSpPr txBox="1"/>
          <p:nvPr/>
        </p:nvSpPr>
        <p:spPr>
          <a:xfrm>
            <a:off x="493776" y="5230368"/>
            <a:ext cx="1993392" cy="323165"/>
          </a:xfrm>
          <a:prstGeom prst="rect">
            <a:avLst/>
          </a:prstGeom>
          <a:noFill/>
        </p:spPr>
        <p:txBody>
          <a:bodyPr wrap="square">
            <a:spAutoFit/>
          </a:bodyPr>
          <a:lstStyle/>
          <a:p>
            <a:pPr algn="l"/>
            <a:r>
              <a:rPr lang="fr-FR" sz="1500" b="1" i="0" noProof="0" dirty="0">
                <a:solidFill>
                  <a:srgbClr val="2CE0C8"/>
                </a:solidFill>
              </a:rPr>
              <a:t>LLM sous-jacent</a:t>
            </a:r>
          </a:p>
        </p:txBody>
      </p:sp>
      <p:sp>
        <p:nvSpPr>
          <p:cNvPr id="33" name="TextBox 32"/>
          <p:cNvSpPr txBox="1"/>
          <p:nvPr/>
        </p:nvSpPr>
        <p:spPr>
          <a:xfrm>
            <a:off x="493776" y="5614416"/>
            <a:ext cx="1993392" cy="461665"/>
          </a:xfrm>
          <a:prstGeom prst="rect">
            <a:avLst/>
          </a:prstGeom>
          <a:noFill/>
        </p:spPr>
        <p:txBody>
          <a:bodyPr wrap="square">
            <a:spAutoFit/>
          </a:bodyPr>
          <a:lstStyle/>
          <a:p>
            <a:pPr algn="l"/>
            <a:r>
              <a:rPr lang="fr-FR" sz="1200" b="0" i="1" noProof="0" dirty="0">
                <a:solidFill>
                  <a:srgbClr val="E8EFF8"/>
                </a:solidFill>
              </a:rPr>
              <a:t>GPT-4o ou Claude 3.5
(</a:t>
            </a:r>
            <a:r>
              <a:rPr lang="fr-FR" sz="1200" i="1" dirty="0">
                <a:solidFill>
                  <a:srgbClr val="E8EFF8"/>
                </a:solidFill>
              </a:rPr>
              <a:t>pas encore</a:t>
            </a:r>
            <a:r>
              <a:rPr lang="fr-FR" sz="1200" b="0" i="1" noProof="0" dirty="0">
                <a:solidFill>
                  <a:srgbClr val="E8EFF8"/>
                </a:solidFill>
              </a:rPr>
              <a:t> publié)</a:t>
            </a:r>
          </a:p>
        </p:txBody>
      </p:sp>
      <p:sp>
        <p:nvSpPr>
          <p:cNvPr id="34" name="Rectangle 33"/>
          <p:cNvSpPr/>
          <p:nvPr/>
        </p:nvSpPr>
        <p:spPr>
          <a:xfrm>
            <a:off x="2670048" y="5138928"/>
            <a:ext cx="2194560" cy="1134053"/>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5" name="Rectangle 34"/>
          <p:cNvSpPr/>
          <p:nvPr/>
        </p:nvSpPr>
        <p:spPr>
          <a:xfrm>
            <a:off x="2670048" y="5138927"/>
            <a:ext cx="54864" cy="1134053"/>
          </a:xfrm>
          <a:prstGeom prst="rect">
            <a:avLst/>
          </a:prstGeom>
          <a:solidFill>
            <a:srgbClr val="2C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6" name="TextBox 35"/>
          <p:cNvSpPr txBox="1"/>
          <p:nvPr/>
        </p:nvSpPr>
        <p:spPr>
          <a:xfrm>
            <a:off x="2798064" y="5230368"/>
            <a:ext cx="1993392" cy="323165"/>
          </a:xfrm>
          <a:prstGeom prst="rect">
            <a:avLst/>
          </a:prstGeom>
          <a:noFill/>
        </p:spPr>
        <p:txBody>
          <a:bodyPr wrap="square">
            <a:spAutoFit/>
          </a:bodyPr>
          <a:lstStyle/>
          <a:p>
            <a:pPr algn="l"/>
            <a:r>
              <a:rPr lang="fr-FR" sz="1500" b="1" i="0" noProof="0" dirty="0">
                <a:solidFill>
                  <a:srgbClr val="2CE0C8"/>
                </a:solidFill>
              </a:rPr>
              <a:t>Données contexte</a:t>
            </a:r>
          </a:p>
        </p:txBody>
      </p:sp>
      <p:sp>
        <p:nvSpPr>
          <p:cNvPr id="37" name="TextBox 36"/>
          <p:cNvSpPr txBox="1"/>
          <p:nvPr/>
        </p:nvSpPr>
        <p:spPr>
          <a:xfrm>
            <a:off x="2798064" y="5614416"/>
            <a:ext cx="1993392" cy="461665"/>
          </a:xfrm>
          <a:prstGeom prst="rect">
            <a:avLst/>
          </a:prstGeom>
          <a:noFill/>
        </p:spPr>
        <p:txBody>
          <a:bodyPr wrap="square">
            <a:spAutoFit/>
          </a:bodyPr>
          <a:lstStyle/>
          <a:p>
            <a:pPr algn="l"/>
            <a:r>
              <a:rPr lang="fr-FR" sz="1200" b="0" i="1" noProof="0" dirty="0">
                <a:solidFill>
                  <a:srgbClr val="E8EFF8"/>
                </a:solidFill>
              </a:rPr>
              <a:t>Profil cheval injecte
dans le prompt</a:t>
            </a:r>
          </a:p>
        </p:txBody>
      </p:sp>
      <p:sp>
        <p:nvSpPr>
          <p:cNvPr id="38" name="Rectangle 37"/>
          <p:cNvSpPr/>
          <p:nvPr/>
        </p:nvSpPr>
        <p:spPr>
          <a:xfrm>
            <a:off x="4974336" y="5138928"/>
            <a:ext cx="2194560" cy="1134053"/>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9" name="Rectangle 38"/>
          <p:cNvSpPr/>
          <p:nvPr/>
        </p:nvSpPr>
        <p:spPr>
          <a:xfrm>
            <a:off x="4974336" y="5138928"/>
            <a:ext cx="54864" cy="1134053"/>
          </a:xfrm>
          <a:prstGeom prst="rect">
            <a:avLst/>
          </a:prstGeom>
          <a:solidFill>
            <a:srgbClr val="2C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0" name="TextBox 39"/>
          <p:cNvSpPr txBox="1"/>
          <p:nvPr/>
        </p:nvSpPr>
        <p:spPr>
          <a:xfrm>
            <a:off x="5102352" y="5230368"/>
            <a:ext cx="1993392" cy="323165"/>
          </a:xfrm>
          <a:prstGeom prst="rect">
            <a:avLst/>
          </a:prstGeom>
          <a:noFill/>
        </p:spPr>
        <p:txBody>
          <a:bodyPr wrap="square">
            <a:spAutoFit/>
          </a:bodyPr>
          <a:lstStyle/>
          <a:p>
            <a:pPr algn="l"/>
            <a:r>
              <a:rPr lang="fr-FR" sz="1500" b="1" i="0" noProof="0" dirty="0">
                <a:solidFill>
                  <a:srgbClr val="2CE0C8"/>
                </a:solidFill>
              </a:rPr>
              <a:t>Historique</a:t>
            </a:r>
          </a:p>
        </p:txBody>
      </p:sp>
      <p:sp>
        <p:nvSpPr>
          <p:cNvPr id="41" name="TextBox 40"/>
          <p:cNvSpPr txBox="1"/>
          <p:nvPr/>
        </p:nvSpPr>
        <p:spPr>
          <a:xfrm>
            <a:off x="5102352" y="5614416"/>
            <a:ext cx="1993392" cy="461665"/>
          </a:xfrm>
          <a:prstGeom prst="rect">
            <a:avLst/>
          </a:prstGeom>
          <a:noFill/>
        </p:spPr>
        <p:txBody>
          <a:bodyPr wrap="square">
            <a:spAutoFit/>
          </a:bodyPr>
          <a:lstStyle/>
          <a:p>
            <a:pPr algn="l"/>
            <a:r>
              <a:rPr lang="fr-FR" sz="1200" b="0" i="1" noProof="0" dirty="0">
                <a:solidFill>
                  <a:srgbClr val="E8EFF8"/>
                </a:solidFill>
              </a:rPr>
              <a:t>Santé + entrainement
pour personnalisation</a:t>
            </a:r>
          </a:p>
        </p:txBody>
      </p:sp>
      <p:sp>
        <p:nvSpPr>
          <p:cNvPr id="42" name="Rectangle 41"/>
          <p:cNvSpPr/>
          <p:nvPr/>
        </p:nvSpPr>
        <p:spPr>
          <a:xfrm>
            <a:off x="7278624" y="5138928"/>
            <a:ext cx="2194560" cy="1134053"/>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3" name="Rectangle 42"/>
          <p:cNvSpPr/>
          <p:nvPr/>
        </p:nvSpPr>
        <p:spPr>
          <a:xfrm>
            <a:off x="7278624" y="5138928"/>
            <a:ext cx="54864" cy="1134053"/>
          </a:xfrm>
          <a:prstGeom prst="rect">
            <a:avLst/>
          </a:prstGeom>
          <a:solidFill>
            <a:srgbClr val="2C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4" name="TextBox 43"/>
          <p:cNvSpPr txBox="1"/>
          <p:nvPr/>
        </p:nvSpPr>
        <p:spPr>
          <a:xfrm>
            <a:off x="7406640" y="5230368"/>
            <a:ext cx="1993392" cy="323165"/>
          </a:xfrm>
          <a:prstGeom prst="rect">
            <a:avLst/>
          </a:prstGeom>
          <a:noFill/>
        </p:spPr>
        <p:txBody>
          <a:bodyPr wrap="square">
            <a:spAutoFit/>
          </a:bodyPr>
          <a:lstStyle/>
          <a:p>
            <a:pPr algn="l"/>
            <a:r>
              <a:rPr lang="fr-FR" sz="1500" b="1" i="0" noProof="0" dirty="0">
                <a:solidFill>
                  <a:srgbClr val="2CE0C8"/>
                </a:solidFill>
              </a:rPr>
              <a:t>Garde-fous</a:t>
            </a:r>
          </a:p>
        </p:txBody>
      </p:sp>
      <p:sp>
        <p:nvSpPr>
          <p:cNvPr id="45" name="TextBox 44"/>
          <p:cNvSpPr txBox="1"/>
          <p:nvPr/>
        </p:nvSpPr>
        <p:spPr>
          <a:xfrm>
            <a:off x="7406640" y="5614416"/>
            <a:ext cx="1993392" cy="461665"/>
          </a:xfrm>
          <a:prstGeom prst="rect">
            <a:avLst/>
          </a:prstGeom>
          <a:noFill/>
        </p:spPr>
        <p:txBody>
          <a:bodyPr wrap="square">
            <a:spAutoFit/>
          </a:bodyPr>
          <a:lstStyle/>
          <a:p>
            <a:pPr algn="l"/>
            <a:r>
              <a:rPr lang="fr-FR" sz="1200" b="0" i="1" noProof="0" dirty="0">
                <a:solidFill>
                  <a:srgbClr val="E8EFF8"/>
                </a:solidFill>
              </a:rPr>
              <a:t>Clause explicite :
pas de substitut </a:t>
            </a:r>
            <a:r>
              <a:rPr lang="fr-FR" sz="1200" b="0" i="1" noProof="0" dirty="0" err="1">
                <a:solidFill>
                  <a:srgbClr val="E8EFF8"/>
                </a:solidFill>
              </a:rPr>
              <a:t>vet</a:t>
            </a:r>
            <a:r>
              <a:rPr lang="fr-FR" sz="1200" b="0" i="1" noProof="0" dirty="0">
                <a:solidFill>
                  <a:srgbClr val="E8EFF8"/>
                </a:solidFill>
              </a:rPr>
              <a:t>.</a:t>
            </a:r>
          </a:p>
        </p:txBody>
      </p:sp>
      <p:sp>
        <p:nvSpPr>
          <p:cNvPr id="46" name="Rectangle 45"/>
          <p:cNvSpPr/>
          <p:nvPr/>
        </p:nvSpPr>
        <p:spPr>
          <a:xfrm>
            <a:off x="9582912" y="5138928"/>
            <a:ext cx="2194560" cy="1134053"/>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7" name="Rectangle 46"/>
          <p:cNvSpPr/>
          <p:nvPr/>
        </p:nvSpPr>
        <p:spPr>
          <a:xfrm>
            <a:off x="9582912" y="5138928"/>
            <a:ext cx="54864" cy="1134053"/>
          </a:xfrm>
          <a:prstGeom prst="rect">
            <a:avLst/>
          </a:prstGeom>
          <a:solidFill>
            <a:srgbClr val="2C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8" name="TextBox 47"/>
          <p:cNvSpPr txBox="1"/>
          <p:nvPr/>
        </p:nvSpPr>
        <p:spPr>
          <a:xfrm>
            <a:off x="9710928" y="5230368"/>
            <a:ext cx="1993392" cy="323165"/>
          </a:xfrm>
          <a:prstGeom prst="rect">
            <a:avLst/>
          </a:prstGeom>
          <a:noFill/>
        </p:spPr>
        <p:txBody>
          <a:bodyPr wrap="square">
            <a:spAutoFit/>
          </a:bodyPr>
          <a:lstStyle/>
          <a:p>
            <a:pPr algn="l"/>
            <a:r>
              <a:rPr lang="fr-FR" sz="1500" b="1" i="0" noProof="0" dirty="0">
                <a:solidFill>
                  <a:srgbClr val="2CE0C8"/>
                </a:solidFill>
              </a:rPr>
              <a:t>Intégration</a:t>
            </a:r>
          </a:p>
        </p:txBody>
      </p:sp>
      <p:sp>
        <p:nvSpPr>
          <p:cNvPr id="49" name="TextBox 48"/>
          <p:cNvSpPr txBox="1"/>
          <p:nvPr/>
        </p:nvSpPr>
        <p:spPr>
          <a:xfrm>
            <a:off x="9710928" y="5614416"/>
            <a:ext cx="1993392" cy="461665"/>
          </a:xfrm>
          <a:prstGeom prst="rect">
            <a:avLst/>
          </a:prstGeom>
          <a:noFill/>
        </p:spPr>
        <p:txBody>
          <a:bodyPr wrap="square">
            <a:spAutoFit/>
          </a:bodyPr>
          <a:lstStyle/>
          <a:p>
            <a:pPr algn="l"/>
            <a:r>
              <a:rPr lang="fr-FR" sz="1200" b="0" i="1" noProof="0" dirty="0">
                <a:solidFill>
                  <a:srgbClr val="E8EFF8"/>
                </a:solidFill>
              </a:rPr>
              <a:t>Natif app mobile
Accès premium</a:t>
            </a:r>
          </a:p>
        </p:txBody>
      </p:sp>
    </p:spTree>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E5372E42-4666-4FB1-045D-CE2379958FA1}"/>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5" name="TextBox 4"/>
          <p:cNvSpPr txBox="1"/>
          <p:nvPr/>
        </p:nvSpPr>
        <p:spPr>
          <a:xfrm>
            <a:off x="364285" y="206514"/>
            <a:ext cx="12260334" cy="707886"/>
          </a:xfrm>
          <a:prstGeom prst="rect">
            <a:avLst/>
          </a:prstGeom>
          <a:noFill/>
        </p:spPr>
        <p:txBody>
          <a:bodyPr wrap="square">
            <a:spAutoFit/>
          </a:bodyPr>
          <a:lstStyle/>
          <a:p>
            <a:pPr algn="l"/>
            <a:r>
              <a:rPr lang="fr-FR" sz="4000" b="1" i="0" noProof="0" dirty="0">
                <a:solidFill>
                  <a:srgbClr val="FFFFFF"/>
                </a:solidFill>
              </a:rPr>
              <a:t>Impact stratégique de l’intégration de l’IA </a:t>
            </a:r>
          </a:p>
        </p:txBody>
      </p:sp>
      <p:sp>
        <p:nvSpPr>
          <p:cNvPr id="12" name="Rectangle 11"/>
          <p:cNvSpPr/>
          <p:nvPr/>
        </p:nvSpPr>
        <p:spPr>
          <a:xfrm>
            <a:off x="365760" y="1115568"/>
            <a:ext cx="3767328" cy="2295144"/>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3" name="Rectangle 12"/>
          <p:cNvSpPr/>
          <p:nvPr/>
        </p:nvSpPr>
        <p:spPr>
          <a:xfrm>
            <a:off x="365760" y="1115568"/>
            <a:ext cx="45720" cy="2313432"/>
          </a:xfrm>
          <a:prstGeom prst="rect">
            <a:avLst/>
          </a:prstGeom>
          <a:solidFill>
            <a:srgbClr val="29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4" name="TextBox 13"/>
          <p:cNvSpPr txBox="1"/>
          <p:nvPr/>
        </p:nvSpPr>
        <p:spPr>
          <a:xfrm>
            <a:off x="548640" y="1225296"/>
            <a:ext cx="3566160" cy="400110"/>
          </a:xfrm>
          <a:prstGeom prst="rect">
            <a:avLst/>
          </a:prstGeom>
          <a:noFill/>
        </p:spPr>
        <p:txBody>
          <a:bodyPr wrap="square">
            <a:spAutoFit/>
          </a:bodyPr>
          <a:lstStyle/>
          <a:p>
            <a:pPr algn="l"/>
            <a:r>
              <a:rPr lang="fr-FR" sz="2000" b="1" i="0" noProof="0" dirty="0">
                <a:solidFill>
                  <a:srgbClr val="2978FF"/>
                </a:solidFill>
              </a:rPr>
              <a:t>Différenciation produit</a:t>
            </a:r>
          </a:p>
        </p:txBody>
      </p:sp>
      <p:sp>
        <p:nvSpPr>
          <p:cNvPr id="15" name="TextBox 14"/>
          <p:cNvSpPr txBox="1"/>
          <p:nvPr/>
        </p:nvSpPr>
        <p:spPr>
          <a:xfrm>
            <a:off x="548640" y="1737360"/>
            <a:ext cx="3794760" cy="307777"/>
          </a:xfrm>
          <a:prstGeom prst="rect">
            <a:avLst/>
          </a:prstGeom>
          <a:noFill/>
        </p:spPr>
        <p:txBody>
          <a:bodyPr wrap="square">
            <a:spAutoFit/>
          </a:bodyPr>
          <a:lstStyle/>
          <a:p>
            <a:pPr algn="l"/>
            <a:r>
              <a:rPr lang="fr-FR" sz="1400" b="0" i="0" noProof="0" dirty="0">
                <a:solidFill>
                  <a:srgbClr val="E8EFF8"/>
                </a:solidFill>
              </a:rPr>
              <a:t>- Seule app équestre combinant gestion santé,</a:t>
            </a:r>
          </a:p>
        </p:txBody>
      </p:sp>
      <p:sp>
        <p:nvSpPr>
          <p:cNvPr id="16" name="TextBox 15"/>
          <p:cNvSpPr txBox="1"/>
          <p:nvPr/>
        </p:nvSpPr>
        <p:spPr>
          <a:xfrm>
            <a:off x="548640" y="2240280"/>
            <a:ext cx="3566160" cy="307777"/>
          </a:xfrm>
          <a:prstGeom prst="rect">
            <a:avLst/>
          </a:prstGeom>
          <a:noFill/>
        </p:spPr>
        <p:txBody>
          <a:bodyPr wrap="square">
            <a:spAutoFit/>
          </a:bodyPr>
          <a:lstStyle/>
          <a:p>
            <a:pPr algn="l"/>
            <a:r>
              <a:rPr lang="fr-FR" sz="1400" b="0" i="0" noProof="0" dirty="0">
                <a:solidFill>
                  <a:srgbClr val="E8EFF8"/>
                </a:solidFill>
              </a:rPr>
              <a:t>- Entrainement ET assistant IA personnalisée</a:t>
            </a:r>
          </a:p>
        </p:txBody>
      </p:sp>
      <p:sp>
        <p:nvSpPr>
          <p:cNvPr id="17" name="TextBox 16"/>
          <p:cNvSpPr txBox="1"/>
          <p:nvPr/>
        </p:nvSpPr>
        <p:spPr>
          <a:xfrm>
            <a:off x="548640" y="2743200"/>
            <a:ext cx="3566160" cy="307777"/>
          </a:xfrm>
          <a:prstGeom prst="rect">
            <a:avLst/>
          </a:prstGeom>
          <a:noFill/>
        </p:spPr>
        <p:txBody>
          <a:bodyPr wrap="square">
            <a:spAutoFit/>
          </a:bodyPr>
          <a:lstStyle/>
          <a:p>
            <a:pPr algn="l"/>
            <a:r>
              <a:rPr lang="fr-FR" sz="1400" b="0" i="0" noProof="0" dirty="0">
                <a:solidFill>
                  <a:srgbClr val="E8EFF8"/>
                </a:solidFill>
              </a:rPr>
              <a:t>- L'IA est devenu le 1er argument marketing</a:t>
            </a:r>
          </a:p>
        </p:txBody>
      </p:sp>
      <p:sp>
        <p:nvSpPr>
          <p:cNvPr id="18" name="Rectangle 17"/>
          <p:cNvSpPr/>
          <p:nvPr/>
        </p:nvSpPr>
        <p:spPr>
          <a:xfrm>
            <a:off x="4297680" y="1115568"/>
            <a:ext cx="3767328" cy="2295144"/>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9" name="Rectangle 18"/>
          <p:cNvSpPr/>
          <p:nvPr/>
        </p:nvSpPr>
        <p:spPr>
          <a:xfrm>
            <a:off x="4297680" y="1115568"/>
            <a:ext cx="45720" cy="2295144"/>
          </a:xfrm>
          <a:prstGeom prst="rect">
            <a:avLst/>
          </a:prstGeom>
          <a:solidFill>
            <a:srgbClr val="38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0" name="TextBox 19"/>
          <p:cNvSpPr txBox="1"/>
          <p:nvPr/>
        </p:nvSpPr>
        <p:spPr>
          <a:xfrm>
            <a:off x="4480560" y="1225296"/>
            <a:ext cx="3566160" cy="400110"/>
          </a:xfrm>
          <a:prstGeom prst="rect">
            <a:avLst/>
          </a:prstGeom>
          <a:noFill/>
        </p:spPr>
        <p:txBody>
          <a:bodyPr wrap="square">
            <a:spAutoFit/>
          </a:bodyPr>
          <a:lstStyle/>
          <a:p>
            <a:pPr algn="l"/>
            <a:r>
              <a:rPr lang="fr-FR" sz="2000" b="1" i="0" noProof="0" dirty="0">
                <a:solidFill>
                  <a:srgbClr val="38D4FF"/>
                </a:solidFill>
              </a:rPr>
              <a:t>Rétention utilisateur</a:t>
            </a:r>
          </a:p>
        </p:txBody>
      </p:sp>
      <p:sp>
        <p:nvSpPr>
          <p:cNvPr id="21" name="TextBox 20"/>
          <p:cNvSpPr txBox="1"/>
          <p:nvPr/>
        </p:nvSpPr>
        <p:spPr>
          <a:xfrm>
            <a:off x="4480560" y="1737360"/>
            <a:ext cx="3566160" cy="307777"/>
          </a:xfrm>
          <a:prstGeom prst="rect">
            <a:avLst/>
          </a:prstGeom>
          <a:noFill/>
        </p:spPr>
        <p:txBody>
          <a:bodyPr wrap="square">
            <a:spAutoFit/>
          </a:bodyPr>
          <a:lstStyle/>
          <a:p>
            <a:pPr algn="l"/>
            <a:r>
              <a:rPr lang="fr-FR" sz="1400" b="0" i="0" noProof="0" dirty="0">
                <a:solidFill>
                  <a:srgbClr val="E8EFF8"/>
                </a:solidFill>
              </a:rPr>
              <a:t>- L'assistant crée une dépendance positive</a:t>
            </a:r>
          </a:p>
        </p:txBody>
      </p:sp>
      <p:sp>
        <p:nvSpPr>
          <p:cNvPr id="22" name="TextBox 21"/>
          <p:cNvSpPr txBox="1"/>
          <p:nvPr/>
        </p:nvSpPr>
        <p:spPr>
          <a:xfrm>
            <a:off x="4480560" y="2240280"/>
            <a:ext cx="3566160" cy="307777"/>
          </a:xfrm>
          <a:prstGeom prst="rect">
            <a:avLst/>
          </a:prstGeom>
          <a:noFill/>
        </p:spPr>
        <p:txBody>
          <a:bodyPr wrap="square">
            <a:spAutoFit/>
          </a:bodyPr>
          <a:lstStyle/>
          <a:p>
            <a:pPr algn="l"/>
            <a:r>
              <a:rPr lang="fr-FR" sz="1400" b="0" i="0" noProof="0" dirty="0">
                <a:solidFill>
                  <a:srgbClr val="E8EFF8"/>
                </a:solidFill>
              </a:rPr>
              <a:t>- Plus l'utilisateur entre de données,</a:t>
            </a:r>
          </a:p>
        </p:txBody>
      </p:sp>
      <p:sp>
        <p:nvSpPr>
          <p:cNvPr id="23" name="TextBox 22"/>
          <p:cNvSpPr txBox="1"/>
          <p:nvPr/>
        </p:nvSpPr>
        <p:spPr>
          <a:xfrm>
            <a:off x="4480560" y="2743200"/>
            <a:ext cx="3566160" cy="307777"/>
          </a:xfrm>
          <a:prstGeom prst="rect">
            <a:avLst/>
          </a:prstGeom>
          <a:noFill/>
        </p:spPr>
        <p:txBody>
          <a:bodyPr wrap="square">
            <a:spAutoFit/>
          </a:bodyPr>
          <a:lstStyle/>
          <a:p>
            <a:pPr algn="l"/>
            <a:r>
              <a:rPr lang="fr-FR" sz="1400" dirty="0">
                <a:solidFill>
                  <a:srgbClr val="E8EFF8"/>
                </a:solidFill>
              </a:rPr>
              <a:t>- P</a:t>
            </a:r>
            <a:r>
              <a:rPr lang="fr-FR" sz="1400" b="0" i="0" noProof="0" dirty="0">
                <a:solidFill>
                  <a:srgbClr val="E8EFF8"/>
                </a:solidFill>
              </a:rPr>
              <a:t>lus les réponses sont pertinentes</a:t>
            </a:r>
          </a:p>
        </p:txBody>
      </p:sp>
      <p:sp>
        <p:nvSpPr>
          <p:cNvPr id="24" name="Rectangle 23"/>
          <p:cNvSpPr/>
          <p:nvPr/>
        </p:nvSpPr>
        <p:spPr>
          <a:xfrm>
            <a:off x="8229600" y="1115568"/>
            <a:ext cx="3767328" cy="2295144"/>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5" name="Rectangle 24"/>
          <p:cNvSpPr/>
          <p:nvPr/>
        </p:nvSpPr>
        <p:spPr>
          <a:xfrm>
            <a:off x="8229600" y="1115568"/>
            <a:ext cx="45720" cy="2295144"/>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6" name="TextBox 25"/>
          <p:cNvSpPr txBox="1"/>
          <p:nvPr/>
        </p:nvSpPr>
        <p:spPr>
          <a:xfrm>
            <a:off x="8412480" y="1225296"/>
            <a:ext cx="3566160" cy="402336"/>
          </a:xfrm>
          <a:prstGeom prst="rect">
            <a:avLst/>
          </a:prstGeom>
          <a:noFill/>
        </p:spPr>
        <p:txBody>
          <a:bodyPr wrap="square">
            <a:spAutoFit/>
          </a:bodyPr>
          <a:lstStyle/>
          <a:p>
            <a:pPr algn="l"/>
            <a:r>
              <a:rPr lang="fr-FR" sz="2000" b="1" i="0" noProof="0" dirty="0" err="1">
                <a:solidFill>
                  <a:srgbClr val="3CE88E"/>
                </a:solidFill>
              </a:rPr>
              <a:t>Upsell</a:t>
            </a:r>
            <a:r>
              <a:rPr lang="fr-FR" sz="2000" b="1" i="0" noProof="0" dirty="0">
                <a:solidFill>
                  <a:srgbClr val="3CE88E"/>
                </a:solidFill>
              </a:rPr>
              <a:t> premium</a:t>
            </a:r>
          </a:p>
        </p:txBody>
      </p:sp>
      <p:sp>
        <p:nvSpPr>
          <p:cNvPr id="27" name="TextBox 26"/>
          <p:cNvSpPr txBox="1"/>
          <p:nvPr/>
        </p:nvSpPr>
        <p:spPr>
          <a:xfrm>
            <a:off x="8412480" y="1737360"/>
            <a:ext cx="3566160" cy="307777"/>
          </a:xfrm>
          <a:prstGeom prst="rect">
            <a:avLst/>
          </a:prstGeom>
          <a:noFill/>
        </p:spPr>
        <p:txBody>
          <a:bodyPr wrap="square">
            <a:spAutoFit/>
          </a:bodyPr>
          <a:lstStyle/>
          <a:p>
            <a:pPr algn="l"/>
            <a:r>
              <a:rPr lang="fr-FR" sz="1400" b="0" i="0" noProof="0" dirty="0">
                <a:solidFill>
                  <a:srgbClr val="E8EFF8"/>
                </a:solidFill>
              </a:rPr>
              <a:t>- L'IA est exclusivement en accès premium</a:t>
            </a:r>
          </a:p>
        </p:txBody>
      </p:sp>
      <p:sp>
        <p:nvSpPr>
          <p:cNvPr id="28" name="TextBox 27"/>
          <p:cNvSpPr txBox="1"/>
          <p:nvPr/>
        </p:nvSpPr>
        <p:spPr>
          <a:xfrm>
            <a:off x="8412480" y="2240280"/>
            <a:ext cx="3566160" cy="307777"/>
          </a:xfrm>
          <a:prstGeom prst="rect">
            <a:avLst/>
          </a:prstGeom>
          <a:noFill/>
        </p:spPr>
        <p:txBody>
          <a:bodyPr wrap="square">
            <a:spAutoFit/>
          </a:bodyPr>
          <a:lstStyle/>
          <a:p>
            <a:pPr algn="l"/>
            <a:r>
              <a:rPr lang="fr-FR" sz="1400" b="0" i="0" noProof="0" dirty="0">
                <a:solidFill>
                  <a:srgbClr val="E8EFF8"/>
                </a:solidFill>
              </a:rPr>
              <a:t>- Principal levier de conversion</a:t>
            </a:r>
          </a:p>
        </p:txBody>
      </p:sp>
      <p:sp>
        <p:nvSpPr>
          <p:cNvPr id="29" name="TextBox 28"/>
          <p:cNvSpPr txBox="1"/>
          <p:nvPr/>
        </p:nvSpPr>
        <p:spPr>
          <a:xfrm>
            <a:off x="8412480" y="2743200"/>
            <a:ext cx="3566160" cy="307777"/>
          </a:xfrm>
          <a:prstGeom prst="rect">
            <a:avLst/>
          </a:prstGeom>
          <a:noFill/>
        </p:spPr>
        <p:txBody>
          <a:bodyPr wrap="square">
            <a:spAutoFit/>
          </a:bodyPr>
          <a:lstStyle/>
          <a:p>
            <a:pPr algn="l"/>
            <a:r>
              <a:rPr lang="fr-FR" sz="1400" b="0" i="0" noProof="0" dirty="0">
                <a:solidFill>
                  <a:srgbClr val="E8EFF8"/>
                </a:solidFill>
              </a:rPr>
              <a:t>- freemium — &gt; payant</a:t>
            </a:r>
          </a:p>
        </p:txBody>
      </p:sp>
      <p:sp>
        <p:nvSpPr>
          <p:cNvPr id="30" name="Rectangle 29"/>
          <p:cNvSpPr/>
          <p:nvPr/>
        </p:nvSpPr>
        <p:spPr>
          <a:xfrm>
            <a:off x="365760" y="3813048"/>
            <a:ext cx="3767328" cy="2295144"/>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1" name="Rectangle 30"/>
          <p:cNvSpPr/>
          <p:nvPr/>
        </p:nvSpPr>
        <p:spPr>
          <a:xfrm>
            <a:off x="365760" y="3813048"/>
            <a:ext cx="45720" cy="2295144"/>
          </a:xfrm>
          <a:prstGeom prst="rect">
            <a:avLst/>
          </a:prstGeom>
          <a:solidFill>
            <a:srgbClr val="2C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2" name="TextBox 31"/>
          <p:cNvSpPr txBox="1"/>
          <p:nvPr/>
        </p:nvSpPr>
        <p:spPr>
          <a:xfrm>
            <a:off x="548640" y="3922776"/>
            <a:ext cx="3566160" cy="400110"/>
          </a:xfrm>
          <a:prstGeom prst="rect">
            <a:avLst/>
          </a:prstGeom>
          <a:noFill/>
        </p:spPr>
        <p:txBody>
          <a:bodyPr wrap="square">
            <a:spAutoFit/>
          </a:bodyPr>
          <a:lstStyle/>
          <a:p>
            <a:pPr algn="l"/>
            <a:r>
              <a:rPr lang="fr-FR" sz="2000" b="1" i="0" noProof="0" dirty="0">
                <a:solidFill>
                  <a:srgbClr val="2CE0C8"/>
                </a:solidFill>
              </a:rPr>
              <a:t>Crédibilité</a:t>
            </a:r>
          </a:p>
        </p:txBody>
      </p:sp>
      <p:sp>
        <p:nvSpPr>
          <p:cNvPr id="33" name="TextBox 32"/>
          <p:cNvSpPr txBox="1"/>
          <p:nvPr/>
        </p:nvSpPr>
        <p:spPr>
          <a:xfrm>
            <a:off x="548640" y="4434840"/>
            <a:ext cx="3566160" cy="307777"/>
          </a:xfrm>
          <a:prstGeom prst="rect">
            <a:avLst/>
          </a:prstGeom>
          <a:noFill/>
        </p:spPr>
        <p:txBody>
          <a:bodyPr wrap="square">
            <a:spAutoFit/>
          </a:bodyPr>
          <a:lstStyle/>
          <a:p>
            <a:pPr algn="l"/>
            <a:r>
              <a:rPr lang="fr-FR" sz="1400" b="0" i="0" noProof="0" dirty="0">
                <a:solidFill>
                  <a:srgbClr val="E8EFF8"/>
                </a:solidFill>
              </a:rPr>
              <a:t>- Partenariat EXII (</a:t>
            </a:r>
            <a:r>
              <a:rPr lang="fr-FR" sz="1400" b="0" i="0" noProof="0" dirty="0" err="1">
                <a:solidFill>
                  <a:srgbClr val="E8EFF8"/>
                </a:solidFill>
              </a:rPr>
              <a:t>Hamburg</a:t>
            </a:r>
            <a:r>
              <a:rPr lang="fr-FR" sz="1400" b="0" i="0" noProof="0" dirty="0">
                <a:solidFill>
                  <a:srgbClr val="E8EFF8"/>
                </a:solidFill>
              </a:rPr>
              <a:t> AI Hub)</a:t>
            </a:r>
          </a:p>
        </p:txBody>
      </p:sp>
      <p:sp>
        <p:nvSpPr>
          <p:cNvPr id="34" name="TextBox 33"/>
          <p:cNvSpPr txBox="1"/>
          <p:nvPr/>
        </p:nvSpPr>
        <p:spPr>
          <a:xfrm>
            <a:off x="548640" y="4937760"/>
            <a:ext cx="3566160" cy="307777"/>
          </a:xfrm>
          <a:prstGeom prst="rect">
            <a:avLst/>
          </a:prstGeom>
          <a:noFill/>
        </p:spPr>
        <p:txBody>
          <a:bodyPr wrap="square">
            <a:spAutoFit/>
          </a:bodyPr>
          <a:lstStyle/>
          <a:p>
            <a:pPr algn="l"/>
            <a:r>
              <a:rPr lang="fr-FR" sz="1400" b="0" i="0" noProof="0" dirty="0">
                <a:solidFill>
                  <a:srgbClr val="E8EFF8"/>
                </a:solidFill>
              </a:rPr>
              <a:t>- Positionnement </a:t>
            </a:r>
            <a:r>
              <a:rPr lang="fr-FR" sz="1400" b="0" i="0" noProof="0" dirty="0" err="1">
                <a:solidFill>
                  <a:srgbClr val="E8EFF8"/>
                </a:solidFill>
              </a:rPr>
              <a:t>serieux</a:t>
            </a:r>
            <a:r>
              <a:rPr lang="fr-FR" sz="1400" b="0" i="0" noProof="0" dirty="0">
                <a:solidFill>
                  <a:srgbClr val="E8EFF8"/>
                </a:solidFill>
              </a:rPr>
              <a:t> </a:t>
            </a:r>
            <a:r>
              <a:rPr lang="fr-FR" sz="1400" b="0" i="0" noProof="0" dirty="0" err="1">
                <a:solidFill>
                  <a:srgbClr val="E8EFF8"/>
                </a:solidFill>
              </a:rPr>
              <a:t>mHealth</a:t>
            </a:r>
            <a:endParaRPr lang="fr-FR" sz="1400" b="0" i="0" noProof="0" dirty="0">
              <a:solidFill>
                <a:srgbClr val="E8EFF8"/>
              </a:solidFill>
            </a:endParaRPr>
          </a:p>
        </p:txBody>
      </p:sp>
      <p:sp>
        <p:nvSpPr>
          <p:cNvPr id="35" name="TextBox 34"/>
          <p:cNvSpPr txBox="1"/>
          <p:nvPr/>
        </p:nvSpPr>
        <p:spPr>
          <a:xfrm>
            <a:off x="548640" y="5440680"/>
            <a:ext cx="3566160" cy="307777"/>
          </a:xfrm>
          <a:prstGeom prst="rect">
            <a:avLst/>
          </a:prstGeom>
          <a:noFill/>
        </p:spPr>
        <p:txBody>
          <a:bodyPr wrap="square">
            <a:spAutoFit/>
          </a:bodyPr>
          <a:lstStyle/>
          <a:p>
            <a:pPr algn="l"/>
            <a:r>
              <a:rPr lang="fr-FR" sz="1400" dirty="0">
                <a:solidFill>
                  <a:srgbClr val="E8EFF8"/>
                </a:solidFill>
              </a:rPr>
              <a:t>- Journal</a:t>
            </a:r>
            <a:r>
              <a:rPr lang="fr-FR" sz="1400" b="0" i="0" noProof="0" dirty="0">
                <a:solidFill>
                  <a:srgbClr val="E8EFF8"/>
                </a:solidFill>
              </a:rPr>
              <a:t> tech locale (</a:t>
            </a:r>
            <a:r>
              <a:rPr lang="fr-FR" sz="1400" b="0" i="0" noProof="0" dirty="0" err="1">
                <a:solidFill>
                  <a:srgbClr val="E8EFF8"/>
                </a:solidFill>
              </a:rPr>
              <a:t>Hamburg</a:t>
            </a:r>
            <a:r>
              <a:rPr lang="fr-FR" sz="1400" b="0" i="0" noProof="0" dirty="0">
                <a:solidFill>
                  <a:srgbClr val="E8EFF8"/>
                </a:solidFill>
              </a:rPr>
              <a:t> Business)</a:t>
            </a:r>
          </a:p>
        </p:txBody>
      </p:sp>
      <p:sp>
        <p:nvSpPr>
          <p:cNvPr id="36" name="Rectangle 35"/>
          <p:cNvSpPr/>
          <p:nvPr/>
        </p:nvSpPr>
        <p:spPr>
          <a:xfrm>
            <a:off x="4297680" y="3813048"/>
            <a:ext cx="3767328" cy="2295144"/>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7" name="Rectangle 36"/>
          <p:cNvSpPr/>
          <p:nvPr/>
        </p:nvSpPr>
        <p:spPr>
          <a:xfrm>
            <a:off x="4297680" y="3813048"/>
            <a:ext cx="45720" cy="2295144"/>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8" name="TextBox 37"/>
          <p:cNvSpPr txBox="1"/>
          <p:nvPr/>
        </p:nvSpPr>
        <p:spPr>
          <a:xfrm>
            <a:off x="4480560" y="3922776"/>
            <a:ext cx="3566160" cy="402336"/>
          </a:xfrm>
          <a:prstGeom prst="rect">
            <a:avLst/>
          </a:prstGeom>
          <a:noFill/>
        </p:spPr>
        <p:txBody>
          <a:bodyPr wrap="square">
            <a:spAutoFit/>
          </a:bodyPr>
          <a:lstStyle/>
          <a:p>
            <a:pPr algn="l"/>
            <a:r>
              <a:rPr lang="fr-FR" sz="2000" b="1" i="0" noProof="0" dirty="0">
                <a:solidFill>
                  <a:srgbClr val="FFA040"/>
                </a:solidFill>
              </a:rPr>
              <a:t>Expansion marche</a:t>
            </a:r>
          </a:p>
        </p:txBody>
      </p:sp>
      <p:sp>
        <p:nvSpPr>
          <p:cNvPr id="39" name="TextBox 38"/>
          <p:cNvSpPr txBox="1"/>
          <p:nvPr/>
        </p:nvSpPr>
        <p:spPr>
          <a:xfrm>
            <a:off x="4480560" y="4434840"/>
            <a:ext cx="3566160" cy="307777"/>
          </a:xfrm>
          <a:prstGeom prst="rect">
            <a:avLst/>
          </a:prstGeom>
          <a:noFill/>
        </p:spPr>
        <p:txBody>
          <a:bodyPr wrap="square">
            <a:spAutoFit/>
          </a:bodyPr>
          <a:lstStyle/>
          <a:p>
            <a:pPr algn="l"/>
            <a:r>
              <a:rPr lang="fr-FR" sz="1400" b="0" i="0" noProof="0" dirty="0">
                <a:solidFill>
                  <a:srgbClr val="E8EFF8"/>
                </a:solidFill>
              </a:rPr>
              <a:t>- Volet </a:t>
            </a:r>
            <a:r>
              <a:rPr lang="fr-FR" sz="1400" b="0" i="0" noProof="0" dirty="0" err="1">
                <a:solidFill>
                  <a:srgbClr val="E8EFF8"/>
                </a:solidFill>
              </a:rPr>
              <a:t>Insurtech</a:t>
            </a:r>
            <a:r>
              <a:rPr lang="fr-FR" sz="1400" b="0" i="0" noProof="0" dirty="0">
                <a:solidFill>
                  <a:srgbClr val="E8EFF8"/>
                </a:solidFill>
              </a:rPr>
              <a:t> : données sante = valeur</a:t>
            </a:r>
          </a:p>
        </p:txBody>
      </p:sp>
      <p:sp>
        <p:nvSpPr>
          <p:cNvPr id="40" name="TextBox 39"/>
          <p:cNvSpPr txBox="1"/>
          <p:nvPr/>
        </p:nvSpPr>
        <p:spPr>
          <a:xfrm>
            <a:off x="4480560" y="4937760"/>
            <a:ext cx="3566160" cy="307777"/>
          </a:xfrm>
          <a:prstGeom prst="rect">
            <a:avLst/>
          </a:prstGeom>
          <a:noFill/>
        </p:spPr>
        <p:txBody>
          <a:bodyPr wrap="square">
            <a:spAutoFit/>
          </a:bodyPr>
          <a:lstStyle/>
          <a:p>
            <a:pPr algn="l"/>
            <a:r>
              <a:rPr lang="fr-FR" sz="1400" b="0" i="0" noProof="0" dirty="0">
                <a:solidFill>
                  <a:srgbClr val="E8EFF8"/>
                </a:solidFill>
              </a:rPr>
              <a:t>- </a:t>
            </a:r>
            <a:r>
              <a:rPr lang="fr-FR" sz="1400" dirty="0">
                <a:solidFill>
                  <a:srgbClr val="E8EFF8"/>
                </a:solidFill>
              </a:rPr>
              <a:t>P</a:t>
            </a:r>
            <a:r>
              <a:rPr lang="fr-FR" sz="1400" b="0" i="0" noProof="0" dirty="0" err="1">
                <a:solidFill>
                  <a:srgbClr val="E8EFF8"/>
                </a:solidFill>
              </a:rPr>
              <a:t>our</a:t>
            </a:r>
            <a:r>
              <a:rPr lang="fr-FR" sz="1400" b="0" i="0" noProof="0" dirty="0">
                <a:solidFill>
                  <a:srgbClr val="E8EFF8"/>
                </a:solidFill>
              </a:rPr>
              <a:t> assureurs. Nouveau B2B</a:t>
            </a:r>
          </a:p>
        </p:txBody>
      </p:sp>
      <p:sp>
        <p:nvSpPr>
          <p:cNvPr id="41" name="TextBox 40"/>
          <p:cNvSpPr txBox="1"/>
          <p:nvPr/>
        </p:nvSpPr>
        <p:spPr>
          <a:xfrm>
            <a:off x="4480560" y="5440680"/>
            <a:ext cx="3566160" cy="307777"/>
          </a:xfrm>
          <a:prstGeom prst="rect">
            <a:avLst/>
          </a:prstGeom>
          <a:noFill/>
        </p:spPr>
        <p:txBody>
          <a:bodyPr wrap="square">
            <a:spAutoFit/>
          </a:bodyPr>
          <a:lstStyle/>
          <a:p>
            <a:pPr algn="l"/>
            <a:r>
              <a:rPr lang="fr-FR" sz="1400" b="0" i="0" noProof="0" dirty="0">
                <a:solidFill>
                  <a:srgbClr val="E8EFF8"/>
                </a:solidFill>
              </a:rPr>
              <a:t>- </a:t>
            </a:r>
            <a:r>
              <a:rPr lang="fr-FR" sz="1400" dirty="0">
                <a:solidFill>
                  <a:srgbClr val="E8EFF8"/>
                </a:solidFill>
              </a:rPr>
              <a:t>S</a:t>
            </a:r>
            <a:r>
              <a:rPr lang="fr-FR" sz="1400" b="0" i="0" noProof="0" dirty="0">
                <a:solidFill>
                  <a:srgbClr val="E8EFF8"/>
                </a:solidFill>
              </a:rPr>
              <a:t>ans refonte produit</a:t>
            </a:r>
          </a:p>
        </p:txBody>
      </p:sp>
      <p:sp>
        <p:nvSpPr>
          <p:cNvPr id="42" name="Rectangle 41"/>
          <p:cNvSpPr/>
          <p:nvPr/>
        </p:nvSpPr>
        <p:spPr>
          <a:xfrm>
            <a:off x="8229600" y="3813048"/>
            <a:ext cx="3767328" cy="2295144"/>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3" name="Rectangle 42"/>
          <p:cNvSpPr/>
          <p:nvPr/>
        </p:nvSpPr>
        <p:spPr>
          <a:xfrm>
            <a:off x="8229600" y="3813048"/>
            <a:ext cx="45720" cy="2295144"/>
          </a:xfrm>
          <a:prstGeom prst="rect">
            <a:avLst/>
          </a:prstGeom>
          <a:solidFill>
            <a:srgbClr val="FF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4" name="TextBox 43"/>
          <p:cNvSpPr txBox="1"/>
          <p:nvPr/>
        </p:nvSpPr>
        <p:spPr>
          <a:xfrm>
            <a:off x="8412480" y="3922776"/>
            <a:ext cx="3566160" cy="400110"/>
          </a:xfrm>
          <a:prstGeom prst="rect">
            <a:avLst/>
          </a:prstGeom>
          <a:noFill/>
        </p:spPr>
        <p:txBody>
          <a:bodyPr wrap="square">
            <a:spAutoFit/>
          </a:bodyPr>
          <a:lstStyle/>
          <a:p>
            <a:pPr algn="l"/>
            <a:r>
              <a:rPr lang="fr-FR" sz="2000" b="1" i="0" noProof="0" dirty="0">
                <a:solidFill>
                  <a:srgbClr val="FF5A5A"/>
                </a:solidFill>
              </a:rPr>
              <a:t>Limite observée</a:t>
            </a:r>
          </a:p>
        </p:txBody>
      </p:sp>
      <p:sp>
        <p:nvSpPr>
          <p:cNvPr id="45" name="TextBox 44"/>
          <p:cNvSpPr txBox="1"/>
          <p:nvPr/>
        </p:nvSpPr>
        <p:spPr>
          <a:xfrm>
            <a:off x="8412480" y="4434840"/>
            <a:ext cx="3566160" cy="307777"/>
          </a:xfrm>
          <a:prstGeom prst="rect">
            <a:avLst/>
          </a:prstGeom>
          <a:noFill/>
        </p:spPr>
        <p:txBody>
          <a:bodyPr wrap="square">
            <a:spAutoFit/>
          </a:bodyPr>
          <a:lstStyle/>
          <a:p>
            <a:pPr algn="l"/>
            <a:r>
              <a:rPr lang="fr-FR" sz="1400" b="0" i="0" noProof="0" dirty="0">
                <a:solidFill>
                  <a:srgbClr val="E8EFF8"/>
                </a:solidFill>
              </a:rPr>
              <a:t>- Pas d'analyse vidéo ni biomécanique</a:t>
            </a:r>
          </a:p>
        </p:txBody>
      </p:sp>
      <p:sp>
        <p:nvSpPr>
          <p:cNvPr id="46" name="TextBox 45"/>
          <p:cNvSpPr txBox="1"/>
          <p:nvPr/>
        </p:nvSpPr>
        <p:spPr>
          <a:xfrm>
            <a:off x="8412480" y="4937760"/>
            <a:ext cx="3566160" cy="307777"/>
          </a:xfrm>
          <a:prstGeom prst="rect">
            <a:avLst/>
          </a:prstGeom>
          <a:noFill/>
        </p:spPr>
        <p:txBody>
          <a:bodyPr wrap="square">
            <a:spAutoFit/>
          </a:bodyPr>
          <a:lstStyle/>
          <a:p>
            <a:pPr algn="l"/>
            <a:r>
              <a:rPr lang="fr-FR" sz="1400" b="0" i="0" noProof="0" dirty="0">
                <a:solidFill>
                  <a:srgbClr val="E8EFF8"/>
                </a:solidFill>
              </a:rPr>
              <a:t>- Disclaimer : ne remplace pas le </a:t>
            </a:r>
            <a:r>
              <a:rPr lang="fr-FR" sz="1400" b="0" i="0" noProof="0" dirty="0" err="1">
                <a:solidFill>
                  <a:srgbClr val="E8EFF8"/>
                </a:solidFill>
              </a:rPr>
              <a:t>vet</a:t>
            </a:r>
            <a:endParaRPr lang="fr-FR" sz="1400" b="0" i="0" noProof="0" dirty="0">
              <a:solidFill>
                <a:srgbClr val="E8EFF8"/>
              </a:solidFill>
            </a:endParaRPr>
          </a:p>
        </p:txBody>
      </p:sp>
      <p:sp>
        <p:nvSpPr>
          <p:cNvPr id="47" name="TextBox 46"/>
          <p:cNvSpPr txBox="1"/>
          <p:nvPr/>
        </p:nvSpPr>
        <p:spPr>
          <a:xfrm>
            <a:off x="8412480" y="5440680"/>
            <a:ext cx="3566160" cy="307777"/>
          </a:xfrm>
          <a:prstGeom prst="rect">
            <a:avLst/>
          </a:prstGeom>
          <a:noFill/>
        </p:spPr>
        <p:txBody>
          <a:bodyPr wrap="square">
            <a:spAutoFit/>
          </a:bodyPr>
          <a:lstStyle/>
          <a:p>
            <a:pPr algn="l"/>
            <a:r>
              <a:rPr lang="fr-FR" sz="1400" b="0" i="0" noProof="0" dirty="0">
                <a:solidFill>
                  <a:srgbClr val="E8EFF8"/>
                </a:solidFill>
              </a:rPr>
              <a:t>- Pas de génération de schéma carrière</a:t>
            </a:r>
          </a:p>
        </p:txBody>
      </p:sp>
    </p:spTree>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541F3CB3-FFF2-9366-6184-4E7D0B7C3D88}"/>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5" name="TextBox 4"/>
          <p:cNvSpPr txBox="1"/>
          <p:nvPr/>
        </p:nvSpPr>
        <p:spPr>
          <a:xfrm>
            <a:off x="347472" y="122318"/>
            <a:ext cx="10422292" cy="707886"/>
          </a:xfrm>
          <a:prstGeom prst="rect">
            <a:avLst/>
          </a:prstGeom>
          <a:noFill/>
        </p:spPr>
        <p:txBody>
          <a:bodyPr wrap="square">
            <a:spAutoFit/>
          </a:bodyPr>
          <a:lstStyle/>
          <a:p>
            <a:pPr algn="l"/>
            <a:r>
              <a:rPr lang="fr-FR" sz="4000" b="1" i="0" noProof="0" dirty="0">
                <a:solidFill>
                  <a:srgbClr val="FFFFFF"/>
                </a:solidFill>
              </a:rPr>
              <a:t>Leçons pour notre projet (le pour et le contre)</a:t>
            </a:r>
          </a:p>
        </p:txBody>
      </p:sp>
      <p:sp>
        <p:nvSpPr>
          <p:cNvPr id="12" name="Rectangle 11"/>
          <p:cNvSpPr/>
          <p:nvPr/>
        </p:nvSpPr>
        <p:spPr>
          <a:xfrm>
            <a:off x="365760" y="1115568"/>
            <a:ext cx="5669280" cy="5486400"/>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3" name="Rectangle 12"/>
          <p:cNvSpPr/>
          <p:nvPr/>
        </p:nvSpPr>
        <p:spPr>
          <a:xfrm>
            <a:off x="365760" y="1115568"/>
            <a:ext cx="45720" cy="5486400"/>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4" name="Rectangle 13"/>
          <p:cNvSpPr/>
          <p:nvPr/>
        </p:nvSpPr>
        <p:spPr>
          <a:xfrm>
            <a:off x="365760" y="1115568"/>
            <a:ext cx="5669280" cy="502920"/>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5" name="TextBox 14"/>
          <p:cNvSpPr txBox="1"/>
          <p:nvPr/>
        </p:nvSpPr>
        <p:spPr>
          <a:xfrm>
            <a:off x="365760" y="1152144"/>
            <a:ext cx="5669280" cy="400110"/>
          </a:xfrm>
          <a:prstGeom prst="rect">
            <a:avLst/>
          </a:prstGeom>
          <a:noFill/>
        </p:spPr>
        <p:txBody>
          <a:bodyPr wrap="square">
            <a:spAutoFit/>
          </a:bodyPr>
          <a:lstStyle/>
          <a:p>
            <a:pPr algn="ctr"/>
            <a:r>
              <a:rPr lang="fr-FR" sz="2000" b="1" i="0" noProof="0" dirty="0">
                <a:solidFill>
                  <a:srgbClr val="FFFFFF"/>
                </a:solidFill>
              </a:rPr>
              <a:t>Ce qu'ils font bien</a:t>
            </a:r>
          </a:p>
        </p:txBody>
      </p:sp>
      <p:sp>
        <p:nvSpPr>
          <p:cNvPr id="16" name="Rectangle 15"/>
          <p:cNvSpPr/>
          <p:nvPr/>
        </p:nvSpPr>
        <p:spPr>
          <a:xfrm>
            <a:off x="502920" y="1737360"/>
            <a:ext cx="5394960" cy="107899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7" name="Rectangle 16"/>
          <p:cNvSpPr/>
          <p:nvPr/>
        </p:nvSpPr>
        <p:spPr>
          <a:xfrm>
            <a:off x="502920" y="1737360"/>
            <a:ext cx="45720" cy="1078992"/>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8" name="TextBox 17"/>
          <p:cNvSpPr txBox="1"/>
          <p:nvPr/>
        </p:nvSpPr>
        <p:spPr>
          <a:xfrm>
            <a:off x="658368" y="1828800"/>
            <a:ext cx="5120640" cy="400110"/>
          </a:xfrm>
          <a:prstGeom prst="rect">
            <a:avLst/>
          </a:prstGeom>
          <a:noFill/>
        </p:spPr>
        <p:txBody>
          <a:bodyPr wrap="square">
            <a:spAutoFit/>
          </a:bodyPr>
          <a:lstStyle/>
          <a:p>
            <a:pPr algn="l"/>
            <a:r>
              <a:rPr lang="fr-FR" sz="2000" b="1" i="0" noProof="0" dirty="0">
                <a:solidFill>
                  <a:srgbClr val="FFFFFF"/>
                </a:solidFill>
              </a:rPr>
              <a:t>IA en accès premium uniquement</a:t>
            </a:r>
          </a:p>
        </p:txBody>
      </p:sp>
      <p:sp>
        <p:nvSpPr>
          <p:cNvPr id="19" name="TextBox 18"/>
          <p:cNvSpPr txBox="1"/>
          <p:nvPr/>
        </p:nvSpPr>
        <p:spPr>
          <a:xfrm>
            <a:off x="658368" y="2267712"/>
            <a:ext cx="5120640" cy="323165"/>
          </a:xfrm>
          <a:prstGeom prst="rect">
            <a:avLst/>
          </a:prstGeom>
          <a:noFill/>
        </p:spPr>
        <p:txBody>
          <a:bodyPr wrap="square">
            <a:spAutoFit/>
          </a:bodyPr>
          <a:lstStyle/>
          <a:p>
            <a:pPr algn="l"/>
            <a:r>
              <a:rPr lang="fr-FR" sz="1500" b="0" i="1" noProof="0" dirty="0">
                <a:solidFill>
                  <a:schemeClr val="bg1"/>
                </a:solidFill>
              </a:rPr>
              <a:t>Levier de conversion direct et mesurable</a:t>
            </a:r>
          </a:p>
        </p:txBody>
      </p:sp>
      <p:sp>
        <p:nvSpPr>
          <p:cNvPr id="20" name="Rectangle 19"/>
          <p:cNvSpPr/>
          <p:nvPr/>
        </p:nvSpPr>
        <p:spPr>
          <a:xfrm>
            <a:off x="502920" y="2907791"/>
            <a:ext cx="5394960" cy="107899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1" name="Rectangle 20"/>
          <p:cNvSpPr/>
          <p:nvPr/>
        </p:nvSpPr>
        <p:spPr>
          <a:xfrm>
            <a:off x="502920" y="2907791"/>
            <a:ext cx="45720" cy="1078992"/>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2" name="TextBox 21"/>
          <p:cNvSpPr txBox="1"/>
          <p:nvPr/>
        </p:nvSpPr>
        <p:spPr>
          <a:xfrm>
            <a:off x="658368" y="2999231"/>
            <a:ext cx="5120640" cy="400110"/>
          </a:xfrm>
          <a:prstGeom prst="rect">
            <a:avLst/>
          </a:prstGeom>
          <a:noFill/>
        </p:spPr>
        <p:txBody>
          <a:bodyPr wrap="square">
            <a:spAutoFit/>
          </a:bodyPr>
          <a:lstStyle/>
          <a:p>
            <a:pPr algn="l"/>
            <a:r>
              <a:rPr lang="fr-FR" sz="2000" b="1" i="0" noProof="0" dirty="0">
                <a:solidFill>
                  <a:srgbClr val="FFFFFF"/>
                </a:solidFill>
              </a:rPr>
              <a:t>Contexte cheval personnalise</a:t>
            </a:r>
          </a:p>
        </p:txBody>
      </p:sp>
      <p:sp>
        <p:nvSpPr>
          <p:cNvPr id="23" name="TextBox 22"/>
          <p:cNvSpPr txBox="1"/>
          <p:nvPr/>
        </p:nvSpPr>
        <p:spPr>
          <a:xfrm>
            <a:off x="658368" y="3438143"/>
            <a:ext cx="5120640" cy="323165"/>
          </a:xfrm>
          <a:prstGeom prst="rect">
            <a:avLst/>
          </a:prstGeom>
          <a:noFill/>
        </p:spPr>
        <p:txBody>
          <a:bodyPr wrap="square">
            <a:spAutoFit/>
          </a:bodyPr>
          <a:lstStyle/>
          <a:p>
            <a:pPr algn="l"/>
            <a:r>
              <a:rPr lang="fr-FR" sz="1500" b="0" i="1" noProof="0" dirty="0">
                <a:solidFill>
                  <a:schemeClr val="bg1"/>
                </a:solidFill>
              </a:rPr>
              <a:t>Expérience perçue comme unique — rétention forte</a:t>
            </a:r>
          </a:p>
        </p:txBody>
      </p:sp>
      <p:sp>
        <p:nvSpPr>
          <p:cNvPr id="24" name="Rectangle 23"/>
          <p:cNvSpPr/>
          <p:nvPr/>
        </p:nvSpPr>
        <p:spPr>
          <a:xfrm>
            <a:off x="502920" y="4078224"/>
            <a:ext cx="5394960" cy="107899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5" name="Rectangle 24"/>
          <p:cNvSpPr/>
          <p:nvPr/>
        </p:nvSpPr>
        <p:spPr>
          <a:xfrm>
            <a:off x="502920" y="4078224"/>
            <a:ext cx="45720" cy="1078992"/>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6" name="TextBox 25"/>
          <p:cNvSpPr txBox="1"/>
          <p:nvPr/>
        </p:nvSpPr>
        <p:spPr>
          <a:xfrm>
            <a:off x="658368" y="4169664"/>
            <a:ext cx="5120640" cy="400110"/>
          </a:xfrm>
          <a:prstGeom prst="rect">
            <a:avLst/>
          </a:prstGeom>
          <a:noFill/>
        </p:spPr>
        <p:txBody>
          <a:bodyPr wrap="square">
            <a:spAutoFit/>
          </a:bodyPr>
          <a:lstStyle/>
          <a:p>
            <a:pPr algn="l"/>
            <a:r>
              <a:rPr lang="fr-FR" sz="2000" b="1" i="0" noProof="0" dirty="0">
                <a:solidFill>
                  <a:srgbClr val="FFFFFF"/>
                </a:solidFill>
              </a:rPr>
              <a:t>Freemium d'abord, IA ensuite</a:t>
            </a:r>
          </a:p>
        </p:txBody>
      </p:sp>
      <p:sp>
        <p:nvSpPr>
          <p:cNvPr id="27" name="TextBox 26"/>
          <p:cNvSpPr txBox="1"/>
          <p:nvPr/>
        </p:nvSpPr>
        <p:spPr>
          <a:xfrm>
            <a:off x="658368" y="4608576"/>
            <a:ext cx="5120640" cy="323165"/>
          </a:xfrm>
          <a:prstGeom prst="rect">
            <a:avLst/>
          </a:prstGeom>
          <a:noFill/>
        </p:spPr>
        <p:txBody>
          <a:bodyPr wrap="square">
            <a:spAutoFit/>
          </a:bodyPr>
          <a:lstStyle/>
          <a:p>
            <a:pPr algn="l"/>
            <a:r>
              <a:rPr lang="fr-FR" sz="1500" b="0" i="1" noProof="0" dirty="0">
                <a:solidFill>
                  <a:schemeClr val="bg1"/>
                </a:solidFill>
              </a:rPr>
              <a:t>Acquisition gratuite, monétisation via IA</a:t>
            </a:r>
          </a:p>
        </p:txBody>
      </p:sp>
      <p:sp>
        <p:nvSpPr>
          <p:cNvPr id="28" name="Rectangle 27"/>
          <p:cNvSpPr/>
          <p:nvPr/>
        </p:nvSpPr>
        <p:spPr>
          <a:xfrm>
            <a:off x="502920" y="5248656"/>
            <a:ext cx="5394960" cy="107899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29" name="Rectangle 28"/>
          <p:cNvSpPr/>
          <p:nvPr/>
        </p:nvSpPr>
        <p:spPr>
          <a:xfrm>
            <a:off x="502920" y="5248656"/>
            <a:ext cx="45720" cy="1078992"/>
          </a:xfrm>
          <a:prstGeom prst="rect">
            <a:avLst/>
          </a:prstGeom>
          <a:solidFill>
            <a:srgbClr val="3CE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0" name="TextBox 29"/>
          <p:cNvSpPr txBox="1"/>
          <p:nvPr/>
        </p:nvSpPr>
        <p:spPr>
          <a:xfrm>
            <a:off x="658368" y="5340096"/>
            <a:ext cx="5120640" cy="400110"/>
          </a:xfrm>
          <a:prstGeom prst="rect">
            <a:avLst/>
          </a:prstGeom>
          <a:noFill/>
        </p:spPr>
        <p:txBody>
          <a:bodyPr wrap="square">
            <a:spAutoFit/>
          </a:bodyPr>
          <a:lstStyle/>
          <a:p>
            <a:pPr algn="l"/>
            <a:r>
              <a:rPr lang="fr-FR" sz="2000" b="1" i="0" noProof="0" dirty="0">
                <a:solidFill>
                  <a:srgbClr val="FFFFFF"/>
                </a:solidFill>
              </a:rPr>
              <a:t>Prudence médicale assumée</a:t>
            </a:r>
          </a:p>
        </p:txBody>
      </p:sp>
      <p:sp>
        <p:nvSpPr>
          <p:cNvPr id="31" name="TextBox 30"/>
          <p:cNvSpPr txBox="1"/>
          <p:nvPr/>
        </p:nvSpPr>
        <p:spPr>
          <a:xfrm>
            <a:off x="658368" y="5779008"/>
            <a:ext cx="5120640" cy="323165"/>
          </a:xfrm>
          <a:prstGeom prst="rect">
            <a:avLst/>
          </a:prstGeom>
          <a:noFill/>
        </p:spPr>
        <p:txBody>
          <a:bodyPr wrap="square">
            <a:spAutoFit/>
          </a:bodyPr>
          <a:lstStyle/>
          <a:p>
            <a:pPr algn="l"/>
            <a:r>
              <a:rPr lang="fr-FR" sz="1500" b="0" i="1" noProof="0" dirty="0">
                <a:solidFill>
                  <a:schemeClr val="bg1"/>
                </a:solidFill>
              </a:rPr>
              <a:t>Réduit le risque légal, renforce la confiance</a:t>
            </a:r>
          </a:p>
        </p:txBody>
      </p:sp>
      <p:sp>
        <p:nvSpPr>
          <p:cNvPr id="32" name="Rectangle 31"/>
          <p:cNvSpPr/>
          <p:nvPr/>
        </p:nvSpPr>
        <p:spPr>
          <a:xfrm>
            <a:off x="6291072" y="1115568"/>
            <a:ext cx="5669280" cy="5486400"/>
          </a:xfrm>
          <a:prstGeom prst="rect">
            <a:avLst/>
          </a:prstGeom>
          <a:solidFill>
            <a:srgbClr val="04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3" name="Rectangle 32"/>
          <p:cNvSpPr/>
          <p:nvPr/>
        </p:nvSpPr>
        <p:spPr>
          <a:xfrm>
            <a:off x="6291072" y="1115568"/>
            <a:ext cx="45720" cy="5486400"/>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4" name="Rectangle 33"/>
          <p:cNvSpPr/>
          <p:nvPr/>
        </p:nvSpPr>
        <p:spPr>
          <a:xfrm>
            <a:off x="6291072" y="1115568"/>
            <a:ext cx="5669280" cy="502920"/>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5" name="TextBox 34"/>
          <p:cNvSpPr txBox="1"/>
          <p:nvPr/>
        </p:nvSpPr>
        <p:spPr>
          <a:xfrm>
            <a:off x="6291072" y="1152144"/>
            <a:ext cx="5669280" cy="400110"/>
          </a:xfrm>
          <a:prstGeom prst="rect">
            <a:avLst/>
          </a:prstGeom>
          <a:noFill/>
        </p:spPr>
        <p:txBody>
          <a:bodyPr wrap="square">
            <a:spAutoFit/>
          </a:bodyPr>
          <a:lstStyle/>
          <a:p>
            <a:pPr algn="ctr"/>
            <a:r>
              <a:rPr lang="fr-FR" sz="2000" b="1" i="0" noProof="0" dirty="0">
                <a:solidFill>
                  <a:srgbClr val="FFFFFF"/>
                </a:solidFill>
              </a:rPr>
              <a:t>Ce qui manque </a:t>
            </a:r>
            <a:r>
              <a:rPr lang="fr-FR" sz="2000" b="1" dirty="0">
                <a:solidFill>
                  <a:srgbClr val="FFFFFF"/>
                </a:solidFill>
              </a:rPr>
              <a:t>(</a:t>
            </a:r>
            <a:r>
              <a:rPr lang="fr-FR" sz="2000" b="1" i="0" noProof="0" dirty="0">
                <a:solidFill>
                  <a:srgbClr val="FFFFFF"/>
                </a:solidFill>
              </a:rPr>
              <a:t>nos </a:t>
            </a:r>
            <a:r>
              <a:rPr lang="fr-FR" sz="2000" b="1" i="0" noProof="0" dirty="0" err="1">
                <a:solidFill>
                  <a:srgbClr val="FFFFFF"/>
                </a:solidFill>
              </a:rPr>
              <a:t>opportunites</a:t>
            </a:r>
            <a:r>
              <a:rPr lang="fr-FR" sz="2000" b="1" i="0" noProof="0" dirty="0">
                <a:solidFill>
                  <a:srgbClr val="FFFFFF"/>
                </a:solidFill>
              </a:rPr>
              <a:t>)</a:t>
            </a:r>
          </a:p>
        </p:txBody>
      </p:sp>
      <p:sp>
        <p:nvSpPr>
          <p:cNvPr id="36" name="Rectangle 35"/>
          <p:cNvSpPr/>
          <p:nvPr/>
        </p:nvSpPr>
        <p:spPr>
          <a:xfrm>
            <a:off x="6428232" y="1737360"/>
            <a:ext cx="5394960" cy="107899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7" name="Rectangle 36"/>
          <p:cNvSpPr/>
          <p:nvPr/>
        </p:nvSpPr>
        <p:spPr>
          <a:xfrm>
            <a:off x="6428232" y="1737360"/>
            <a:ext cx="45720" cy="1078992"/>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8" name="TextBox 37"/>
          <p:cNvSpPr txBox="1"/>
          <p:nvPr/>
        </p:nvSpPr>
        <p:spPr>
          <a:xfrm>
            <a:off x="6583680" y="1828800"/>
            <a:ext cx="5120640" cy="400110"/>
          </a:xfrm>
          <a:prstGeom prst="rect">
            <a:avLst/>
          </a:prstGeom>
          <a:noFill/>
        </p:spPr>
        <p:txBody>
          <a:bodyPr wrap="square">
            <a:spAutoFit/>
          </a:bodyPr>
          <a:lstStyle/>
          <a:p>
            <a:pPr algn="l"/>
            <a:r>
              <a:rPr lang="fr-FR" sz="2000" b="1" i="0" noProof="0" dirty="0">
                <a:solidFill>
                  <a:srgbClr val="FFFFFF"/>
                </a:solidFill>
              </a:rPr>
              <a:t>Pas de génération de schémas</a:t>
            </a:r>
          </a:p>
        </p:txBody>
      </p:sp>
      <p:sp>
        <p:nvSpPr>
          <p:cNvPr id="39" name="TextBox 38"/>
          <p:cNvSpPr txBox="1"/>
          <p:nvPr/>
        </p:nvSpPr>
        <p:spPr>
          <a:xfrm>
            <a:off x="6583680" y="2267712"/>
            <a:ext cx="5120640" cy="323165"/>
          </a:xfrm>
          <a:prstGeom prst="rect">
            <a:avLst/>
          </a:prstGeom>
          <a:noFill/>
        </p:spPr>
        <p:txBody>
          <a:bodyPr wrap="square">
            <a:spAutoFit/>
          </a:bodyPr>
          <a:lstStyle/>
          <a:p>
            <a:pPr algn="l"/>
            <a:r>
              <a:rPr lang="fr-FR" sz="1500" b="0" i="1" noProof="0" dirty="0">
                <a:solidFill>
                  <a:schemeClr val="bg1"/>
                </a:solidFill>
              </a:rPr>
              <a:t>Opportunity directe pour notre projet</a:t>
            </a:r>
          </a:p>
        </p:txBody>
      </p:sp>
      <p:sp>
        <p:nvSpPr>
          <p:cNvPr id="40" name="Rectangle 39"/>
          <p:cNvSpPr/>
          <p:nvPr/>
        </p:nvSpPr>
        <p:spPr>
          <a:xfrm>
            <a:off x="6428232" y="2907791"/>
            <a:ext cx="5394960" cy="107899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1" name="Rectangle 40"/>
          <p:cNvSpPr/>
          <p:nvPr/>
        </p:nvSpPr>
        <p:spPr>
          <a:xfrm>
            <a:off x="6428232" y="2907791"/>
            <a:ext cx="45720" cy="1078992"/>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2" name="TextBox 41"/>
          <p:cNvSpPr txBox="1"/>
          <p:nvPr/>
        </p:nvSpPr>
        <p:spPr>
          <a:xfrm>
            <a:off x="6583680" y="2999231"/>
            <a:ext cx="5120640" cy="400110"/>
          </a:xfrm>
          <a:prstGeom prst="rect">
            <a:avLst/>
          </a:prstGeom>
          <a:noFill/>
        </p:spPr>
        <p:txBody>
          <a:bodyPr wrap="square">
            <a:spAutoFit/>
          </a:bodyPr>
          <a:lstStyle/>
          <a:p>
            <a:pPr algn="l"/>
            <a:r>
              <a:rPr lang="fr-FR" sz="2000" b="1" i="0" noProof="0" dirty="0">
                <a:solidFill>
                  <a:srgbClr val="FFFFFF"/>
                </a:solidFill>
              </a:rPr>
              <a:t>Pas d'analyse vidéo / posture</a:t>
            </a:r>
          </a:p>
        </p:txBody>
      </p:sp>
      <p:sp>
        <p:nvSpPr>
          <p:cNvPr id="43" name="TextBox 42"/>
          <p:cNvSpPr txBox="1"/>
          <p:nvPr/>
        </p:nvSpPr>
        <p:spPr>
          <a:xfrm>
            <a:off x="6583680" y="3438143"/>
            <a:ext cx="5120640" cy="323165"/>
          </a:xfrm>
          <a:prstGeom prst="rect">
            <a:avLst/>
          </a:prstGeom>
          <a:noFill/>
        </p:spPr>
        <p:txBody>
          <a:bodyPr wrap="square">
            <a:spAutoFit/>
          </a:bodyPr>
          <a:lstStyle/>
          <a:p>
            <a:pPr algn="l"/>
            <a:r>
              <a:rPr lang="fr-FR" sz="1500" b="0" i="1" noProof="0" dirty="0">
                <a:solidFill>
                  <a:schemeClr val="bg1"/>
                </a:solidFill>
              </a:rPr>
              <a:t>Valeur ajoutée possible avec Gemini V2</a:t>
            </a:r>
          </a:p>
        </p:txBody>
      </p:sp>
      <p:sp>
        <p:nvSpPr>
          <p:cNvPr id="44" name="Rectangle 43"/>
          <p:cNvSpPr/>
          <p:nvPr/>
        </p:nvSpPr>
        <p:spPr>
          <a:xfrm>
            <a:off x="6428232" y="4078224"/>
            <a:ext cx="5394960" cy="107899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5" name="Rectangle 44"/>
          <p:cNvSpPr/>
          <p:nvPr/>
        </p:nvSpPr>
        <p:spPr>
          <a:xfrm>
            <a:off x="6428232" y="4078224"/>
            <a:ext cx="45720" cy="1078992"/>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6" name="TextBox 45"/>
          <p:cNvSpPr txBox="1"/>
          <p:nvPr/>
        </p:nvSpPr>
        <p:spPr>
          <a:xfrm>
            <a:off x="6583680" y="4169664"/>
            <a:ext cx="5120640" cy="400110"/>
          </a:xfrm>
          <a:prstGeom prst="rect">
            <a:avLst/>
          </a:prstGeom>
          <a:noFill/>
        </p:spPr>
        <p:txBody>
          <a:bodyPr wrap="square">
            <a:spAutoFit/>
          </a:bodyPr>
          <a:lstStyle/>
          <a:p>
            <a:pPr algn="l"/>
            <a:r>
              <a:rPr lang="fr-FR" sz="2000" b="1" i="0" noProof="0" dirty="0">
                <a:solidFill>
                  <a:srgbClr val="FFFFFF"/>
                </a:solidFill>
              </a:rPr>
              <a:t>Interface web limitée</a:t>
            </a:r>
          </a:p>
        </p:txBody>
      </p:sp>
      <p:sp>
        <p:nvSpPr>
          <p:cNvPr id="47" name="TextBox 46"/>
          <p:cNvSpPr txBox="1"/>
          <p:nvPr/>
        </p:nvSpPr>
        <p:spPr>
          <a:xfrm>
            <a:off x="6583680" y="4608576"/>
            <a:ext cx="5120640" cy="323165"/>
          </a:xfrm>
          <a:prstGeom prst="rect">
            <a:avLst/>
          </a:prstGeom>
          <a:noFill/>
        </p:spPr>
        <p:txBody>
          <a:bodyPr wrap="square">
            <a:spAutoFit/>
          </a:bodyPr>
          <a:lstStyle/>
          <a:p>
            <a:pPr algn="l"/>
            <a:r>
              <a:rPr lang="fr-FR" sz="1500" b="0" i="1" noProof="0" dirty="0">
                <a:solidFill>
                  <a:schemeClr val="bg1"/>
                </a:solidFill>
              </a:rPr>
              <a:t>WordPress marketing — pas d'app web fonctionnelle</a:t>
            </a:r>
          </a:p>
        </p:txBody>
      </p:sp>
      <p:sp>
        <p:nvSpPr>
          <p:cNvPr id="48" name="Rectangle 47"/>
          <p:cNvSpPr/>
          <p:nvPr/>
        </p:nvSpPr>
        <p:spPr>
          <a:xfrm>
            <a:off x="6428232" y="5248656"/>
            <a:ext cx="5394960" cy="107899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9" name="Rectangle 48"/>
          <p:cNvSpPr/>
          <p:nvPr/>
        </p:nvSpPr>
        <p:spPr>
          <a:xfrm>
            <a:off x="6428232" y="5248656"/>
            <a:ext cx="45720" cy="1078992"/>
          </a:xfrm>
          <a:prstGeom prst="rect">
            <a:avLst/>
          </a:prstGeom>
          <a:solidFill>
            <a:srgbClr val="FFA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0" name="TextBox 49"/>
          <p:cNvSpPr txBox="1"/>
          <p:nvPr/>
        </p:nvSpPr>
        <p:spPr>
          <a:xfrm>
            <a:off x="6583680" y="5340096"/>
            <a:ext cx="5120640" cy="400110"/>
          </a:xfrm>
          <a:prstGeom prst="rect">
            <a:avLst/>
          </a:prstGeom>
          <a:noFill/>
        </p:spPr>
        <p:txBody>
          <a:bodyPr wrap="square">
            <a:spAutoFit/>
          </a:bodyPr>
          <a:lstStyle/>
          <a:p>
            <a:pPr algn="l"/>
            <a:r>
              <a:rPr lang="fr-FR" sz="2000" b="1" i="0" noProof="0" dirty="0">
                <a:solidFill>
                  <a:srgbClr val="FFFFFF"/>
                </a:solidFill>
              </a:rPr>
              <a:t>Pas de partage communauté</a:t>
            </a:r>
          </a:p>
        </p:txBody>
      </p:sp>
      <p:sp>
        <p:nvSpPr>
          <p:cNvPr id="51" name="TextBox 50"/>
          <p:cNvSpPr txBox="1"/>
          <p:nvPr/>
        </p:nvSpPr>
        <p:spPr>
          <a:xfrm>
            <a:off x="6583680" y="5779008"/>
            <a:ext cx="5120640" cy="323165"/>
          </a:xfrm>
          <a:prstGeom prst="rect">
            <a:avLst/>
          </a:prstGeom>
          <a:noFill/>
        </p:spPr>
        <p:txBody>
          <a:bodyPr wrap="square">
            <a:spAutoFit/>
          </a:bodyPr>
          <a:lstStyle/>
          <a:p>
            <a:pPr algn="l"/>
            <a:r>
              <a:rPr lang="fr-FR" sz="1500" b="0" i="1" noProof="0" dirty="0">
                <a:solidFill>
                  <a:schemeClr val="bg1"/>
                </a:solidFill>
              </a:rPr>
              <a:t>Exercices en silo — pas de contribution utilisateur</a:t>
            </a:r>
          </a:p>
        </p:txBody>
      </p:sp>
    </p:spTree>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3D20C-059B-4EE7-E238-6AA8C0B13958}"/>
            </a:ext>
          </a:extLst>
        </p:cNvPr>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A58836C9-1AC2-D843-DFA9-648BF01CF0A2}"/>
              </a:ext>
            </a:extLst>
          </p:cNvPr>
          <p:cNvPicPr>
            <a:picLocks noChangeAspect="1"/>
          </p:cNvPicPr>
          <p:nvPr/>
        </p:nvPicPr>
        <p:blipFill>
          <a:blip r:embed="rId2"/>
          <a:srcRect b="15603"/>
          <a:stretch>
            <a:fillRect/>
          </a:stretch>
        </p:blipFill>
        <p:spPr>
          <a:xfrm>
            <a:off x="-1" y="-1"/>
            <a:ext cx="12188825" cy="6858001"/>
          </a:xfrm>
          <a:prstGeom prst="rect">
            <a:avLst/>
          </a:prstGeom>
        </p:spPr>
      </p:pic>
      <p:pic>
        <p:nvPicPr>
          <p:cNvPr id="6" name="Image 5" descr="The image shows a mobile app interface with a horse theme, featuring various sections like Versicherung, Blog, Jobs, and FAQ, along with options to contact support and explore different services.&#10;&#10;Le contenu généré par l’IA peut être incorrect.">
            <a:extLst>
              <a:ext uri="{FF2B5EF4-FFF2-40B4-BE49-F238E27FC236}">
                <a16:creationId xmlns:a16="http://schemas.microsoft.com/office/drawing/2014/main" id="{BA6CA4A9-A966-11C3-FC23-508CF0CFC08E}"/>
              </a:ext>
            </a:extLst>
          </p:cNvPr>
          <p:cNvPicPr>
            <a:picLocks noChangeAspect="1"/>
          </p:cNvPicPr>
          <p:nvPr/>
        </p:nvPicPr>
        <p:blipFill>
          <a:blip r:embed="rId3"/>
          <a:stretch>
            <a:fillRect/>
          </a:stretch>
        </p:blipFill>
        <p:spPr>
          <a:xfrm>
            <a:off x="1294375" y="1455174"/>
            <a:ext cx="9747968" cy="4662956"/>
          </a:xfrm>
          <a:prstGeom prst="rect">
            <a:avLst/>
          </a:prstGeom>
        </p:spPr>
      </p:pic>
      <p:pic>
        <p:nvPicPr>
          <p:cNvPr id="8" name="Image 7" descr="The image shows a collection of icons including a shopping cart, a flag with the Apple logo, and a flag with the German eagle.&#10;&#10;Le contenu généré par l’IA peut être incorrect.">
            <a:extLst>
              <a:ext uri="{FF2B5EF4-FFF2-40B4-BE49-F238E27FC236}">
                <a16:creationId xmlns:a16="http://schemas.microsoft.com/office/drawing/2014/main" id="{DC5A9AEF-21FB-15A6-62CD-5E54F3CA4172}"/>
              </a:ext>
            </a:extLst>
          </p:cNvPr>
          <p:cNvPicPr>
            <a:picLocks noChangeAspect="1"/>
          </p:cNvPicPr>
          <p:nvPr/>
        </p:nvPicPr>
        <p:blipFill>
          <a:blip r:embed="rId4"/>
          <a:stretch>
            <a:fillRect/>
          </a:stretch>
        </p:blipFill>
        <p:spPr>
          <a:xfrm>
            <a:off x="8855085" y="1455174"/>
            <a:ext cx="2015143" cy="429699"/>
          </a:xfrm>
          <a:prstGeom prst="rect">
            <a:avLst/>
          </a:prstGeom>
        </p:spPr>
      </p:pic>
      <p:sp>
        <p:nvSpPr>
          <p:cNvPr id="9" name="ZoneTexte 8">
            <a:extLst>
              <a:ext uri="{FF2B5EF4-FFF2-40B4-BE49-F238E27FC236}">
                <a16:creationId xmlns:a16="http://schemas.microsoft.com/office/drawing/2014/main" id="{F8C7D1E3-0C13-21F3-E1B6-9CAEFFF2CCD6}"/>
              </a:ext>
            </a:extLst>
          </p:cNvPr>
          <p:cNvSpPr txBox="1"/>
          <p:nvPr/>
        </p:nvSpPr>
        <p:spPr>
          <a:xfrm>
            <a:off x="668593" y="361361"/>
            <a:ext cx="10023271" cy="707886"/>
          </a:xfrm>
          <a:prstGeom prst="rect">
            <a:avLst/>
          </a:prstGeom>
          <a:noFill/>
        </p:spPr>
        <p:txBody>
          <a:bodyPr wrap="square" rtlCol="0">
            <a:spAutoFit/>
          </a:bodyPr>
          <a:lstStyle/>
          <a:p>
            <a:r>
              <a:rPr lang="fr-FR" sz="4000" b="1" dirty="0">
                <a:solidFill>
                  <a:schemeClr val="bg1"/>
                </a:solidFill>
              </a:rPr>
              <a:t>Analyse visuelle de la landing page principale </a:t>
            </a:r>
          </a:p>
        </p:txBody>
      </p:sp>
      <p:pic>
        <p:nvPicPr>
          <p:cNvPr id="16" name="Image 15" descr="The image is a list of services offered for horse management, including health tracking, dietary planning, training, and reviews.&#10;&#10;Le contenu généré par l’IA peut être incorrect.">
            <a:extLst>
              <a:ext uri="{FF2B5EF4-FFF2-40B4-BE49-F238E27FC236}">
                <a16:creationId xmlns:a16="http://schemas.microsoft.com/office/drawing/2014/main" id="{19D051C3-C980-C234-595C-EC4FAD68B70E}"/>
              </a:ext>
            </a:extLst>
          </p:cNvPr>
          <p:cNvPicPr>
            <a:picLocks noChangeAspect="1"/>
          </p:cNvPicPr>
          <p:nvPr/>
        </p:nvPicPr>
        <p:blipFill>
          <a:blip r:embed="rId5"/>
          <a:stretch>
            <a:fillRect/>
          </a:stretch>
        </p:blipFill>
        <p:spPr>
          <a:xfrm>
            <a:off x="2434728" y="1884873"/>
            <a:ext cx="1694443" cy="2592384"/>
          </a:xfrm>
          <a:prstGeom prst="rect">
            <a:avLst/>
          </a:prstGeom>
        </p:spPr>
      </p:pic>
      <p:sp>
        <p:nvSpPr>
          <p:cNvPr id="17" name="ZoneTexte 16">
            <a:extLst>
              <a:ext uri="{FF2B5EF4-FFF2-40B4-BE49-F238E27FC236}">
                <a16:creationId xmlns:a16="http://schemas.microsoft.com/office/drawing/2014/main" id="{C6E513A6-3E89-73AD-2BB1-5BC20DC8B5A8}"/>
              </a:ext>
            </a:extLst>
          </p:cNvPr>
          <p:cNvSpPr txBox="1"/>
          <p:nvPr/>
        </p:nvSpPr>
        <p:spPr>
          <a:xfrm>
            <a:off x="3999698" y="1100628"/>
            <a:ext cx="1435510" cy="323165"/>
          </a:xfrm>
          <a:prstGeom prst="rect">
            <a:avLst/>
          </a:prstGeom>
          <a:noFill/>
        </p:spPr>
        <p:txBody>
          <a:bodyPr wrap="square" rtlCol="0">
            <a:spAutoFit/>
          </a:bodyPr>
          <a:lstStyle/>
          <a:p>
            <a:r>
              <a:rPr lang="fr-FR" sz="1500" dirty="0">
                <a:solidFill>
                  <a:schemeClr val="bg1"/>
                </a:solidFill>
              </a:rPr>
              <a:t>Assurances</a:t>
            </a:r>
          </a:p>
        </p:txBody>
      </p:sp>
      <p:sp>
        <p:nvSpPr>
          <p:cNvPr id="18" name="ZoneTexte 17">
            <a:extLst>
              <a:ext uri="{FF2B5EF4-FFF2-40B4-BE49-F238E27FC236}">
                <a16:creationId xmlns:a16="http://schemas.microsoft.com/office/drawing/2014/main" id="{6DF03334-3488-C9FA-1B9F-216F61D03FD0}"/>
              </a:ext>
            </a:extLst>
          </p:cNvPr>
          <p:cNvSpPr txBox="1"/>
          <p:nvPr/>
        </p:nvSpPr>
        <p:spPr>
          <a:xfrm>
            <a:off x="10263802" y="1099413"/>
            <a:ext cx="954446" cy="323165"/>
          </a:xfrm>
          <a:prstGeom prst="rect">
            <a:avLst/>
          </a:prstGeom>
          <a:noFill/>
        </p:spPr>
        <p:txBody>
          <a:bodyPr wrap="square" rtlCol="0">
            <a:spAutoFit/>
          </a:bodyPr>
          <a:lstStyle/>
          <a:p>
            <a:r>
              <a:rPr lang="fr-FR" sz="1500" dirty="0">
                <a:solidFill>
                  <a:schemeClr val="bg1"/>
                </a:solidFill>
              </a:rPr>
              <a:t>Langues</a:t>
            </a:r>
          </a:p>
        </p:txBody>
      </p:sp>
      <p:sp>
        <p:nvSpPr>
          <p:cNvPr id="19" name="ZoneTexte 18">
            <a:extLst>
              <a:ext uri="{FF2B5EF4-FFF2-40B4-BE49-F238E27FC236}">
                <a16:creationId xmlns:a16="http://schemas.microsoft.com/office/drawing/2014/main" id="{2FEB1DBD-CB4C-34C6-A8CA-9D7E4E95B9B8}"/>
              </a:ext>
            </a:extLst>
          </p:cNvPr>
          <p:cNvSpPr txBox="1"/>
          <p:nvPr/>
        </p:nvSpPr>
        <p:spPr>
          <a:xfrm>
            <a:off x="2928066" y="1116016"/>
            <a:ext cx="1032387" cy="323165"/>
          </a:xfrm>
          <a:prstGeom prst="rect">
            <a:avLst/>
          </a:prstGeom>
          <a:noFill/>
        </p:spPr>
        <p:txBody>
          <a:bodyPr wrap="square" rtlCol="0">
            <a:spAutoFit/>
          </a:bodyPr>
          <a:lstStyle/>
          <a:p>
            <a:r>
              <a:rPr lang="fr-FR" sz="1500" dirty="0">
                <a:solidFill>
                  <a:schemeClr val="bg1"/>
                </a:solidFill>
              </a:rPr>
              <a:t>Services</a:t>
            </a:r>
          </a:p>
        </p:txBody>
      </p:sp>
      <p:sp>
        <p:nvSpPr>
          <p:cNvPr id="20" name="ZoneTexte 19">
            <a:extLst>
              <a:ext uri="{FF2B5EF4-FFF2-40B4-BE49-F238E27FC236}">
                <a16:creationId xmlns:a16="http://schemas.microsoft.com/office/drawing/2014/main" id="{667E947D-29C6-F8F2-4486-CB1E8798A477}"/>
              </a:ext>
            </a:extLst>
          </p:cNvPr>
          <p:cNvSpPr txBox="1"/>
          <p:nvPr/>
        </p:nvSpPr>
        <p:spPr>
          <a:xfrm>
            <a:off x="10263802" y="6150726"/>
            <a:ext cx="856124" cy="323165"/>
          </a:xfrm>
          <a:prstGeom prst="rect">
            <a:avLst/>
          </a:prstGeom>
          <a:noFill/>
        </p:spPr>
        <p:txBody>
          <a:bodyPr wrap="square" rtlCol="0">
            <a:spAutoFit/>
          </a:bodyPr>
          <a:lstStyle/>
          <a:p>
            <a:r>
              <a:rPr lang="fr-FR" sz="1500" dirty="0">
                <a:solidFill>
                  <a:schemeClr val="bg1"/>
                </a:solidFill>
              </a:rPr>
              <a:t>Chatbot</a:t>
            </a:r>
          </a:p>
        </p:txBody>
      </p:sp>
      <p:pic>
        <p:nvPicPr>
          <p:cNvPr id="22" name="Image 21">
            <a:extLst>
              <a:ext uri="{FF2B5EF4-FFF2-40B4-BE49-F238E27FC236}">
                <a16:creationId xmlns:a16="http://schemas.microsoft.com/office/drawing/2014/main" id="{EB5BEDC8-8707-48CF-3E3B-B5923F2612EA}"/>
              </a:ext>
            </a:extLst>
          </p:cNvPr>
          <p:cNvPicPr>
            <a:picLocks noChangeAspect="1"/>
          </p:cNvPicPr>
          <p:nvPr/>
        </p:nvPicPr>
        <p:blipFill>
          <a:blip r:embed="rId6"/>
          <a:srcRect l="19628" t="14354" r="12038" b="19862"/>
          <a:stretch>
            <a:fillRect/>
          </a:stretch>
        </p:blipFill>
        <p:spPr>
          <a:xfrm>
            <a:off x="10598457" y="5655241"/>
            <a:ext cx="186813" cy="190630"/>
          </a:xfrm>
          <a:prstGeom prst="rect">
            <a:avLst/>
          </a:prstGeom>
        </p:spPr>
      </p:pic>
      <p:sp>
        <p:nvSpPr>
          <p:cNvPr id="23" name="ZoneTexte 22">
            <a:extLst>
              <a:ext uri="{FF2B5EF4-FFF2-40B4-BE49-F238E27FC236}">
                <a16:creationId xmlns:a16="http://schemas.microsoft.com/office/drawing/2014/main" id="{724180B7-0DCC-DB1C-819E-C3E0FD9AE5D9}"/>
              </a:ext>
            </a:extLst>
          </p:cNvPr>
          <p:cNvSpPr txBox="1"/>
          <p:nvPr/>
        </p:nvSpPr>
        <p:spPr>
          <a:xfrm>
            <a:off x="5193266" y="1100628"/>
            <a:ext cx="884903" cy="323165"/>
          </a:xfrm>
          <a:prstGeom prst="rect">
            <a:avLst/>
          </a:prstGeom>
          <a:noFill/>
        </p:spPr>
        <p:txBody>
          <a:bodyPr wrap="square" rtlCol="0">
            <a:spAutoFit/>
          </a:bodyPr>
          <a:lstStyle/>
          <a:p>
            <a:r>
              <a:rPr lang="fr-FR" sz="1500" dirty="0">
                <a:solidFill>
                  <a:schemeClr val="bg1"/>
                </a:solidFill>
              </a:rPr>
              <a:t>Blog</a:t>
            </a:r>
          </a:p>
        </p:txBody>
      </p:sp>
      <p:pic>
        <p:nvPicPr>
          <p:cNvPr id="25" name="Image 24" descr="The image is a categorized list or menu detailing various topics related to horse care, including diseases, health, feeding, tack, training, and breeds.&#10;&#10;Le contenu généré par l’IA peut être incorrect.">
            <a:extLst>
              <a:ext uri="{FF2B5EF4-FFF2-40B4-BE49-F238E27FC236}">
                <a16:creationId xmlns:a16="http://schemas.microsoft.com/office/drawing/2014/main" id="{6DBF1DFD-289B-1498-D5D1-338A8EA3ED77}"/>
              </a:ext>
            </a:extLst>
          </p:cNvPr>
          <p:cNvPicPr>
            <a:picLocks noChangeAspect="1"/>
          </p:cNvPicPr>
          <p:nvPr/>
        </p:nvPicPr>
        <p:blipFill>
          <a:blip r:embed="rId7"/>
          <a:srcRect r="9770"/>
          <a:stretch>
            <a:fillRect/>
          </a:stretch>
        </p:blipFill>
        <p:spPr>
          <a:xfrm>
            <a:off x="4505782" y="1892926"/>
            <a:ext cx="1528883" cy="2584331"/>
          </a:xfrm>
          <a:prstGeom prst="rect">
            <a:avLst/>
          </a:prstGeom>
        </p:spPr>
      </p:pic>
      <p:pic>
        <p:nvPicPr>
          <p:cNvPr id="27" name="Image 26" descr="Checkout.&#10;&#10;Le contenu généré par l’IA peut être incorrect.">
            <a:extLst>
              <a:ext uri="{FF2B5EF4-FFF2-40B4-BE49-F238E27FC236}">
                <a16:creationId xmlns:a16="http://schemas.microsoft.com/office/drawing/2014/main" id="{723C5A0D-1B0D-AB81-D644-2A0F6F783D26}"/>
              </a:ext>
            </a:extLst>
          </p:cNvPr>
          <p:cNvPicPr>
            <a:picLocks noChangeAspect="1"/>
          </p:cNvPicPr>
          <p:nvPr/>
        </p:nvPicPr>
        <p:blipFill>
          <a:blip r:embed="rId8"/>
          <a:stretch>
            <a:fillRect/>
          </a:stretch>
        </p:blipFill>
        <p:spPr>
          <a:xfrm>
            <a:off x="6407610" y="1884873"/>
            <a:ext cx="1347425" cy="1439201"/>
          </a:xfrm>
          <a:prstGeom prst="rect">
            <a:avLst/>
          </a:prstGeom>
        </p:spPr>
      </p:pic>
      <p:sp>
        <p:nvSpPr>
          <p:cNvPr id="28" name="ZoneTexte 27">
            <a:extLst>
              <a:ext uri="{FF2B5EF4-FFF2-40B4-BE49-F238E27FC236}">
                <a16:creationId xmlns:a16="http://schemas.microsoft.com/office/drawing/2014/main" id="{9B5C474A-6195-4440-BC8D-47C9F3FCCF15}"/>
              </a:ext>
            </a:extLst>
          </p:cNvPr>
          <p:cNvSpPr txBox="1"/>
          <p:nvPr/>
        </p:nvSpPr>
        <p:spPr>
          <a:xfrm>
            <a:off x="6466603" y="1117750"/>
            <a:ext cx="1242001" cy="323165"/>
          </a:xfrm>
          <a:prstGeom prst="rect">
            <a:avLst/>
          </a:prstGeom>
          <a:noFill/>
        </p:spPr>
        <p:txBody>
          <a:bodyPr wrap="square" rtlCol="0">
            <a:spAutoFit/>
          </a:bodyPr>
          <a:lstStyle/>
          <a:p>
            <a:r>
              <a:rPr lang="fr-FR" sz="1500" dirty="0">
                <a:solidFill>
                  <a:schemeClr val="bg1"/>
                </a:solidFill>
              </a:rPr>
              <a:t>Produits</a:t>
            </a:r>
          </a:p>
        </p:txBody>
      </p:sp>
      <p:sp>
        <p:nvSpPr>
          <p:cNvPr id="29" name="ZoneTexte 28">
            <a:extLst>
              <a:ext uri="{FF2B5EF4-FFF2-40B4-BE49-F238E27FC236}">
                <a16:creationId xmlns:a16="http://schemas.microsoft.com/office/drawing/2014/main" id="{519F7E00-6B54-7A90-5ED3-8E2C0205FFB6}"/>
              </a:ext>
            </a:extLst>
          </p:cNvPr>
          <p:cNvSpPr txBox="1"/>
          <p:nvPr/>
        </p:nvSpPr>
        <p:spPr>
          <a:xfrm>
            <a:off x="7845864" y="1093813"/>
            <a:ext cx="2740265" cy="323165"/>
          </a:xfrm>
          <a:prstGeom prst="rect">
            <a:avLst/>
          </a:prstGeom>
          <a:noFill/>
        </p:spPr>
        <p:txBody>
          <a:bodyPr wrap="square" rtlCol="0">
            <a:spAutoFit/>
          </a:bodyPr>
          <a:lstStyle/>
          <a:p>
            <a:r>
              <a:rPr lang="fr-FR" sz="1500" dirty="0">
                <a:solidFill>
                  <a:schemeClr val="bg1"/>
                </a:solidFill>
              </a:rPr>
              <a:t>Plateformes téléchargement</a:t>
            </a:r>
          </a:p>
        </p:txBody>
      </p:sp>
      <p:sp>
        <p:nvSpPr>
          <p:cNvPr id="30" name="ZoneTexte 29">
            <a:extLst>
              <a:ext uri="{FF2B5EF4-FFF2-40B4-BE49-F238E27FC236}">
                <a16:creationId xmlns:a16="http://schemas.microsoft.com/office/drawing/2014/main" id="{961661A2-E5A1-48C5-DAF1-256E5062DA5D}"/>
              </a:ext>
            </a:extLst>
          </p:cNvPr>
          <p:cNvSpPr txBox="1"/>
          <p:nvPr/>
        </p:nvSpPr>
        <p:spPr>
          <a:xfrm>
            <a:off x="5840361" y="1107443"/>
            <a:ext cx="718244" cy="323165"/>
          </a:xfrm>
          <a:prstGeom prst="rect">
            <a:avLst/>
          </a:prstGeom>
          <a:noFill/>
        </p:spPr>
        <p:txBody>
          <a:bodyPr wrap="square" rtlCol="0">
            <a:spAutoFit/>
          </a:bodyPr>
          <a:lstStyle/>
          <a:p>
            <a:r>
              <a:rPr lang="fr-FR" sz="1500" dirty="0">
                <a:solidFill>
                  <a:schemeClr val="bg1"/>
                </a:solidFill>
              </a:rPr>
              <a:t>Jobs</a:t>
            </a:r>
          </a:p>
        </p:txBody>
      </p:sp>
      <p:sp>
        <p:nvSpPr>
          <p:cNvPr id="31" name="ZoneTexte 30">
            <a:extLst>
              <a:ext uri="{FF2B5EF4-FFF2-40B4-BE49-F238E27FC236}">
                <a16:creationId xmlns:a16="http://schemas.microsoft.com/office/drawing/2014/main" id="{1D1BB52D-1ECD-420D-8A48-A79C8F246BEE}"/>
              </a:ext>
            </a:extLst>
          </p:cNvPr>
          <p:cNvSpPr txBox="1"/>
          <p:nvPr/>
        </p:nvSpPr>
        <p:spPr>
          <a:xfrm>
            <a:off x="7353500" y="1100628"/>
            <a:ext cx="803069" cy="323165"/>
          </a:xfrm>
          <a:prstGeom prst="rect">
            <a:avLst/>
          </a:prstGeom>
          <a:noFill/>
        </p:spPr>
        <p:txBody>
          <a:bodyPr wrap="square" rtlCol="0">
            <a:spAutoFit/>
          </a:bodyPr>
          <a:lstStyle/>
          <a:p>
            <a:r>
              <a:rPr lang="fr-FR" sz="1500" dirty="0">
                <a:solidFill>
                  <a:schemeClr val="bg1"/>
                </a:solidFill>
              </a:rPr>
              <a:t>FAQ</a:t>
            </a:r>
          </a:p>
        </p:txBody>
      </p:sp>
    </p:spTree>
    <p:extLst>
      <p:ext uri="{BB962C8B-B14F-4D97-AF65-F5344CB8AC3E}">
        <p14:creationId xmlns:p14="http://schemas.microsoft.com/office/powerpoint/2010/main" val="2316348760"/>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10A96-C9A9-9E5A-AA79-C3176371B79A}"/>
            </a:ext>
          </a:extLst>
        </p:cNvPr>
        <p:cNvGrpSpPr/>
        <p:nvPr/>
      </p:nvGrpSpPr>
      <p:grpSpPr>
        <a:xfrm>
          <a:off x="0" y="0"/>
          <a:ext cx="0" cy="0"/>
          <a:chOff x="0" y="0"/>
          <a:chExt cx="0" cy="0"/>
        </a:xfrm>
      </p:grpSpPr>
      <p:pic>
        <p:nvPicPr>
          <p:cNvPr id="3" name="Image 2" descr="The image depicts a dark, abstract pattern resembling swirling, fluid oceanic or cosmic motions.&#10;&#10;Le contenu généré par l’IA peut être incorrect.">
            <a:extLst>
              <a:ext uri="{FF2B5EF4-FFF2-40B4-BE49-F238E27FC236}">
                <a16:creationId xmlns:a16="http://schemas.microsoft.com/office/drawing/2014/main" id="{3E7DE60A-D5C5-F6EB-73A7-163E268126F2}"/>
              </a:ext>
            </a:extLst>
          </p:cNvPr>
          <p:cNvPicPr>
            <a:picLocks noChangeAspect="1"/>
          </p:cNvPicPr>
          <p:nvPr/>
        </p:nvPicPr>
        <p:blipFill>
          <a:blip r:embed="rId2"/>
          <a:srcRect b="15603"/>
          <a:stretch>
            <a:fillRect/>
          </a:stretch>
        </p:blipFill>
        <p:spPr>
          <a:xfrm>
            <a:off x="-1" y="-1"/>
            <a:ext cx="12188825" cy="6858001"/>
          </a:xfrm>
          <a:prstGeom prst="rect">
            <a:avLst/>
          </a:prstGeom>
        </p:spPr>
      </p:pic>
      <p:sp>
        <p:nvSpPr>
          <p:cNvPr id="5" name="TextBox 4">
            <a:extLst>
              <a:ext uri="{FF2B5EF4-FFF2-40B4-BE49-F238E27FC236}">
                <a16:creationId xmlns:a16="http://schemas.microsoft.com/office/drawing/2014/main" id="{6B16695A-48B1-7B03-ED68-58DDF610A55C}"/>
              </a:ext>
            </a:extLst>
          </p:cNvPr>
          <p:cNvSpPr txBox="1"/>
          <p:nvPr/>
        </p:nvSpPr>
        <p:spPr>
          <a:xfrm>
            <a:off x="1606724" y="1308520"/>
            <a:ext cx="8975376" cy="984885"/>
          </a:xfrm>
          <a:prstGeom prst="rect">
            <a:avLst/>
          </a:prstGeom>
          <a:noFill/>
        </p:spPr>
        <p:txBody>
          <a:bodyPr wrap="square">
            <a:spAutoFit/>
          </a:bodyPr>
          <a:lstStyle/>
          <a:p>
            <a:pPr algn="l"/>
            <a:r>
              <a:rPr lang="fr-FR" sz="5800" b="1" noProof="0" dirty="0">
                <a:solidFill>
                  <a:srgbClr val="FFFFFF"/>
                </a:solidFill>
              </a:rPr>
              <a:t>Merci beaucoup Cavalons</a:t>
            </a:r>
            <a:endParaRPr lang="fr-FR" sz="5800" b="1" i="0" noProof="0" dirty="0">
              <a:solidFill>
                <a:srgbClr val="FFFFFF"/>
              </a:solidFill>
            </a:endParaRPr>
          </a:p>
        </p:txBody>
      </p:sp>
      <p:sp>
        <p:nvSpPr>
          <p:cNvPr id="35" name="ZoneTexte 34">
            <a:extLst>
              <a:ext uri="{FF2B5EF4-FFF2-40B4-BE49-F238E27FC236}">
                <a16:creationId xmlns:a16="http://schemas.microsoft.com/office/drawing/2014/main" id="{C95B29A0-9F1D-089C-8948-B7EF3CCADB3B}"/>
              </a:ext>
            </a:extLst>
          </p:cNvPr>
          <p:cNvSpPr txBox="1"/>
          <p:nvPr/>
        </p:nvSpPr>
        <p:spPr>
          <a:xfrm>
            <a:off x="2418734" y="2179351"/>
            <a:ext cx="7846143" cy="400110"/>
          </a:xfrm>
          <a:prstGeom prst="rect">
            <a:avLst/>
          </a:prstGeom>
          <a:noFill/>
        </p:spPr>
        <p:txBody>
          <a:bodyPr wrap="square" rtlCol="0">
            <a:spAutoFit/>
          </a:bodyPr>
          <a:lstStyle/>
          <a:p>
            <a:r>
              <a:rPr lang="fr-FR" sz="2000" i="1" noProof="0" dirty="0">
                <a:solidFill>
                  <a:schemeClr val="bg1"/>
                </a:solidFill>
              </a:rPr>
              <a:t>J’espère que ça vous aura plu et que vous êtes satisfait de mon stage</a:t>
            </a:r>
          </a:p>
        </p:txBody>
      </p:sp>
      <p:pic>
        <p:nvPicPr>
          <p:cNvPr id="4" name="Image 3" descr="The image depicts a stylized, white horse with a fiery mane, galloping with dynamic motion, rendered in a black silhouette.&#10;&#10;Le contenu généré par l’IA peut être incorrect.">
            <a:extLst>
              <a:ext uri="{FF2B5EF4-FFF2-40B4-BE49-F238E27FC236}">
                <a16:creationId xmlns:a16="http://schemas.microsoft.com/office/drawing/2014/main" id="{C52A59D6-CD37-387A-8238-06A7A9D21379}"/>
              </a:ext>
            </a:extLst>
          </p:cNvPr>
          <p:cNvPicPr>
            <a:picLocks noChangeAspect="1"/>
          </p:cNvPicPr>
          <p:nvPr/>
        </p:nvPicPr>
        <p:blipFill>
          <a:blip r:embed="rId3"/>
          <a:stretch>
            <a:fillRect/>
          </a:stretch>
        </p:blipFill>
        <p:spPr>
          <a:xfrm>
            <a:off x="9649346" y="3450292"/>
            <a:ext cx="1865508" cy="2591268"/>
          </a:xfrm>
          <a:prstGeom prst="rect">
            <a:avLst/>
          </a:prstGeom>
        </p:spPr>
      </p:pic>
    </p:spTree>
    <p:extLst>
      <p:ext uri="{BB962C8B-B14F-4D97-AF65-F5344CB8AC3E}">
        <p14:creationId xmlns:p14="http://schemas.microsoft.com/office/powerpoint/2010/main" val="2012897979"/>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7044b120-a948-4ac9-b1aa-a7f256f9fd8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204AF91022D5540B32B0A57AA088D80" ma:contentTypeVersion="5" ma:contentTypeDescription="Crée un document." ma:contentTypeScope="" ma:versionID="367109c2611e82a4c38c8c9981b86140">
  <xsd:schema xmlns:xsd="http://www.w3.org/2001/XMLSchema" xmlns:xs="http://www.w3.org/2001/XMLSchema" xmlns:p="http://schemas.microsoft.com/office/2006/metadata/properties" xmlns:ns3="7044b120-a948-4ac9-b1aa-a7f256f9fd8b" targetNamespace="http://schemas.microsoft.com/office/2006/metadata/properties" ma:root="true" ma:fieldsID="e287985a88a7b4b4be28351a896ee210" ns3:_="">
    <xsd:import namespace="7044b120-a948-4ac9-b1aa-a7f256f9fd8b"/>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44b120-a948-4ac9-b1aa-a7f256f9fd8b"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AB30137-3EA2-48B9-BE3D-CD2641F3FD6A}">
  <ds:schemaRefs>
    <ds:schemaRef ds:uri="http://schemas.microsoft.com/sharepoint/v3/contenttype/forms"/>
  </ds:schemaRefs>
</ds:datastoreItem>
</file>

<file path=customXml/itemProps2.xml><?xml version="1.0" encoding="utf-8"?>
<ds:datastoreItem xmlns:ds="http://schemas.openxmlformats.org/officeDocument/2006/customXml" ds:itemID="{F6E6ED0F-799F-42BF-8078-BC6DD6147A84}">
  <ds:schemaRefs>
    <ds:schemaRef ds:uri="http://schemas.microsoft.com/office/2006/documentManagement/types"/>
    <ds:schemaRef ds:uri="http://purl.org/dc/dcmitype/"/>
    <ds:schemaRef ds:uri="http://purl.org/dc/terms/"/>
    <ds:schemaRef ds:uri="http://schemas.microsoft.com/office/2006/metadata/properties"/>
    <ds:schemaRef ds:uri="http://schemas.openxmlformats.org/package/2006/metadata/core-properties"/>
    <ds:schemaRef ds:uri="http://www.w3.org/XML/1998/namespace"/>
    <ds:schemaRef ds:uri="http://schemas.microsoft.com/office/infopath/2007/PartnerControls"/>
    <ds:schemaRef ds:uri="7044b120-a948-4ac9-b1aa-a7f256f9fd8b"/>
    <ds:schemaRef ds:uri="http://purl.org/dc/elements/1.1/"/>
  </ds:schemaRefs>
</ds:datastoreItem>
</file>

<file path=customXml/itemProps3.xml><?xml version="1.0" encoding="utf-8"?>
<ds:datastoreItem xmlns:ds="http://schemas.openxmlformats.org/officeDocument/2006/customXml" ds:itemID="{452928EB-38FA-45E4-B520-BA5C3E18D4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044b120-a948-4ac9-b1aa-a7f256f9fd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1837</TotalTime>
  <Words>2469</Words>
  <Application>Microsoft Office PowerPoint</Application>
  <PresentationFormat>Personnalisé</PresentationFormat>
  <Paragraphs>667</Paragraphs>
  <Slides>30</Slides>
  <Notes>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30</vt:i4>
      </vt:variant>
    </vt:vector>
  </HeadingPairs>
  <TitlesOfParts>
    <vt:vector size="34" baseType="lpstr">
      <vt:lpstr>Aptos</vt: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Manil Doudou</dc:creator>
  <cp:keywords/>
  <dc:description>generated using python-pptx</dc:description>
  <cp:lastModifiedBy>DOUDOU MANIL</cp:lastModifiedBy>
  <cp:revision>3</cp:revision>
  <dcterms:created xsi:type="dcterms:W3CDTF">2013-01-27T09:14:16Z</dcterms:created>
  <dcterms:modified xsi:type="dcterms:W3CDTF">2026-04-30T16:14:01Z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0x010100D204AF91022D5540B32B0A57AA088D80</vt:lpwstr>
  </property>
</Properties>
</file>
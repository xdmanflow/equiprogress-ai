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1" r:id="rId9"/>
    <p:sldId id="275" r:id="rId10"/>
    <p:sldId id="274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C5B3B-DD49-43B6-9DE1-E28103719687}" v="178" dt="2026-02-27T16:29:43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948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171B-D1AA-AEF2-C15B-BE2C6A31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5054A-181D-9646-5FAC-97E8CAA95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D1C1D-6141-6097-EF2D-11A5E50E7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06A49-C38F-FEC6-3EDA-ED55B9A05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8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4DAA0-AEF1-715F-D7F9-F2C9C2695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9001-9DD8-0BC8-6DAD-A418814EF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E5264-B476-C681-B550-E4917627F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ED6C2-D202-F2F3-56B6-2A31CE7F7E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70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FABF7A16-985A-3140-220A-6B5A6A3C2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960120"/>
            <a:ext cx="41148" cy="2697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713232" y="9144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ÉTUDE DES</a:t>
            </a:r>
            <a:endParaRPr lang="en-US" sz="65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13232" y="1810512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IA</a:t>
            </a:r>
            <a:endParaRPr lang="en-US" sz="65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13232" y="2926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étude présentée par Manil Doudou</a:t>
            </a:r>
            <a:endParaRPr lang="en-US" sz="1700" i="1" dirty="0">
              <a:solidFill>
                <a:schemeClr val="bg1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8269C50-4617-4068-9E79-C868BE7FC423}"/>
              </a:ext>
            </a:extLst>
          </p:cNvPr>
          <p:cNvSpPr txBox="1"/>
          <p:nvPr/>
        </p:nvSpPr>
        <p:spPr>
          <a:xfrm>
            <a:off x="7863840" y="58001"/>
            <a:ext cx="12080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>
                <a:solidFill>
                  <a:schemeClr val="bg1"/>
                </a:solidFill>
              </a:rPr>
              <a:t>你好</a:t>
            </a:r>
            <a:endParaRPr lang="fr-FR" sz="4000" b="1" dirty="0">
              <a:solidFill>
                <a:schemeClr val="bg1"/>
              </a:solidFill>
            </a:endParaRPr>
          </a:p>
        </p:txBody>
      </p:sp>
      <p:pic>
        <p:nvPicPr>
          <p:cNvPr id="18" name="Image 17" descr="The image depicts a human brain silhouette with a series of interconnected circuit-like lines and nodes, symbolizing neural connections.&#10;&#10;Le contenu généré par l’IA peut être incorrect.">
            <a:extLst>
              <a:ext uri="{FF2B5EF4-FFF2-40B4-BE49-F238E27FC236}">
                <a16:creationId xmlns:a16="http://schemas.microsoft.com/office/drawing/2014/main" id="{3F26A53F-5508-8EB4-ED7C-C85B0B35F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118" y="2500884"/>
            <a:ext cx="1150334" cy="1165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A3B9EAD2-380A-6E11-321B-1D4E47D1C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" y="47548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75488" y="1417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&amp; </a:t>
            </a:r>
            <a:r>
              <a:rPr lang="en-US" sz="17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Typologie</a:t>
            </a:r>
            <a:r>
              <a:rPr lang="en-US" sz="17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Agents IA</a:t>
            </a:r>
            <a:endParaRPr lang="en-US" sz="1700" i="1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75488" y="18836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d’un Agent Moderne</a:t>
            </a:r>
            <a:endParaRPr lang="en-US" sz="1700" i="1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5488" y="2350008"/>
            <a:ext cx="4056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 de Cas — Petriage &amp; Happie Animals</a:t>
            </a:r>
            <a:endParaRPr lang="en-US" sz="1700" i="1" dirty="0">
              <a:solidFill>
                <a:schemeClr val="bg1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5488" y="281406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des Outils de Création d'Agent</a:t>
            </a:r>
            <a:endParaRPr lang="en-US" sz="1700" i="1" dirty="0">
              <a:solidFill>
                <a:schemeClr val="bg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5488" y="32781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des Modèles IA &amp; Conclusion</a:t>
            </a:r>
            <a:endParaRPr lang="en-US" sz="1700" i="1" dirty="0">
              <a:solidFill>
                <a:schemeClr val="bg1"/>
              </a:solidFill>
            </a:endParaRPr>
          </a:p>
        </p:txBody>
      </p:sp>
      <p:pic>
        <p:nvPicPr>
          <p:cNvPr id="43" name="Image 42" descr="The image shows a person sitting at a desk with a vintage CRT computer monitor, holding a book, and surrounded by various computer-related documents and a stack of papers.&#10;&#10;Le contenu généré par l’IA peut être incorrect.">
            <a:extLst>
              <a:ext uri="{FF2B5EF4-FFF2-40B4-BE49-F238E27FC236}">
                <a16:creationId xmlns:a16="http://schemas.microsoft.com/office/drawing/2014/main" id="{97EBAE41-94B2-7B45-0DE2-7BC899AA4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00" y="475488"/>
            <a:ext cx="3520512" cy="352051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3C99FE7A-146B-6F76-E470-5AC377665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7" y="411480"/>
            <a:ext cx="8527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DÉFINITION ET TYPOLOGIE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AGENTS IA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38088" y="1091652"/>
            <a:ext cx="54086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IA est un système logiciel autonome capable de percevoir son environnement, de raisonner et d'entreprendre des actions pour atteindre des objectifs spécifiques. On distingue plusieurs types :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508195" y="2313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réactifs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1807698" y="2313432"/>
            <a:ext cx="4698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simples et immédiates sans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algos complexes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5"/>
          <p:cNvSpPr/>
          <p:nvPr/>
        </p:nvSpPr>
        <p:spPr>
          <a:xfrm>
            <a:off x="521207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délibératifs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2129848" y="2786106"/>
            <a:ext cx="5219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et raisonnement sur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étapes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utilisant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515229" y="3264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basés LLM   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2025748" y="3258780"/>
            <a:ext cx="7302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Utilisent un LLM comme "cerveau" central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d’imiter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l’intelligence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humaine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9"/>
          <p:cNvSpPr/>
          <p:nvPr/>
        </p:nvSpPr>
        <p:spPr>
          <a:xfrm>
            <a:off x="536330" y="37398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hybrides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 10"/>
          <p:cNvSpPr/>
          <p:nvPr/>
        </p:nvSpPr>
        <p:spPr>
          <a:xfrm>
            <a:off x="1961036" y="3745524"/>
            <a:ext cx="5556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Combinent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determinées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des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d’apprentissage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F1FED5F-F255-D8C5-7D59-F8EBDB76E8CA}"/>
              </a:ext>
            </a:extLst>
          </p:cNvPr>
          <p:cNvSpPr txBox="1"/>
          <p:nvPr/>
        </p:nvSpPr>
        <p:spPr>
          <a:xfrm>
            <a:off x="1431388" y="2309860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3E3BF10-2D92-EDF2-24BB-569716B82876}"/>
              </a:ext>
            </a:extLst>
          </p:cNvPr>
          <p:cNvSpPr txBox="1"/>
          <p:nvPr/>
        </p:nvSpPr>
        <p:spPr>
          <a:xfrm>
            <a:off x="1705708" y="2768464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fr-FR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D36D2D9-83BD-5878-A4E0-964BADB73D5A}"/>
              </a:ext>
            </a:extLst>
          </p:cNvPr>
          <p:cNvSpPr txBox="1"/>
          <p:nvPr/>
        </p:nvSpPr>
        <p:spPr>
          <a:xfrm>
            <a:off x="1635369" y="3227068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fr-FR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4B78279-A71E-287B-6621-2B3B4267403D}"/>
              </a:ext>
            </a:extLst>
          </p:cNvPr>
          <p:cNvSpPr txBox="1"/>
          <p:nvPr/>
        </p:nvSpPr>
        <p:spPr>
          <a:xfrm>
            <a:off x="1543929" y="3721926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fr-FR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31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988FEC50-B299-FD61-2704-17200504E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557" y="274320"/>
            <a:ext cx="8363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D'UN AGENT MODERNE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340864" y="2221992"/>
            <a:ext cx="20116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80911" y="1097280"/>
            <a:ext cx="1874520" cy="2907792"/>
          </a:xfrm>
          <a:prstGeom prst="rect">
            <a:avLst/>
          </a:prstGeom>
          <a:solidFill>
            <a:srgbClr val="F4F4F4"/>
          </a:solidFill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1234440"/>
            <a:ext cx="530352" cy="530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318" y="1784629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2353" y="2883458"/>
            <a:ext cx="1643106" cy="93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Texte, image, audio et video</a:t>
            </a:r>
          </a:p>
          <a:p>
            <a:pPr marL="0" indent="0" algn="ctr">
              <a:buNone/>
            </a:pPr>
            <a:r>
              <a:rPr lang="en-US" sz="17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principalement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425696" y="2221992"/>
            <a:ext cx="20116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2542032" y="1097280"/>
            <a:ext cx="1874520" cy="2907792"/>
          </a:xfrm>
          <a:prstGeom prst="rect">
            <a:avLst/>
          </a:prstGeom>
          <a:solidFill>
            <a:srgbClr val="F4F4F4"/>
          </a:solidFill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544" y="1234440"/>
            <a:ext cx="530352" cy="5303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8557" y="17647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LLM 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596222" y="2423160"/>
            <a:ext cx="175632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Raisonnement, planification et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IA 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510528" y="2221992"/>
            <a:ext cx="20116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4626864" y="1097280"/>
            <a:ext cx="1874520" cy="2907792"/>
          </a:xfrm>
          <a:prstGeom prst="rect">
            <a:avLst/>
          </a:prstGeom>
          <a:solidFill>
            <a:srgbClr val="F4F4F4"/>
          </a:solidFill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376" y="1234440"/>
            <a:ext cx="530352" cy="530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26864" y="17647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MÉMOIRE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657343" y="2423159"/>
            <a:ext cx="1853185" cy="168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 (contexte)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Long terme (</a:t>
            </a:r>
            <a:r>
              <a:rPr lang="en-US" sz="15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VectorDB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711696" y="1097280"/>
            <a:ext cx="1874520" cy="2907792"/>
          </a:xfrm>
          <a:prstGeom prst="rect">
            <a:avLst/>
          </a:prstGeom>
          <a:solidFill>
            <a:srgbClr val="F4F4F4"/>
          </a:solidFill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208" y="1234440"/>
            <a:ext cx="530352" cy="5303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18026" y="1771265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OUTILS 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784848" y="2423159"/>
            <a:ext cx="1737360" cy="180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API, recherche web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et </a:t>
            </a:r>
            <a:r>
              <a:rPr lang="en-US" sz="17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exécution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code</a:t>
            </a:r>
            <a:endParaRPr lang="en-US" sz="1700" dirty="0"/>
          </a:p>
        </p:txBody>
      </p:sp>
      <p:pic>
        <p:nvPicPr>
          <p:cNvPr id="25" name="Image 24" descr="The image shows a person holding a phone.&#10;&#10;Le contenu généré par l’IA peut être incorrect.">
            <a:extLst>
              <a:ext uri="{FF2B5EF4-FFF2-40B4-BE49-F238E27FC236}">
                <a16:creationId xmlns:a16="http://schemas.microsoft.com/office/drawing/2014/main" id="{8F3FCE50-B5AC-18FB-0ADB-62305A4EE4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531" y="1906080"/>
            <a:ext cx="1169670" cy="1169670"/>
          </a:xfrm>
          <a:prstGeom prst="rect">
            <a:avLst/>
          </a:prstGeom>
        </p:spPr>
      </p:pic>
      <p:pic>
        <p:nvPicPr>
          <p:cNvPr id="27" name="Image 26" descr="The image depicts a simple, black silhouette of the letter 'A'.&#10;&#10;Le contenu généré par l’IA peut être incorrect.">
            <a:extLst>
              <a:ext uri="{FF2B5EF4-FFF2-40B4-BE49-F238E27FC236}">
                <a16:creationId xmlns:a16="http://schemas.microsoft.com/office/drawing/2014/main" id="{D6FC1AAD-7559-299E-23E9-A59A080E32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9053" y="2171124"/>
            <a:ext cx="639581" cy="639581"/>
          </a:xfrm>
          <a:prstGeom prst="rect">
            <a:avLst/>
          </a:prstGeom>
        </p:spPr>
      </p:pic>
      <p:pic>
        <p:nvPicPr>
          <p:cNvPr id="29" name="Image 28" descr="The image depicts a silhouette of a head with a prominent brain silhouette, suggesting focus on the brain's structure.&#10;&#10;Le contenu généré par l’IA peut être incorrect.">
            <a:extLst>
              <a:ext uri="{FF2B5EF4-FFF2-40B4-BE49-F238E27FC236}">
                <a16:creationId xmlns:a16="http://schemas.microsoft.com/office/drawing/2014/main" id="{B084BBDE-71AF-F898-459C-EA76F23575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5204" y="2171124"/>
            <a:ext cx="605206" cy="628786"/>
          </a:xfrm>
          <a:prstGeom prst="rect">
            <a:avLst/>
          </a:prstGeom>
        </p:spPr>
      </p:pic>
      <p:pic>
        <p:nvPicPr>
          <p:cNvPr id="31" name="Image 30" descr="The image depicts a black and white gear icon, symbolizing a mechanical or systematic process.&#10;&#10;Le contenu généré par l’IA peut être incorrect.">
            <a:extLst>
              <a:ext uri="{FF2B5EF4-FFF2-40B4-BE49-F238E27FC236}">
                <a16:creationId xmlns:a16="http://schemas.microsoft.com/office/drawing/2014/main" id="{EBE99FD8-5D46-BC4C-2FEE-C6EBF4C1C5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8717" y="2274184"/>
            <a:ext cx="645474" cy="645474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7AEBBD13-5612-0624-6838-6F38794FEFB5}"/>
              </a:ext>
            </a:extLst>
          </p:cNvPr>
          <p:cNvSpPr txBox="1"/>
          <p:nvPr/>
        </p:nvSpPr>
        <p:spPr>
          <a:xfrm>
            <a:off x="323557" y="4368018"/>
            <a:ext cx="8820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Utilisateur </a:t>
            </a:r>
            <a:r>
              <a:rPr lang="en-GB" dirty="0"/>
              <a:t>➡️ </a:t>
            </a:r>
            <a:r>
              <a:rPr lang="fr-FR" dirty="0">
                <a:solidFill>
                  <a:schemeClr val="bg1"/>
                </a:solidFill>
              </a:rPr>
              <a:t>Interface </a:t>
            </a:r>
            <a:r>
              <a:rPr lang="en-GB" dirty="0"/>
              <a:t>➡️</a:t>
            </a:r>
            <a:r>
              <a:rPr lang="fr-FR" dirty="0">
                <a:solidFill>
                  <a:schemeClr val="bg1"/>
                </a:solidFill>
              </a:rPr>
              <a:t> LLM (cerveau) qui va utiliser la Mémoire + Outils </a:t>
            </a:r>
            <a:r>
              <a:rPr lang="en-GB" dirty="0"/>
              <a:t>➡️ </a:t>
            </a:r>
            <a:r>
              <a:rPr lang="fr-FR" dirty="0">
                <a:solidFill>
                  <a:schemeClr val="bg1"/>
                </a:solidFill>
              </a:rPr>
              <a:t>Réponse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6E07452B-DCDC-1C7A-8480-0E0B37B90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E57DAAA-4302-703C-B23D-0E2EDAC1C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07" y="466871"/>
            <a:ext cx="8018585" cy="420975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06A6B-04B8-4C0A-1A26-CEE52F04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B5727DA2-155C-9857-8763-FF90E9161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6452934-EF73-6E0A-1A06-333558095F51}"/>
              </a:ext>
            </a:extLst>
          </p:cNvPr>
          <p:cNvSpPr txBox="1"/>
          <p:nvPr/>
        </p:nvSpPr>
        <p:spPr>
          <a:xfrm>
            <a:off x="2271932" y="634277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● </a:t>
            </a:r>
            <a:r>
              <a:rPr lang="fr-FR" b="1" dirty="0">
                <a:solidFill>
                  <a:schemeClr val="bg1"/>
                </a:solidFill>
              </a:rPr>
              <a:t>Agents autonomes</a:t>
            </a:r>
            <a:r>
              <a:rPr lang="fr-FR" dirty="0">
                <a:solidFill>
                  <a:schemeClr val="bg1"/>
                </a:solidFill>
              </a:rPr>
              <a:t> : systèmes informatiques capables de prendre des décisions et d’agir de manière indépendante pour atteindre un objectif, sans intervention humaine constante</a:t>
            </a:r>
            <a:r>
              <a:rPr lang="fr-FR" dirty="0"/>
              <a:t>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47DB9D6-EDA8-3985-01EC-8CA7D8B4276A}"/>
              </a:ext>
            </a:extLst>
          </p:cNvPr>
          <p:cNvSpPr txBox="1"/>
          <p:nvPr/>
        </p:nvSpPr>
        <p:spPr>
          <a:xfrm>
            <a:off x="787790" y="1965558"/>
            <a:ext cx="6506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● </a:t>
            </a:r>
            <a:r>
              <a:rPr lang="fr-FR" b="1" dirty="0">
                <a:solidFill>
                  <a:schemeClr val="bg1"/>
                </a:solidFill>
              </a:rPr>
              <a:t>Multi-agents</a:t>
            </a:r>
            <a:r>
              <a:rPr lang="fr-FR" dirty="0">
                <a:solidFill>
                  <a:schemeClr val="bg1"/>
                </a:solidFill>
              </a:rPr>
              <a:t> : ensemble de plusieurs agents autonomes qui interagissent entre eux (coopération, coordination ou compétition) pour résoudre un problème ou accomplir une tâche bien précise.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E43D1B-1BF1-9A59-EDE4-20A5A44D6588}"/>
              </a:ext>
            </a:extLst>
          </p:cNvPr>
          <p:cNvSpPr txBox="1"/>
          <p:nvPr/>
        </p:nvSpPr>
        <p:spPr>
          <a:xfrm>
            <a:off x="1315329" y="3347319"/>
            <a:ext cx="61194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● </a:t>
            </a:r>
            <a:r>
              <a:rPr lang="fr-FR" b="1" dirty="0">
                <a:solidFill>
                  <a:schemeClr val="bg1"/>
                </a:solidFill>
              </a:rPr>
              <a:t>Agents multimodaux</a:t>
            </a:r>
            <a:r>
              <a:rPr lang="fr-FR" dirty="0">
                <a:solidFill>
                  <a:schemeClr val="bg1"/>
                </a:solidFill>
              </a:rPr>
              <a:t> : agents capables de traiter et de combiner plusieurs types de données (texte, image, audio, vidéo, etc.) pour comprendre et agir de manière plus complète.</a:t>
            </a:r>
          </a:p>
        </p:txBody>
      </p:sp>
      <p:pic>
        <p:nvPicPr>
          <p:cNvPr id="9" name="Image 8" descr="AI&#10;&#10;Le contenu généré par l’IA peut être incorrect.">
            <a:extLst>
              <a:ext uri="{FF2B5EF4-FFF2-40B4-BE49-F238E27FC236}">
                <a16:creationId xmlns:a16="http://schemas.microsoft.com/office/drawing/2014/main" id="{95083E70-46D5-0810-EFAB-39D6C60A0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875" y="2427223"/>
            <a:ext cx="1282552" cy="128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34458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383CA-08DD-061F-9021-6C3B31311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A74B82E2-A071-BC8B-3D3A-7FE45B7CE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8436" name="Picture 4" descr="Agent IA et Automatisation : Ce qu'il faut savoir">
            <a:extLst>
              <a:ext uri="{FF2B5EF4-FFF2-40B4-BE49-F238E27FC236}">
                <a16:creationId xmlns:a16="http://schemas.microsoft.com/office/drawing/2014/main" id="{246226A7-964F-0B7F-E8D4-E70254191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03" y="390232"/>
            <a:ext cx="6810302" cy="436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50625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E5C0C0A1-87B9-F26E-2B2A-F380BCD02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59" y="1097280"/>
            <a:ext cx="45719" cy="140676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749808" y="1024128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ÉTUDES DE CAS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49808" y="190195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Petriage &amp; Happie Animals</a:t>
            </a:r>
            <a:endParaRPr lang="en-US" sz="2000" i="1" dirty="0">
              <a:solidFill>
                <a:schemeClr val="bg1"/>
              </a:solidFill>
            </a:endParaRPr>
          </a:p>
        </p:txBody>
      </p:sp>
      <p:pic>
        <p:nvPicPr>
          <p:cNvPr id="9" name="Picture 2" descr="Petriage – Veterinary Telehealth For Your Pet">
            <a:extLst>
              <a:ext uri="{FF2B5EF4-FFF2-40B4-BE49-F238E27FC236}">
                <a16:creationId xmlns:a16="http://schemas.microsoft.com/office/drawing/2014/main" id="{724B9CFB-B0D1-C8E0-7B9D-CD3642417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23" y="3759269"/>
            <a:ext cx="2985580" cy="72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appie Horse - Management - Apps on Google Play">
            <a:extLst>
              <a:ext uri="{FF2B5EF4-FFF2-40B4-BE49-F238E27FC236}">
                <a16:creationId xmlns:a16="http://schemas.microsoft.com/office/drawing/2014/main" id="{1AB0F3D8-F084-17D5-37E1-CE380F5A5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273" y="2318358"/>
            <a:ext cx="2166424" cy="216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0E2FFD81-F376-7EE5-2033-864B3BD09EEC}"/>
              </a:ext>
            </a:extLst>
          </p:cNvPr>
          <p:cNvSpPr txBox="1"/>
          <p:nvPr/>
        </p:nvSpPr>
        <p:spPr>
          <a:xfrm>
            <a:off x="4009292" y="3765429"/>
            <a:ext cx="1125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chemeClr val="bg1"/>
                </a:solidFill>
              </a:rPr>
              <a:t>V/S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34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CD0933C7-2589-3775-D580-114BE8470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" y="4114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 1 — PETRIAGE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75488" y="9784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IA </a:t>
            </a:r>
            <a:r>
              <a:rPr lang="en-US" sz="1250" i="1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Vétérinaire</a:t>
            </a:r>
            <a:r>
              <a:rPr lang="en-US" sz="125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pour Chats et Chiens</a:t>
            </a:r>
            <a:endParaRPr lang="en-US" sz="125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155448" cy="1554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" y="1463040"/>
            <a:ext cx="3381873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— abonnements aux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vétérinaires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assureurs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animaux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59152"/>
            <a:ext cx="155448" cy="1554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3776" y="2135124"/>
            <a:ext cx="4023360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</a:p>
          <a:p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Petriage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 (triage IA) 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Petriage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(helpline 24/7) 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Petriage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Rx (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457200" y="3099816"/>
            <a:ext cx="32777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ajoutée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97 % de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l'urgence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brevet US (2021/2022).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6" name="Text 9"/>
          <p:cNvSpPr/>
          <p:nvPr/>
        </p:nvSpPr>
        <p:spPr>
          <a:xfrm>
            <a:off x="457200" y="3870198"/>
            <a:ext cx="3418449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Chiens &amp; chats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Marché B2B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Tentative de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rachat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avortée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(2022).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8" name="Text 11"/>
          <p:cNvSpPr/>
          <p:nvPr/>
        </p:nvSpPr>
        <p:spPr>
          <a:xfrm>
            <a:off x="6569964" y="-605790"/>
            <a:ext cx="3931920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pic>
        <p:nvPicPr>
          <p:cNvPr id="4098" name="Picture 2" descr="Petriage – Veterinary Telehealth For Your Pet">
            <a:extLst>
              <a:ext uri="{FF2B5EF4-FFF2-40B4-BE49-F238E27FC236}">
                <a16:creationId xmlns:a16="http://schemas.microsoft.com/office/drawing/2014/main" id="{F6919AD5-02FF-E773-8E80-A83FB9851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874" y="411481"/>
            <a:ext cx="3175078" cy="76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Image 38" descr="Une image contenant capture d’écran, texte, Police, diagramme&#10;&#10;Le contenu généré par l’IA peut être incorrect.">
            <a:extLst>
              <a:ext uri="{FF2B5EF4-FFF2-40B4-BE49-F238E27FC236}">
                <a16:creationId xmlns:a16="http://schemas.microsoft.com/office/drawing/2014/main" id="{2A87E126-057C-41DE-BACD-2397770250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717"/>
          <a:stretch>
            <a:fillRect/>
          </a:stretch>
        </p:blipFill>
        <p:spPr>
          <a:xfrm>
            <a:off x="3771548" y="2433712"/>
            <a:ext cx="5229665" cy="1872270"/>
          </a:xfrm>
          <a:prstGeom prst="rect">
            <a:avLst/>
          </a:prstGeom>
        </p:spPr>
      </p:pic>
      <p:pic>
        <p:nvPicPr>
          <p:cNvPr id="4100" name="Picture 4" descr="Drapeau">
            <a:extLst>
              <a:ext uri="{FF2B5EF4-FFF2-40B4-BE49-F238E27FC236}">
                <a16:creationId xmlns:a16="http://schemas.microsoft.com/office/drawing/2014/main" id="{6E71D885-CDF2-006A-2971-793761CC7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719" y="407889"/>
            <a:ext cx="1454562" cy="76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36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BD35A44E-1B88-1D81-75BD-EA7B5B5EA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" y="4114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 2 — HAPPIE ANIMALS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75488" y="9784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 App de gestion </a:t>
            </a:r>
            <a:r>
              <a:rPr lang="en-US" sz="1250" i="1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équestre</a:t>
            </a:r>
            <a:r>
              <a:rPr lang="en-US" sz="125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50" i="1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ayant</a:t>
            </a:r>
            <a:r>
              <a:rPr lang="en-US" sz="125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50" i="1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intégré</a:t>
            </a:r>
            <a:r>
              <a:rPr lang="en-US" sz="125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50" i="1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</a:t>
            </a:r>
            <a:r>
              <a:rPr lang="en-US" sz="125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IA</a:t>
            </a:r>
            <a:endParaRPr lang="en-US" sz="125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45336"/>
            <a:ext cx="155448" cy="1554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" y="14630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Happie Horse AI Chat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475487" y="1746504"/>
            <a:ext cx="4975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IA pour conseils santé, alimentation et dressage. 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21992"/>
            <a:ext cx="155448" cy="1554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5488" y="213969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Gait Analysis + GPS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475487" y="2423160"/>
            <a:ext cx="4328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 de la démarche + géolocalisation temps réel du cheval.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98648"/>
            <a:ext cx="155448" cy="1554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2816352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Training Plan IA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457200" y="3099816"/>
            <a:ext cx="4466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plans d'entraînement personnalisés basé sur l'historique.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75304"/>
            <a:ext cx="155448" cy="1554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5488" y="349300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Pasture &amp; Fructan Mgmt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7" name="Text 10"/>
          <p:cNvSpPr/>
          <p:nvPr/>
        </p:nvSpPr>
        <p:spPr>
          <a:xfrm>
            <a:off x="475488" y="3776472"/>
            <a:ext cx="4448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risques de fourbure selon météo et gestion des prairies.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51960"/>
            <a:ext cx="155448" cy="15544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5488" y="416966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Digital Health Record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0" name="Text 12"/>
          <p:cNvSpPr/>
          <p:nvPr/>
        </p:nvSpPr>
        <p:spPr>
          <a:xfrm>
            <a:off x="475488" y="4453128"/>
            <a:ext cx="4574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santé numérique structuré, partageable avec le vétérinaire.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076" name="Picture 4" descr="Happie Horse - Management - Apps on Google Play">
            <a:extLst>
              <a:ext uri="{FF2B5EF4-FFF2-40B4-BE49-F238E27FC236}">
                <a16:creationId xmlns:a16="http://schemas.microsoft.com/office/drawing/2014/main" id="{1077D916-6369-96AC-C680-E7FF371CE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213" y="283493"/>
            <a:ext cx="1664150" cy="166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Image 38" descr="Une image contenant texte, capture d’écran, diagramme, Modélisation 3D&#10;&#10;Le contenu généré par l’IA peut être incorrect.">
            <a:extLst>
              <a:ext uri="{FF2B5EF4-FFF2-40B4-BE49-F238E27FC236}">
                <a16:creationId xmlns:a16="http://schemas.microsoft.com/office/drawing/2014/main" id="{8FA1CAFB-3389-1ADB-7B37-29B0F9D76E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0302" y="2157984"/>
            <a:ext cx="3960055" cy="2537098"/>
          </a:xfrm>
          <a:prstGeom prst="rect">
            <a:avLst/>
          </a:prstGeo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8E57371-563E-1A94-50E5-E9AA4F388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116" y="415524"/>
            <a:ext cx="1709518" cy="102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1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EBF1FA2B-554B-77D2-5F5F-D259D3D1F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COMPARATIF STRATÉGIQUE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77200" y="433080"/>
            <a:ext cx="233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Petriage vs Happie Animals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15468" y="1106424"/>
            <a:ext cx="2606040" cy="6537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79476" y="1033272"/>
            <a:ext cx="26060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CRITÈRE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53512" y="1103112"/>
            <a:ext cx="2944368" cy="6799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985516" y="780552"/>
            <a:ext cx="2866644" cy="979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PETRIAGE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65480" y="1103112"/>
            <a:ext cx="2953512" cy="6799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80176" y="780552"/>
            <a:ext cx="2825496" cy="100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HAPPIE ANIMALS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26060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29768" y="1783080"/>
            <a:ext cx="2478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métier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1783080"/>
            <a:ext cx="294436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035808" y="1783080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(</a:t>
            </a: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cliniques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assureurs)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70448" y="1783080"/>
            <a:ext cx="295351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80176" y="1783080"/>
            <a:ext cx="2825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(propriétaires chevaux)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231136"/>
            <a:ext cx="2606040" cy="4297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29768" y="2231136"/>
            <a:ext cx="2478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= cœur produit 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2231136"/>
            <a:ext cx="2944368" cy="4297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035808" y="2231136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= le </a:t>
            </a: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70448" y="2231136"/>
            <a:ext cx="2953512" cy="4297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80176" y="2231136"/>
            <a:ext cx="2825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= </a:t>
            </a: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679192"/>
            <a:ext cx="26060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29768" y="2679192"/>
            <a:ext cx="2478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cible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2679192"/>
            <a:ext cx="294436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035808" y="2679192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Chiens et chats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70448" y="2679192"/>
            <a:ext cx="295351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980176" y="2679192"/>
            <a:ext cx="2825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Chevaux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principalement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127248"/>
            <a:ext cx="2606040" cy="4297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29768" y="3127248"/>
            <a:ext cx="2478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3127248"/>
            <a:ext cx="2944368" cy="4297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035808" y="3127248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propriétaire (brevet US)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70448" y="3127248"/>
            <a:ext cx="2953512" cy="4297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980176" y="3127248"/>
            <a:ext cx="2825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tiers + ML spécialisé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575304"/>
            <a:ext cx="26060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29768" y="3575304"/>
            <a:ext cx="2478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0" y="3575304"/>
            <a:ext cx="294436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035808" y="3575304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Rx + partenaires assur.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870448" y="3575304"/>
            <a:ext cx="295351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980176" y="3575304"/>
            <a:ext cx="2825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Premium €9.99/mois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4023360"/>
            <a:ext cx="2606040" cy="4297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29768" y="4023360"/>
            <a:ext cx="2478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Différenciateur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926080" y="4023360"/>
            <a:ext cx="2944368" cy="4297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035808" y="4023360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Brevet tech + précision 97 %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870448" y="4023360"/>
            <a:ext cx="2953512" cy="4297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980176" y="4023360"/>
            <a:ext cx="2825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complet tout-en-un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" y="4471416"/>
            <a:ext cx="26060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29768" y="4471416"/>
            <a:ext cx="2478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principal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926080" y="4471416"/>
            <a:ext cx="294436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3035808" y="4471416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partenaires B2B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870448" y="4471416"/>
            <a:ext cx="295351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5980176" y="4471416"/>
            <a:ext cx="2825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Commoditisation IA conversationnelle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6636DE58-32F4-BFC3-0694-04FF62CC6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1143000"/>
            <a:ext cx="41148" cy="2194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749808" y="1078992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COMPARATIF</a:t>
            </a:r>
            <a:endParaRPr lang="en-US" sz="4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OUTILS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49808" y="26974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LlamaIndex · CrewAI · N8N · Make · Botpress · Dust · GPT · Google</a:t>
            </a: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8" name="Image 7" descr="The image depicts a human brain silhouette with a series of interconnected circuit-like lines and nodes, symbolizing neural connections.&#10;&#10;Le contenu généré par l’IA peut être incorrect.">
            <a:extLst>
              <a:ext uri="{FF2B5EF4-FFF2-40B4-BE49-F238E27FC236}">
                <a16:creationId xmlns:a16="http://schemas.microsoft.com/office/drawing/2014/main" id="{C59B0536-3301-3D45-FF8D-A92A29DD2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118" y="2500884"/>
            <a:ext cx="1150334" cy="11658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Image 134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CA2FD8D8-1C6C-ACD9-500A-FCB24C08A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COMPARATIF DES OUTILS POUR CRÉER UN AGENT IA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46888" y="804672"/>
            <a:ext cx="1536192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83080" y="804672"/>
            <a:ext cx="1170432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56232" y="804672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53512" y="804672"/>
            <a:ext cx="132588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026664" y="80467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84064" y="804672"/>
            <a:ext cx="91440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410222" y="804672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TECHNICITÉ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47237" y="804672"/>
            <a:ext cx="2445668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08431" y="804672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IDÉAL POUR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" y="1207008"/>
            <a:ext cx="1536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120700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83080" y="1207008"/>
            <a:ext cx="11704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856232" y="1207008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53512" y="1207008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026664" y="120700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79392" y="1207008"/>
            <a:ext cx="17190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410222" y="1207008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38092" y="1207008"/>
            <a:ext cx="24548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908431" y="1207008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RAG &amp; agents custom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6888" y="1591056"/>
            <a:ext cx="153619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20040" y="1591056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783080" y="1591056"/>
            <a:ext cx="117043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856232" y="1591056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RAG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53512" y="1591056"/>
            <a:ext cx="1325880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026664" y="1591056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52544" y="1591056"/>
            <a:ext cx="722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70248" y="1591056"/>
            <a:ext cx="1728216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410222" y="1591056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expert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838092" y="1591056"/>
            <a:ext cx="245481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908431" y="1591056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RAG production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46888" y="1975104"/>
            <a:ext cx="1536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20040" y="1975104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783080" y="1975104"/>
            <a:ext cx="11704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856232" y="1975104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953512" y="1975104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026664" y="197510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source/Ent.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270248" y="1975104"/>
            <a:ext cx="172821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410222" y="1975104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838092" y="1975104"/>
            <a:ext cx="24548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908431" y="1975104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d'agents rôles spécialisés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46888" y="2359152"/>
            <a:ext cx="153619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20040" y="2359152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Semantic Kernel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783080" y="2359152"/>
            <a:ext cx="117043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1856232" y="2359152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SDK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953512" y="2359152"/>
            <a:ext cx="1325880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3026664" y="235915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270248" y="2359152"/>
            <a:ext cx="1728216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410222" y="2359152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expert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838092" y="2359152"/>
            <a:ext cx="245481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5908431" y="2359152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Microsoft / Azure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46888" y="2743200"/>
            <a:ext cx="1536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320040" y="274320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783080" y="2743200"/>
            <a:ext cx="11704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1856232" y="2743200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953512" y="274320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3026664" y="27432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€20/mois cloud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279392" y="2743200"/>
            <a:ext cx="17190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4410222" y="2743200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moyen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838092" y="2743200"/>
            <a:ext cx="24548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5908431" y="2743200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workflow + IA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46888" y="3127248"/>
            <a:ext cx="153619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320040" y="312724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1783080" y="3127248"/>
            <a:ext cx="117043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1856232" y="3127248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953512" y="3127248"/>
            <a:ext cx="1325880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3026664" y="312724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€9–16/mois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279392" y="3127248"/>
            <a:ext cx="171907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4410222" y="3127248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facile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5838092" y="3127248"/>
            <a:ext cx="2445668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5908431" y="3127248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business rapide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246888" y="3511296"/>
            <a:ext cx="1536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320040" y="3511296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Botpress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1783080" y="3511296"/>
            <a:ext cx="11704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1856232" y="3511296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2953512" y="3511296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3026664" y="3511296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Freemium/Cloud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4270248" y="3511296"/>
            <a:ext cx="172821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4410222" y="3511296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moyen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5838092" y="3511296"/>
            <a:ext cx="24456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Text 96"/>
          <p:cNvSpPr/>
          <p:nvPr/>
        </p:nvSpPr>
        <p:spPr>
          <a:xfrm>
            <a:off x="5908431" y="3511296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conversationnels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246888" y="3895344"/>
            <a:ext cx="153619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Text 98"/>
          <p:cNvSpPr/>
          <p:nvPr/>
        </p:nvSpPr>
        <p:spPr>
          <a:xfrm>
            <a:off x="320040" y="3895344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1783080" y="3895344"/>
            <a:ext cx="117043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1856232" y="3895344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SaaS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2953512" y="3895344"/>
            <a:ext cx="1325880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Text 102"/>
          <p:cNvSpPr/>
          <p:nvPr/>
        </p:nvSpPr>
        <p:spPr>
          <a:xfrm>
            <a:off x="3026664" y="38953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€29+/mois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270248" y="3895344"/>
            <a:ext cx="1728216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8" name="Text 106"/>
          <p:cNvSpPr/>
          <p:nvPr/>
        </p:nvSpPr>
        <p:spPr>
          <a:xfrm>
            <a:off x="4410222" y="3895344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moyen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5838092" y="3895344"/>
            <a:ext cx="2445668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0" name="Text 108"/>
          <p:cNvSpPr/>
          <p:nvPr/>
        </p:nvSpPr>
        <p:spPr>
          <a:xfrm>
            <a:off x="5908431" y="3895344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d'entreprise sans code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246888" y="4279392"/>
            <a:ext cx="1536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Text 110"/>
          <p:cNvSpPr/>
          <p:nvPr/>
        </p:nvSpPr>
        <p:spPr>
          <a:xfrm>
            <a:off x="320040" y="4279392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Assistants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1783080" y="4279392"/>
            <a:ext cx="11704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Text 112"/>
          <p:cNvSpPr/>
          <p:nvPr/>
        </p:nvSpPr>
        <p:spPr>
          <a:xfrm>
            <a:off x="1856232" y="4279392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agent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2953512" y="4279392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Text 114"/>
          <p:cNvSpPr/>
          <p:nvPr/>
        </p:nvSpPr>
        <p:spPr>
          <a:xfrm>
            <a:off x="3026664" y="427939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270248" y="4279392"/>
            <a:ext cx="172821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0" name="Text 118"/>
          <p:cNvSpPr/>
          <p:nvPr/>
        </p:nvSpPr>
        <p:spPr>
          <a:xfrm>
            <a:off x="4410222" y="4279392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moyen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5847236" y="4279392"/>
            <a:ext cx="24456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Text 120"/>
          <p:cNvSpPr/>
          <p:nvPr/>
        </p:nvSpPr>
        <p:spPr>
          <a:xfrm>
            <a:off x="5908431" y="4279392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rapide sur OpenAI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246888" y="4663440"/>
            <a:ext cx="153619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4" name="Text 122"/>
          <p:cNvSpPr/>
          <p:nvPr/>
        </p:nvSpPr>
        <p:spPr>
          <a:xfrm>
            <a:off x="320040" y="46634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ADK/Vertex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1783080" y="4663440"/>
            <a:ext cx="1170432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6" name="Text 124"/>
          <p:cNvSpPr/>
          <p:nvPr/>
        </p:nvSpPr>
        <p:spPr>
          <a:xfrm>
            <a:off x="1856232" y="4663440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agents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2953512" y="4663440"/>
            <a:ext cx="1325880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8" name="Text 126"/>
          <p:cNvSpPr/>
          <p:nvPr/>
        </p:nvSpPr>
        <p:spPr>
          <a:xfrm>
            <a:off x="3026664" y="466344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1200" dirty="0"/>
          </a:p>
        </p:txBody>
      </p:sp>
      <p:sp>
        <p:nvSpPr>
          <p:cNvPr id="130" name="Text 128"/>
          <p:cNvSpPr/>
          <p:nvPr/>
        </p:nvSpPr>
        <p:spPr>
          <a:xfrm>
            <a:off x="4352544" y="4663440"/>
            <a:ext cx="722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4270248" y="4663440"/>
            <a:ext cx="1728216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2" name="Text 130"/>
          <p:cNvSpPr/>
          <p:nvPr/>
        </p:nvSpPr>
        <p:spPr>
          <a:xfrm>
            <a:off x="4410222" y="4663440"/>
            <a:ext cx="1579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expert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5847236" y="4663440"/>
            <a:ext cx="2445668" cy="3657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4" name="Text 132"/>
          <p:cNvSpPr/>
          <p:nvPr/>
        </p:nvSpPr>
        <p:spPr>
          <a:xfrm>
            <a:off x="5908431" y="4663440"/>
            <a:ext cx="289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Gemini cloud enterprise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5962F9BF-A1C2-7223-A3AC-52E6705D2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1143000"/>
            <a:ext cx="41148" cy="2103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749808" y="1078992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COMPARATIF</a:t>
            </a:r>
            <a:endParaRPr lang="en-US" sz="4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4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MODÈLES IA</a:t>
            </a:r>
            <a:endParaRPr lang="en-US" sz="46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49808" y="26974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 ·  Google DeepMind  ·  Anthropic  ·  Mistral AI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8" name="Image 7" descr="The image depicts a human brain silhouette with a series of interconnected circuit-like lines and nodes, symbolizing neural connections.&#10;&#10;Le contenu généré par l’IA peut être incorrect.">
            <a:extLst>
              <a:ext uri="{FF2B5EF4-FFF2-40B4-BE49-F238E27FC236}">
                <a16:creationId xmlns:a16="http://schemas.microsoft.com/office/drawing/2014/main" id="{ABFF242D-9B94-4483-C2FF-EC864A3E0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118" y="2500884"/>
            <a:ext cx="1150334" cy="11658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 102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1A12C12E-35E3-281D-4A66-D2FFDB1E2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COMPARATIF DES MODÈLES IA POUR AGENTS (2025/2026)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46888" y="804672"/>
            <a:ext cx="2029968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704088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CRITÈRE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76856" y="804672"/>
            <a:ext cx="1664208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350008" y="8046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GPT-4.1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(OpenAI)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41064" y="804672"/>
            <a:ext cx="1737360" cy="5349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14216" y="8046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2.5 Pro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(Google)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78424" y="804672"/>
            <a:ext cx="1737360" cy="5349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751576" y="8046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(Anthropic)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15784" y="804672"/>
            <a:ext cx="1609344" cy="5349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488936" y="80467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" y="1316736"/>
            <a:ext cx="20299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0040" y="1316736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input /1M tok.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76856" y="1316736"/>
            <a:ext cx="166420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350008" y="1316736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41064" y="1316736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014216" y="13167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$1.25–$2.50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78424" y="1316736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751576" y="13167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15784" y="1316736"/>
            <a:ext cx="160934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488936" y="1316736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6888" y="1746504"/>
            <a:ext cx="2029968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0040" y="174650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output /1M tok.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76856" y="1746504"/>
            <a:ext cx="1664208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350008" y="174650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$8.00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941064" y="1746504"/>
            <a:ext cx="173736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014216" y="174650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$5–$10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78424" y="1746504"/>
            <a:ext cx="173736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751576" y="174650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15784" y="1746504"/>
            <a:ext cx="1609344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488936" y="1746504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6888" y="2176272"/>
            <a:ext cx="20299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20040" y="2176272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max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76856" y="2176272"/>
            <a:ext cx="166420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50008" y="21762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41064" y="2176272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014216" y="21762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tokens  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78424" y="2176272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751576" y="21762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15784" y="2176272"/>
            <a:ext cx="160934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7488936" y="217627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46888" y="2606040"/>
            <a:ext cx="2029968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20040" y="26060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Multimodalité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276856" y="2606040"/>
            <a:ext cx="1664208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2350008" y="26060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+ Image + Audio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941064" y="2606040"/>
            <a:ext cx="173736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014216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+ Image + </a:t>
            </a:r>
            <a:r>
              <a:rPr lang="en-US" sz="12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678424" y="2606040"/>
            <a:ext cx="173736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751576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+ Image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415784" y="2606040"/>
            <a:ext cx="1609344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7488936" y="260604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+ Image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46888" y="3035808"/>
            <a:ext cx="20299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20040" y="3035808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Perf. codage (SWE)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276856" y="3035808"/>
            <a:ext cx="166420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2350008" y="30358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54.6 %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941064" y="303580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4014216" y="3035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63.8 %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678424" y="3035808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5751576" y="3035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72.7 % 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415784" y="3035808"/>
            <a:ext cx="160934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7488936" y="303580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46888" y="3465576"/>
            <a:ext cx="2029968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320040" y="3465576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/ Cloud Act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276856" y="3465576"/>
            <a:ext cx="1664208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2350008" y="3465576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USA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941064" y="3465576"/>
            <a:ext cx="173736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4014216" y="34655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USA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9" name="Shape 67"/>
          <p:cNvSpPr/>
          <p:nvPr/>
        </p:nvSpPr>
        <p:spPr>
          <a:xfrm>
            <a:off x="5678424" y="3465576"/>
            <a:ext cx="173736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5751576" y="34655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USA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1" name="Shape 69"/>
          <p:cNvSpPr/>
          <p:nvPr/>
        </p:nvSpPr>
        <p:spPr>
          <a:xfrm>
            <a:off x="7415784" y="3465576"/>
            <a:ext cx="1609344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7488936" y="3465576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France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46888" y="3895344"/>
            <a:ext cx="20299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320040" y="389534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(</a:t>
            </a:r>
            <a:r>
              <a:rPr lang="en-US" sz="12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</a:t>
            </a: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276856" y="3895344"/>
            <a:ext cx="166420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2350008" y="389534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941064" y="3895344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4014216" y="38953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5678424" y="3895344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5751576" y="38953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415784" y="3895344"/>
            <a:ext cx="160934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7488936" y="3895344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</a:t>
            </a:r>
            <a:endParaRPr lang="en-US" sz="1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529AD31-8BC3-E1AB-A805-15F7D7097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976" y="3563655"/>
            <a:ext cx="407963" cy="2150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2">
            <a:extLst>
              <a:ext uri="{FF2B5EF4-FFF2-40B4-BE49-F238E27FC236}">
                <a16:creationId xmlns:a16="http://schemas.microsoft.com/office/drawing/2014/main" id="{601A376B-699C-82D4-D1DB-22DE02494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769" y="3563655"/>
            <a:ext cx="407963" cy="2150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2">
            <a:extLst>
              <a:ext uri="{FF2B5EF4-FFF2-40B4-BE49-F238E27FC236}">
                <a16:creationId xmlns:a16="http://schemas.microsoft.com/office/drawing/2014/main" id="{C31A46B5-6AAA-3615-7998-A7B05A5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264" y="3563801"/>
            <a:ext cx="407963" cy="2150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Flag of France">
            <a:extLst>
              <a:ext uri="{FF2B5EF4-FFF2-40B4-BE49-F238E27FC236}">
                <a16:creationId xmlns:a16="http://schemas.microsoft.com/office/drawing/2014/main" id="{DA17B7AA-FA2D-B4F2-DDC3-32FCBC0D8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7129" y="3557895"/>
            <a:ext cx="339983" cy="22684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AB1FADC8-88B3-EF45-58E3-A1E5938B5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STRATÉGIQUE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457200" y="987552"/>
            <a:ext cx="41148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94360" y="914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codage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546252" y="9144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Claude Sonnet / Opus 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60" y="13350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SWE-bench (72,7 %), raisonnement agentic, tâches complexes multi-étapes.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947672"/>
            <a:ext cx="41148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long document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2686929" y="18836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Gemini 2.5 Pro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94360" y="22951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tokens de contexte natif, 250+ tok/s, traitement vidéo et audio intégré.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" y="2907792"/>
            <a:ext cx="41148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94360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polyvalent / coût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19116" y="285539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GPT-4.1 / GPT-4.1 mini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594360" y="3255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$2/M tokens input, 1M contexte, écosystème d'outils le plus mature.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3867912"/>
            <a:ext cx="41148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94360" y="3794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 Europe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2560320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Mistral Large 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594360" y="42153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Open-weight, self-hostable, juridiction UE — aucune exposition au CLOUD Act US.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The image depicts a dark, abstract pattern with swirling, marbled-like colors, evoking a sense of depth and fluidity.&#10;&#10;Le contenu généré par l’IA peut être incorrect.">
            <a:extLst>
              <a:ext uri="{FF2B5EF4-FFF2-40B4-BE49-F238E27FC236}">
                <a16:creationId xmlns:a16="http://schemas.microsoft.com/office/drawing/2014/main" id="{DAE24AD9-BB9A-037D-2D8D-8FD195D50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10392" y="517692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2487167" y="14092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 err="1">
                <a:solidFill>
                  <a:schemeClr val="bg1"/>
                </a:solidFill>
              </a:rPr>
              <a:t>J’espère</a:t>
            </a:r>
            <a:r>
              <a:rPr lang="en-US" sz="2000" i="1" dirty="0">
                <a:solidFill>
                  <a:schemeClr val="bg1"/>
                </a:solidFill>
              </a:rPr>
              <a:t> </a:t>
            </a:r>
            <a:r>
              <a:rPr lang="en-US" sz="2000" i="1" dirty="0" err="1">
                <a:solidFill>
                  <a:schemeClr val="bg1"/>
                </a:solidFill>
              </a:rPr>
              <a:t>que</a:t>
            </a:r>
            <a:r>
              <a:rPr lang="en-US" sz="2000" i="1" dirty="0">
                <a:solidFill>
                  <a:schemeClr val="bg1"/>
                </a:solidFill>
              </a:rPr>
              <a:t> </a:t>
            </a:r>
            <a:r>
              <a:rPr lang="en-US" sz="2000" i="1" dirty="0" err="1">
                <a:solidFill>
                  <a:schemeClr val="bg1"/>
                </a:solidFill>
              </a:rPr>
              <a:t>ça</a:t>
            </a:r>
            <a:r>
              <a:rPr lang="en-US" sz="2000" i="1" dirty="0">
                <a:solidFill>
                  <a:schemeClr val="bg1"/>
                </a:solidFill>
              </a:rPr>
              <a:t> vous aura plu.</a:t>
            </a:r>
          </a:p>
        </p:txBody>
      </p:sp>
      <p:pic>
        <p:nvPicPr>
          <p:cNvPr id="10" name="Image 9" descr="The image depicts a stylized, white horse with a fiery mane, galloping with dynamic motion, rendered in a black silhouette.&#10;&#10;Le contenu généré par l’IA peut être incorrect.">
            <a:extLst>
              <a:ext uri="{FF2B5EF4-FFF2-40B4-BE49-F238E27FC236}">
                <a16:creationId xmlns:a16="http://schemas.microsoft.com/office/drawing/2014/main" id="{53BE9548-E9A7-4CFD-B875-438316B74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3112" y="1736306"/>
            <a:ext cx="1865508" cy="259126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4141C56-E925-25D6-BDEF-1313A188089A}"/>
              </a:ext>
            </a:extLst>
          </p:cNvPr>
          <p:cNvSpPr txBox="1"/>
          <p:nvPr/>
        </p:nvSpPr>
        <p:spPr>
          <a:xfrm>
            <a:off x="7927145" y="58001"/>
            <a:ext cx="12984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>
                <a:solidFill>
                  <a:schemeClr val="bg1"/>
                </a:solidFill>
              </a:rPr>
              <a:t>再见</a:t>
            </a:r>
            <a:endParaRPr lang="fr-F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4AF91022D5540B32B0A57AA088D80" ma:contentTypeVersion="5" ma:contentTypeDescription="Crée un document." ma:contentTypeScope="" ma:versionID="367109c2611e82a4c38c8c9981b86140">
  <xsd:schema xmlns:xsd="http://www.w3.org/2001/XMLSchema" xmlns:xs="http://www.w3.org/2001/XMLSchema" xmlns:p="http://schemas.microsoft.com/office/2006/metadata/properties" xmlns:ns3="7044b120-a948-4ac9-b1aa-a7f256f9fd8b" targetNamespace="http://schemas.microsoft.com/office/2006/metadata/properties" ma:root="true" ma:fieldsID="e287985a88a7b4b4be28351a896ee210" ns3:_="">
    <xsd:import namespace="7044b120-a948-4ac9-b1aa-a7f256f9fd8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44b120-a948-4ac9-b1aa-a7f256f9fd8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44b120-a948-4ac9-b1aa-a7f256f9fd8b" xsi:nil="true"/>
  </documentManagement>
</p:properties>
</file>

<file path=customXml/itemProps1.xml><?xml version="1.0" encoding="utf-8"?>
<ds:datastoreItem xmlns:ds="http://schemas.openxmlformats.org/officeDocument/2006/customXml" ds:itemID="{8C70F901-9CC0-4A86-B260-EA7C09E348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44b120-a948-4ac9-b1aa-a7f256f9fd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5AD8D6-BC89-4369-9305-D85557E599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5ABAAB-822A-42BB-9E8E-4380563F4DE8}">
  <ds:schemaRefs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7044b120-a948-4ac9-b1aa-a7f256f9fd8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990</Words>
  <Application>Microsoft Office PowerPoint</Application>
  <PresentationFormat>Affichage à l'écran (16:9)</PresentationFormat>
  <Paragraphs>234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1 — Étude des Agents IA</dc:title>
  <dc:subject>PptxGenJS Presentation</dc:subject>
  <dc:creator>PptxGenJS</dc:creator>
  <cp:lastModifiedBy>DOUDOU MANIL</cp:lastModifiedBy>
  <cp:revision>3</cp:revision>
  <dcterms:created xsi:type="dcterms:W3CDTF">2026-02-25T16:12:51Z</dcterms:created>
  <dcterms:modified xsi:type="dcterms:W3CDTF">2026-02-27T18:02:34Z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0x010100D204AF91022D5540B32B0A57AA088D80</vt:lpwstr>
  </property>
</Properties>
</file>